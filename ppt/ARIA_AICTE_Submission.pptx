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62" r:id="rId9"/>
    <p:sldId id="264" r:id="rId10"/>
    <p:sldId id="277" r:id="rId11"/>
    <p:sldId id="286" r:id="rId12"/>
    <p:sldId id="290" r:id="rId13"/>
    <p:sldId id="287" r:id="rId14"/>
    <p:sldId id="280" r:id="rId15"/>
    <p:sldId id="288"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watsonx.ai and </a:t>
            </a:r>
            <a:r>
              <a:rPr lang="en-US" b="1" i="1" err="1"/>
              <a:t>Meta Llama</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40601965"/>
              </p:ext>
            </p:extLst>
          </p:nvPr>
        </p:nvGraphicFramePr>
        <p:xfrm>
          <a:off x="1299257" y="2600315"/>
          <a:ext cx="9394989" cy="2280673"/>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756399">
                  <a:extLst>
                    <a:ext uri="{9D8B030D-6E8A-4147-A177-3AD203B41FA5}">
                      <a16:colId xmlns:a16="http://schemas.microsoft.com/office/drawing/2014/main" val="20003"/>
                    </a:ext>
                  </a:extLst>
                </a:gridCol>
                <a:gridCol w="2130349">
                  <a:extLst>
                    <a:ext uri="{9D8B030D-6E8A-4147-A177-3AD203B41FA5}">
                      <a16:colId xmlns:a16="http://schemas.microsoft.com/office/drawing/2014/main" val="20004"/>
                    </a:ext>
                  </a:extLst>
                </a:gridCol>
              </a:tblGrid>
              <a:tr h="1086782">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sz="2000" dirty="0"/>
                        <a:t>Bhavesh Nayak</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dirty="0"/>
                        <a:t>bhaveshnayak934@gmail.com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+91 9340087041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Education / Career Development / Conversational AI</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solidFill>
                  <a:srgbClr val="002060"/>
                </a:solidFill>
                <a:highlight>
                  <a:srgbClr val="FFFF00"/>
                </a:highlight>
                <a:latin typeface="Times New Roman"/>
                <a:ea typeface="Times New Roman"/>
                <a:cs typeface="Times New Roman"/>
                <a:sym typeface="Times New Roman"/>
              </a:rPr>
              <a:t>ARIA — AI Readiness Interview Agent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D7C4EDE9-CFA9-16B1-B5DF-2E4181DBEFC1}"/>
              </a:ext>
            </a:extLst>
          </p:cNvPr>
          <p:cNvPicPr>
            <a:picLocks noChangeAspect="1"/>
          </p:cNvPicPr>
          <p:nvPr/>
        </p:nvPicPr>
        <p:blipFill>
          <a:blip r:embed="rId3"/>
          <a:stretch>
            <a:fillRect/>
          </a:stretch>
        </p:blipFill>
        <p:spPr>
          <a:xfrm>
            <a:off x="3982065" y="3578941"/>
            <a:ext cx="993058" cy="11885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Interview Trainer Agent (#22)</a:t>
            </a:r>
            <a:r>
              <a:rPr lang="en-US"/>
              <a:t> </a:t>
            </a:r>
          </a:p>
          <a:p>
            <a:pPr fontAlgn="base"/>
            <a:endParaRPr lang="en-US" b="1"/>
          </a:p>
          <a:p>
            <a:pPr fontAlgn="base"/>
            <a:r>
              <a:rPr lang="en-US" b="1"/>
              <a:t>The Challenge</a:t>
            </a:r>
            <a:r>
              <a:rPr lang="en-US"/>
              <a:t> </a:t>
            </a:r>
          </a:p>
          <a:p>
            <a:pPr fontAlgn="base"/>
            <a:r>
              <a:rPr lang="en-US"/>
              <a:t>Every year, thousands of students and freshers struggle in job interviews — not due to lack of knowledge, but due to </a:t>
            </a:r>
            <a:r>
              <a:rPr lang="en-US" b="1"/>
              <a:t>lack of structured, personalised interview practice</a:t>
            </a:r>
            <a:r>
              <a:rPr lang="en-US"/>
              <a:t>. Generic YouTube videos and static PDFs don't adapt to an individual's skill set, role, or target company. Without </a:t>
            </a:r>
            <a:r>
              <a:rPr lang="en-US" b="1"/>
              <a:t>real-time, adaptive feedback</a:t>
            </a:r>
            <a:r>
              <a:rPr lang="en-US"/>
              <a:t>, many candidates walk in underprepared and underconfident. </a:t>
            </a:r>
          </a:p>
          <a:p>
            <a:pPr fontAlgn="base"/>
            <a:endParaRPr lang="en-US"/>
          </a:p>
          <a:p>
            <a:pPr fontAlgn="base"/>
            <a:r>
              <a:rPr lang="en-US" b="1"/>
              <a:t>The Objective</a:t>
            </a:r>
            <a:r>
              <a:rPr lang="en-US"/>
              <a:t> </a:t>
            </a:r>
          </a:p>
          <a:p>
            <a:pPr fontAlgn="base"/>
            <a:r>
              <a:rPr lang="en-US"/>
              <a:t>Build an </a:t>
            </a:r>
            <a:r>
              <a:rPr lang="en-US" b="1"/>
              <a:t>AI-powered Interview Trainer Agent</a:t>
            </a:r>
            <a:r>
              <a:rPr lang="en-US"/>
              <a:t> that delivers </a:t>
            </a:r>
            <a:r>
              <a:rPr lang="en-US" b="1"/>
              <a:t>structured, personalised mock interviews with real-time evaluation</a:t>
            </a:r>
            <a:r>
              <a:rPr lang="en-US"/>
              <a:t> for IT job seekers targeting companies like TCS, Infosys, Wipro, Accenture, and Cognizant. The solution should: </a:t>
            </a:r>
          </a:p>
          <a:p>
            <a:pPr marL="285750" indent="-285750" fontAlgn="base">
              <a:buFont typeface="Arial" panose="020B0604020202020204" pitchFamily="34" charset="0"/>
              <a:buChar char="•"/>
            </a:pPr>
            <a:r>
              <a:rPr lang="en-US" b="1"/>
              <a:t>Role &amp; Company-Specific Questions</a:t>
            </a:r>
            <a:r>
              <a:rPr lang="en-US"/>
              <a:t> – Generate Technical, HR, and Situational questions tailored to role, experience, and target company. </a:t>
            </a:r>
          </a:p>
          <a:p>
            <a:pPr marL="285750" indent="-285750" fontAlgn="base">
              <a:buFont typeface="Arial" panose="020B0604020202020204" pitchFamily="34" charset="0"/>
              <a:buChar char="•"/>
            </a:pPr>
            <a:r>
              <a:rPr lang="en-US" b="1"/>
              <a:t>Real-Time Answer Evaluation</a:t>
            </a:r>
            <a:r>
              <a:rPr lang="en-US"/>
              <a:t> – Score each answer out of 10, highlighting strengths and missing concepts instantly. </a:t>
            </a:r>
          </a:p>
          <a:p>
            <a:pPr marL="285750" indent="-285750" fontAlgn="base">
              <a:buFont typeface="Arial" panose="020B0604020202020204" pitchFamily="34" charset="0"/>
              <a:buChar char="•"/>
            </a:pPr>
            <a:r>
              <a:rPr lang="en-US" b="1"/>
              <a:t>Confidence Tracking</a:t>
            </a:r>
            <a:r>
              <a:rPr lang="en-US"/>
              <a:t> – Measure candidate confidence before and after the session to show real growth. </a:t>
            </a:r>
          </a:p>
          <a:p>
            <a:pPr marL="285750" indent="-285750" fontAlgn="base">
              <a:buFont typeface="Arial" panose="020B0604020202020204" pitchFamily="34" charset="0"/>
              <a:buChar char="•"/>
            </a:pPr>
            <a:r>
              <a:rPr lang="en-US" b="1"/>
              <a:t>Adaptive Difficulty</a:t>
            </a:r>
            <a:r>
              <a:rPr lang="en-US"/>
              <a:t> – Increase question difficulty as the candidate performs well, mimicking real interview pressure. </a:t>
            </a:r>
          </a:p>
          <a:p>
            <a:pPr marL="285750" indent="-285750" fontAlgn="base">
              <a:buFont typeface="Arial" panose="020B0604020202020204" pitchFamily="34" charset="0"/>
              <a:buChar char="•"/>
            </a:pPr>
            <a:r>
              <a:rPr lang="en-US" b="1"/>
              <a:t>Structured Multi-Round Flow</a:t>
            </a:r>
            <a:r>
              <a:rPr lang="en-US"/>
              <a:t> – </a:t>
            </a:r>
          </a:p>
          <a:p>
            <a:pPr marL="285750" indent="-285750" fontAlgn="base">
              <a:buFont typeface="Arial" panose="020B0604020202020204" pitchFamily="34" charset="0"/>
              <a:buChar char="•"/>
            </a:pPr>
            <a:r>
              <a:rPr lang="en-US" b="1"/>
              <a:t>Technical Round</a:t>
            </a:r>
            <a:r>
              <a:rPr lang="en-US"/>
              <a:t> (5 questions, adaptive difficulty) </a:t>
            </a:r>
          </a:p>
          <a:p>
            <a:pPr marL="285750" indent="-285750" fontAlgn="base">
              <a:buFont typeface="Arial" panose="020B0604020202020204" pitchFamily="34" charset="0"/>
              <a:buChar char="•"/>
            </a:pPr>
            <a:r>
              <a:rPr lang="en-US" b="1"/>
              <a:t>HR Round</a:t>
            </a:r>
            <a:r>
              <a:rPr lang="en-US"/>
              <a:t> (3 STAR-format behavioural questions) </a:t>
            </a:r>
          </a:p>
          <a:p>
            <a:pPr marL="285750" indent="-285750" fontAlgn="base">
              <a:buFont typeface="Arial" panose="020B0604020202020204" pitchFamily="34" charset="0"/>
              <a:buChar char="•"/>
            </a:pPr>
            <a:r>
              <a:rPr lang="en-US" b="1"/>
              <a:t>Situational Round</a:t>
            </a:r>
            <a:r>
              <a:rPr lang="en-US"/>
              <a:t> (2 real workplace scenarios) </a:t>
            </a:r>
          </a:p>
          <a:p>
            <a:pPr marL="285750" indent="-285750" fontAlgn="base">
              <a:buFont typeface="Arial" panose="020B0604020202020204" pitchFamily="34" charset="0"/>
              <a:buChar char="•"/>
            </a:pPr>
            <a:r>
              <a:rPr lang="en-US" b="1"/>
              <a:t>Final Report Card</a:t>
            </a:r>
            <a:r>
              <a:rPr lang="en-US"/>
              <a:t> (scores, strengths, 7-day roadmap) </a:t>
            </a:r>
          </a:p>
          <a:p>
            <a:pPr marL="285750" indent="-285750" fontAlgn="base">
              <a:buFont typeface="Arial" panose="020B0604020202020204" pitchFamily="34" charset="0"/>
              <a:buChar char="•"/>
            </a:pPr>
            <a:r>
              <a:rPr lang="en-US" b="1"/>
              <a:t>Confidence Growth Display</a:t>
            </a:r>
            <a:r>
              <a:rPr lang="en-US"/>
              <a:t> – Visually shows Start → End confidence improvement across the session.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55468" y="1168656"/>
            <a:ext cx="10607040" cy="5262979"/>
          </a:xfrm>
          <a:prstGeom prst="rect">
            <a:avLst/>
          </a:prstGeom>
          <a:noFill/>
        </p:spPr>
        <p:txBody>
          <a:bodyPr wrap="square" rtlCol="0">
            <a:spAutoFit/>
          </a:bodyPr>
          <a:lstStyle/>
          <a:p>
            <a:pPr fontAlgn="base"/>
            <a:endParaRPr lang="en-US" b="1"/>
          </a:p>
          <a:p>
            <a:r>
              <a:rPr lang="en-US" b="1"/>
              <a:t>Proposed Solution: ARIA — AI Readiness Interview Agent</a:t>
            </a:r>
          </a:p>
          <a:p>
            <a:r>
              <a:rPr lang="en-US"/>
              <a:t>The proposed solution is a </a:t>
            </a:r>
            <a:r>
              <a:rPr lang="en-US" b="1"/>
              <a:t>conversational AI-powered Interview Trainer Agent</a:t>
            </a:r>
            <a:r>
              <a:rPr lang="en-US"/>
              <a:t> built using </a:t>
            </a:r>
            <a:r>
              <a:rPr lang="en-US" b="1" err="1"/>
              <a:t>FastAPI</a:t>
            </a:r>
            <a:r>
              <a:rPr lang="en-US" b="1"/>
              <a:t>, Streamlit, and IBM watsonx.ai (Meta Llama 3.3 70B Instruct)</a:t>
            </a:r>
            <a:r>
              <a:rPr lang="en-US"/>
              <a:t> to provide personalised, real-time mock interview coaching. The system addresses gaps in interview preparation, real-time evaluation, and confidence building through a clean, modular architecture.</a:t>
            </a:r>
          </a:p>
          <a:p>
            <a:r>
              <a:rPr lang="en-US"/>
              <a:t>At its core, the solution uses </a:t>
            </a:r>
            <a:r>
              <a:rPr lang="en-US" b="1"/>
              <a:t>IBM watsonx.ai's structured Chat Completion API</a:t>
            </a:r>
            <a:r>
              <a:rPr lang="en-US"/>
              <a:t> — with explicit system/user/assistant message roles rather than raw text completion — so the model reliably respects turn boundaries, question flow, and evaluation format throughout the interview.</a:t>
            </a:r>
          </a:p>
          <a:p>
            <a:r>
              <a:rPr lang="en-US"/>
              <a:t>The system operates through four structured stages:</a:t>
            </a:r>
          </a:p>
          <a:p>
            <a:r>
              <a:rPr lang="en-US" b="1"/>
              <a:t>Onboarding &amp; Confidence Baseline</a:t>
            </a:r>
            <a:r>
              <a:rPr lang="en-US"/>
              <a:t> collects candidate name, role, experience, skills, and target company, then captures a starting confidence score (1-10). </a:t>
            </a:r>
          </a:p>
          <a:p>
            <a:r>
              <a:rPr lang="en-US" b="1"/>
              <a:t>Adaptive Interview Engine</a:t>
            </a:r>
            <a:r>
              <a:rPr lang="en-US"/>
              <a:t> generates 5 Technical, 3 HR (STAR-format), and 2 Situational questions, increasing in difficulty as the candidate performs well. </a:t>
            </a:r>
          </a:p>
          <a:p>
            <a:r>
              <a:rPr lang="en-US" b="1"/>
              <a:t>Real-Time Evaluator</a:t>
            </a:r>
            <a:r>
              <a:rPr lang="en-US"/>
              <a:t> scores every answer out of 10 with specific feedback on what was good, what concept was missing, and the ideal answer. </a:t>
            </a:r>
          </a:p>
          <a:p>
            <a:r>
              <a:rPr lang="en-US" b="1"/>
              <a:t>Report Card Generator</a:t>
            </a:r>
            <a:r>
              <a:rPr lang="en-US"/>
              <a:t> compiles final scores, confidence growth, top strengths, and a 7-day personalised study roadmap. </a:t>
            </a:r>
          </a:p>
          <a:p>
            <a:r>
              <a:rPr lang="en-US"/>
              <a:t>The solution includes a </a:t>
            </a:r>
            <a:r>
              <a:rPr lang="en-US" b="1"/>
              <a:t>clean chat-based interface</a:t>
            </a:r>
            <a:r>
              <a:rPr lang="en-US"/>
              <a:t> (built with </a:t>
            </a:r>
            <a:r>
              <a:rPr lang="en-US" err="1"/>
              <a:t>Streamlit</a:t>
            </a:r>
            <a:r>
              <a:rPr lang="en-US"/>
              <a:t>) where the candidate answers conversationally and sees real-time scoring feedback after every response.</a:t>
            </a:r>
          </a:p>
          <a:p>
            <a:r>
              <a:rPr lang="en-US" err="1"/>
              <a:t>FastAPI</a:t>
            </a:r>
            <a:r>
              <a:rPr lang="en-US"/>
              <a:t> orchestrates the conversation flow and prompt engineering, while IBM watsonx.ai handles model hosting and inference. IBM Bob (IBM's AI coding agent) was used throughout development to help architect, debug, and refine the codebase.</a:t>
            </a:r>
          </a:p>
          <a:p>
            <a:r>
              <a:rPr lang="en-US"/>
              <a:t>Overall, this solution delivers an </a:t>
            </a:r>
            <a:r>
              <a:rPr lang="en-US" b="1"/>
              <a:t>end-to-end intelligent interview coaching assistant</a:t>
            </a:r>
            <a:r>
              <a:rPr lang="en-US"/>
              <a:t> that builds genuine interview readiness through personalised questions, real-time feedback, and measurable confidence growth.</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err="1"/>
              <a:t>Meta Llama 3.3 70B</a:t>
            </a:r>
            <a:r>
              <a:rPr lang="en-US" sz="1800" b="1"/>
              <a:t> (Instruct) </a:t>
            </a:r>
            <a:r>
              <a:rPr lang="en-US" sz="1800"/>
              <a:t>- The core LLM powering question generation, real-time answer evaluation, and report card generation via IBM watsonx.ai</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watsonx.ai</a:t>
            </a:r>
            <a:r>
              <a:rPr lang="en-US" sz="1800" b="1"/>
              <a:t> </a:t>
            </a:r>
            <a:r>
              <a:rPr lang="en-US" sz="1800"/>
              <a:t>- Foundation model platform hosting Llama 3.3 70B </a:t>
            </a:r>
            <a:r>
              <a:rPr lang="en-US" sz="1800" err="1"/>
              <a:t>for</a:t>
            </a:r>
            <a:r>
              <a:rPr lang="en-US" sz="1800"/>
              <a:t> inference, providing the Chat Completion API, project management, and token usage tracking</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Lite </a:t>
            </a:r>
            <a:r>
              <a:rPr lang="en-US" sz="1800"/>
              <a:t>– Free-tier cloud infrastructure hosting the watsonx.ai project. Provides a </a:t>
            </a:r>
            <a:r>
              <a:rPr lang="en-US" sz="1800" b="1"/>
              <a:t>no-cost, IAM-secured environment</a:t>
            </a:r>
            <a:r>
              <a:rPr lang="en-US" sz="1800"/>
              <a:t> for development and testing.</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Bob – </a:t>
            </a:r>
            <a:r>
              <a:rPr lang="en-US" sz="1800"/>
              <a:t>IBM's AI coding agent, used as the primary development assistant to </a:t>
            </a:r>
            <a:r>
              <a:rPr lang="en-US" sz="1800" b="1"/>
              <a:t>architect the FastAPI backend, debug hallucination/token issues, and refine prompt engineering</a:t>
            </a:r>
            <a:r>
              <a:rPr lang="en-US" sz="1800"/>
              <a:t> throughout the build.</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FastAPI + Streamlit - </a:t>
            </a:r>
            <a:r>
              <a:rPr lang="en-US" sz="1800"/>
              <a:t>FastAPI powers the REST backend and prompt engine; Streamlit powers the conversational chat frontend</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ibm-watsonx-ai SDK </a:t>
            </a:r>
            <a:r>
              <a:rPr lang="en-IN" sz="1800"/>
              <a:t>– Official Python SDK used for ModelInference, chat completion calls, and credential handling</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ARIA</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System Components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Streamlit Chat Interface </a:t>
            </a:r>
            <a:r>
              <a:rPr lang="en-US"/>
              <a:t>– Where the candidate enters profile details, confidence rating, and interview answers.</a:t>
            </a:r>
          </a:p>
          <a:p>
            <a:endParaRPr lang="en-US"/>
          </a:p>
          <a:p>
            <a:r>
              <a:rPr lang="en-US" b="1"/>
              <a:t>2) IBM </a:t>
            </a:r>
            <a:r>
              <a:rPr lang="en-US" b="1" err="1"/>
              <a:t>watsonx.ai Chat API</a:t>
            </a:r>
            <a:r>
              <a:rPr lang="en-US" b="1"/>
              <a:t> </a:t>
            </a:r>
            <a:r>
              <a:rPr lang="en-US"/>
              <a:t>- Processes structured system/user/assistant messages using Meta Llama 3.3 70B to generate questions, evaluate answers, and produce the report card. </a:t>
            </a:r>
          </a:p>
          <a:p>
            <a:endParaRPr lang="en-US"/>
          </a:p>
          <a:p>
            <a:r>
              <a:rPr lang="en-US" b="1"/>
              <a:t>3) Model Used - </a:t>
            </a:r>
            <a:r>
              <a:rPr lang="en-US"/>
              <a:t>meta-llama/llama-3-3-70b-instruct → Reliable structured conversation, low hallucination in multi-turn coaching</a:t>
            </a:r>
          </a:p>
          <a:p>
            <a:endParaRPr lang="en-US"/>
          </a:p>
          <a:p>
            <a:r>
              <a:rPr lang="en-US" b="1"/>
              <a:t>4) FastAPI /chat Endpoint -</a:t>
            </a:r>
            <a:r>
              <a:rPr lang="en-US"/>
              <a:t>Returns ARIA's sanitised reply (score, feedback, next question, or final report card) to the frontend. </a:t>
            </a:r>
          </a:p>
          <a:p>
            <a:endParaRPr lang="en-US"/>
          </a:p>
          <a:p>
            <a:r>
              <a:rPr lang="en-US" b="1"/>
              <a:t>5) </a:t>
            </a:r>
            <a:r>
              <a:rPr lang="en-US" b="1">
                <a:highlight>
                  <a:srgbClr val="FFFF00"/>
                </a:highlight>
              </a:rPr>
              <a:t>sanitize_reply() Safety Net - </a:t>
            </a:r>
            <a:r>
              <a:rPr lang="en-US">
                <a:highlight>
                  <a:srgbClr val="FFFF00"/>
                </a:highlight>
              </a:rPr>
              <a:t>Code-level guard that strips stray meta-commentary and hard-caps duplicate Score/Question pairs, as defense-in-depth alongside the structured chat API.</a:t>
            </a:r>
          </a:p>
          <a:p>
            <a:endParaRPr lang="en-US"/>
          </a:p>
          <a:p>
            <a:endParaRPr lang="en-US"/>
          </a:p>
          <a:p>
            <a:r>
              <a:rPr lang="en-US"/>
              <a:t>6) </a:t>
            </a:r>
            <a:r>
              <a:rPr lang="en-US">
                <a:highlight>
                  <a:srgbClr val="FFFF00"/>
                </a:highlight>
              </a:rPr>
              <a:t>IBM Bob (AI Coding Agent) - Used throughout development for debugging, prompt refinement, and architecture decisions.</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ARIA</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System Workflow -</a:t>
            </a:r>
            <a:endParaRPr sz="2400" b="1">
              <a:sym typeface="Times New Roman"/>
            </a:endParaRPr>
          </a:p>
        </p:txBody>
      </p:sp>
      <p:sp>
        <p:nvSpPr>
          <p:cNvPr id="90" name="Screenshot Placeholder"/>
          <p:cNvSpPr txBox="1"/>
          <p:nvPr/>
        </p:nvSpPr>
        <p:spPr>
          <a:xfrm>
            <a:off x="535570" y="1139263"/>
            <a:ext cx="11468100" cy="5505450"/>
          </a:xfrm>
          <a:prstGeom prst="rect">
            <a:avLst/>
          </a:prstGeom>
          <a:solidFill>
            <a:srgbClr val="F2F2F2"/>
          </a:solidFill>
          <a:ln w="12700" cmpd="sng">
            <a:solidFill>
              <a:srgbClr val="A6A6A6"/>
            </a:solidFill>
            <a:prstDash val="dash"/>
          </a:ln>
        </p:spPr>
        <p:txBody>
          <a:bodyPr wrap="square" anchor="ctr">
            <a:normAutofit/>
          </a:bodyPr>
          <a:lstStyle/>
          <a:p>
            <a:pPr algn="ctr"/>
            <a:r>
              <a:rPr lang="en-US" sz="1800" i="1">
                <a:solidFill>
                  <a:srgbClr val="595959"/>
                </a:solidFill>
              </a:rPr>
              <a:t>[ Add screenshot: ARIA chat interface showing a full interview exchange in progress ]</a:t>
            </a: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sp>
        <p:nvSpPr>
          <p:cNvPr id="90" name="Screenshot Placeholder"/>
          <p:cNvSpPr txBox="1"/>
          <p:nvPr/>
        </p:nvSpPr>
        <p:spPr>
          <a:xfrm>
            <a:off x="535570" y="675732"/>
            <a:ext cx="11468100" cy="6181725"/>
          </a:xfrm>
          <a:prstGeom prst="rect">
            <a:avLst/>
          </a:prstGeom>
          <a:solidFill>
            <a:srgbClr val="F2F2F2"/>
          </a:solidFill>
          <a:ln w="12700" cmpd="sng">
            <a:solidFill>
              <a:srgbClr val="A6A6A6"/>
            </a:solidFill>
            <a:prstDash val="dash"/>
          </a:ln>
        </p:spPr>
        <p:txBody>
          <a:bodyPr wrap="square" anchor="ctr">
            <a:normAutofit/>
          </a:bodyPr>
          <a:lstStyle/>
          <a:p>
            <a:pPr algn="ctr"/>
            <a:r>
              <a:rPr lang="en-US" sz="1800" i="1">
                <a:solidFill>
                  <a:srgbClr val="595959"/>
                </a:solidFill>
              </a:rPr>
              <a:t>[ Add screenshot or diagram: ARIA system architecture — Streamlit to FastAPI to IBM watsonx.ai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ARIA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ARIA in the Solution</a:t>
            </a:r>
          </a:p>
          <a:p>
            <a:r>
              <a:rPr lang="en-US" b="1"/>
              <a:t>ARIA</a:t>
            </a:r>
            <a:r>
              <a:rPr lang="en-US"/>
              <a:t> functions as an autonomous, multi-step interview agent rather than a simple Q&amp;A chatbot. Using </a:t>
            </a:r>
            <a:r>
              <a:rPr lang="en-US" b="1"/>
              <a:t>IBM watsonx.ai</a:t>
            </a:r>
            <a:r>
              <a:rPr lang="en-US"/>
              <a:t> (</a:t>
            </a:r>
            <a:r>
              <a:rPr lang="en-US" b="1"/>
              <a:t>Meta Llama 3.3 70B)</a:t>
            </a:r>
            <a:r>
              <a:rPr lang="en-US"/>
              <a:t>, it reasons through the entire interview lifecycle on its own — from onboarding, to adaptive questioning, to real-time scoring, to the final report card — without the candidate needing to direct each step.</a:t>
            </a:r>
          </a:p>
          <a:p>
            <a:r>
              <a:rPr lang="en-US"/>
              <a:t>ARIA autonomously decides what to do next at every stage: which question to ask, how to score an answer, and when to move to the next round. This sequential, self-directed reasoning is what makes it </a:t>
            </a:r>
            <a:r>
              <a:rPr lang="en-US" b="1"/>
              <a:t>agentic rather than scripted</a:t>
            </a:r>
            <a:r>
              <a:rPr lang="en-US"/>
              <a:t> — the same structured chat-completion architecture consistently produces correct, on-format behaviour without needing a human to steer it turn by turn.</a:t>
            </a:r>
          </a:p>
          <a:p>
            <a:r>
              <a:rPr lang="en-US"/>
              <a:t>ARIA also demonstrates </a:t>
            </a:r>
            <a:r>
              <a:rPr lang="en-US" b="1"/>
              <a:t>context awareness</a:t>
            </a:r>
            <a:r>
              <a:rPr lang="en-US"/>
              <a:t>, remembering the candidate's name, role, skills, and target company throughout the session to keep questions relevant. It supports </a:t>
            </a:r>
            <a:r>
              <a:rPr lang="en-US" b="1"/>
              <a:t>real-time adaptation</a:t>
            </a:r>
            <a:r>
              <a:rPr lang="en-US"/>
              <a:t>, increasing question difficulty as the candidate answers well, just like a real interviewer would.</a:t>
            </a:r>
          </a:p>
          <a:p>
            <a:r>
              <a:rPr lang="en-US"/>
              <a:t>A code-level safety net (sanitize_reply) works alongside the model as defense-in-depth, catching rare formatting slips without limiting the model's autonomy in generating questions and feedback.</a:t>
            </a:r>
          </a:p>
          <a:p>
            <a:r>
              <a:rPr lang="en-US"/>
              <a:t>Overall, ARIA is proactive, personalised, and goal-driven — acting like a </a:t>
            </a:r>
            <a:r>
              <a:rPr lang="en-US" b="1"/>
              <a:t>genuine mock interview coach</a:t>
            </a:r>
            <a:r>
              <a:rPr lang="en-US"/>
              <a:t> guiding a candidate from onboarding through to a completed, evaluated interview.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Optimised from ~1,000-1,400 tokens/exchange down to ~200-500 tokens/exchange</a:t>
            </a:r>
          </a:p>
        </p:txBody>
      </p:sp>
      <p:sp>
        <p:nvSpPr>
          <p:cNvPr id="90" name="Screenshot Placeholder"/>
          <p:cNvSpPr txBox="1"/>
          <p:nvPr/>
        </p:nvSpPr>
        <p:spPr>
          <a:xfrm>
            <a:off x="114240" y="2453592"/>
            <a:ext cx="5095875" cy="2857500"/>
          </a:xfrm>
          <a:prstGeom prst="rect">
            <a:avLst/>
          </a:prstGeom>
          <a:solidFill>
            <a:srgbClr val="F2F2F2"/>
          </a:solidFill>
          <a:ln w="12700" cmpd="sng">
            <a:solidFill>
              <a:srgbClr val="A6A6A6"/>
            </a:solidFill>
            <a:prstDash val="dash"/>
          </a:ln>
        </p:spPr>
        <p:txBody>
          <a:bodyPr wrap="square" anchor="ctr">
            <a:normAutofit/>
          </a:bodyPr>
          <a:lstStyle/>
          <a:p>
            <a:pPr algn="ctr"/>
            <a:r>
              <a:rPr lang="en-US" sz="1800" i="1">
                <a:solidFill>
                  <a:srgbClr val="595959"/>
                </a:solidFill>
              </a:rPr>
              <a:t>[ Add screenshot: IBM watsonx.ai token usage dashboard — BEFORE optimisation ]</a:t>
            </a:r>
          </a:p>
        </p:txBody>
      </p:sp>
      <p:sp>
        <p:nvSpPr>
          <p:cNvPr id="91" name="Screenshot Placeholder"/>
          <p:cNvSpPr txBox="1"/>
          <p:nvPr/>
        </p:nvSpPr>
        <p:spPr>
          <a:xfrm>
            <a:off x="6159601" y="2451181"/>
            <a:ext cx="5724525" cy="2857500"/>
          </a:xfrm>
          <a:prstGeom prst="rect">
            <a:avLst/>
          </a:prstGeom>
          <a:solidFill>
            <a:srgbClr val="F2F2F2"/>
          </a:solidFill>
          <a:ln w="12700" cmpd="sng">
            <a:solidFill>
              <a:srgbClr val="A6A6A6"/>
            </a:solidFill>
            <a:prstDash val="dash"/>
          </a:ln>
        </p:spPr>
        <p:txBody>
          <a:bodyPr wrap="square" anchor="ctr">
            <a:normAutofit/>
          </a:bodyPr>
          <a:lstStyle/>
          <a:p>
            <a:pPr algn="ctr"/>
            <a:r>
              <a:rPr lang="en-US" sz="1800" i="1">
                <a:solidFill>
                  <a:srgbClr val="595959"/>
                </a:solidFill>
              </a:rPr>
              <a:t>[ Add screenshot: IBM watsonx.ai token usage dashboard — AFTER optimisation ]</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ARIA stands out by combining </a:t>
            </a:r>
            <a:r>
              <a:rPr lang="en-IN" sz="1800" b="1"/>
              <a:t>structured agentic reasoning, real-time evaluation, and confidence tracking</a:t>
            </a:r>
            <a:r>
              <a:rPr lang="en-IN" sz="1800"/>
              <a:t> into a single coherent interview-coaching experience.</a:t>
            </a:r>
          </a:p>
          <a:p>
            <a:endParaRPr lang="en-IN" sz="1800"/>
          </a:p>
          <a:p>
            <a:r>
              <a:rPr lang="en-IN" sz="1800" b="1"/>
              <a:t>Confidence Growth Tracking</a:t>
            </a:r>
            <a:r>
              <a:rPr lang="en-IN" sz="1800"/>
              <a:t> – Measures candidate confidence BEFORE and AFTER the interview, a feature most interview trainers don't offer. </a:t>
            </a:r>
          </a:p>
          <a:p>
            <a:r>
              <a:rPr lang="en-IN" sz="1800" b="1"/>
              <a:t>Chat-Completion Architecture</a:t>
            </a:r>
            <a:r>
              <a:rPr lang="en-IN" sz="1800"/>
              <a:t> – Uses structured system/user/assistant roles instead of raw text completion, eliminating the hallucinated-turn bug found in early iterations. </a:t>
            </a:r>
          </a:p>
          <a:p>
            <a:r>
              <a:rPr lang="en-IN" sz="1800" b="1"/>
              <a:t>Role &amp; Company-Specific Personalisation</a:t>
            </a:r>
            <a:r>
              <a:rPr lang="en-IN" sz="1800"/>
              <a:t> – Tailors every question to the candidate's role, experience level, skills, and target company. </a:t>
            </a:r>
          </a:p>
          <a:p>
            <a:r>
              <a:rPr lang="en-IN" sz="1800" b="1"/>
              <a:t>Real-Time Feedback Loop</a:t>
            </a:r>
            <a:r>
              <a:rPr lang="en-IN" sz="1800"/>
              <a:t> – Scores every answer instantly and adapts question difficulty based on candidate </a:t>
            </a:r>
            <a:r>
              <a:rPr lang="en-IN" sz="1800" err="1"/>
              <a:t>performance</a:t>
            </a:r>
            <a:r>
              <a:rPr lang="en-IN" sz="1800"/>
              <a:t>. </a:t>
            </a:r>
          </a:p>
          <a:p>
            <a:r>
              <a:rPr lang="en-IN" sz="1800" b="1"/>
              <a:t>Structured 3-Round Format</a:t>
            </a:r>
            <a:r>
              <a:rPr lang="en-IN" sz="1800"/>
              <a:t> – Technical, HR (STAR-format), and Situational rounds mirror real IT-company interview structure. </a:t>
            </a:r>
          </a:p>
          <a:p>
            <a:r>
              <a:rPr lang="en-IN" sz="1800" b="1"/>
              <a:t>Token-Efficient Engineering</a:t>
            </a:r>
            <a:r>
              <a:rPr lang="en-IN" sz="1800"/>
              <a:t> – Deliberately optimised prompt size and history windowing to reduce per-exchange token cost significantly. </a:t>
            </a:r>
          </a:p>
          <a:p>
            <a:r>
              <a:rPr lang="en-IN" sz="1800" b="1"/>
              <a:t>Built on Proven IBM Infrastructure</a:t>
            </a:r>
            <a:r>
              <a:rPr lang="en-IN" sz="1800"/>
              <a:t> – Runs on </a:t>
            </a:r>
            <a:r>
              <a:rPr lang="en-IN" sz="1800" b="1"/>
              <a:t>IBM watsonx.ai</a:t>
            </a:r>
            <a:r>
              <a:rPr lang="en-IN" sz="1800"/>
              <a:t> (</a:t>
            </a:r>
            <a:r>
              <a:rPr lang="en-IN" sz="1800" b="1"/>
              <a:t>Meta Llama 3.3 70B)</a:t>
            </a:r>
            <a:r>
              <a:rPr lang="en-IN" sz="1800"/>
              <a:t>, with IBM Bob used throughout development. </a:t>
            </a:r>
          </a:p>
          <a:p>
            <a:endParaRPr lang="en-IN" sz="1800"/>
          </a:p>
          <a:p>
            <a:r>
              <a:rPr lang="en-IN" sz="1800"/>
              <a:t>This makes ARIA a </a:t>
            </a:r>
            <a:r>
              <a:rPr lang="en-IN" sz="1800" b="1"/>
              <a:t>genuinely adaptive, evidence-based interview coach</a:t>
            </a:r>
            <a:r>
              <a:rPr lang="en-IN" sz="1800"/>
              <a:t>, not just a static question bank.</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Results &amp; Challenges Overcome</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An honest account of what works well and what was fixed along the way, based on iterative testing.</a:t>
            </a:r>
          </a:p>
          <a:p>
            <a:endParaRPr lang="en-IN" sz="1800"/>
          </a:p>
          <a:p>
            <a:r>
              <a:rPr lang="en-IN" sz="1800" b="1"/>
              <a:t>What Works Well</a:t>
            </a:r>
            <a:r>
              <a:rPr lang="en-IN" sz="1800"/>
              <a:t> – ARIA reliably flows through Onboarding, Technical, HR, and Situational rounds to the Report Card without hallucinating extra turns. </a:t>
            </a:r>
          </a:p>
          <a:p>
            <a:r>
              <a:rPr lang="en-IN" sz="1800" b="1"/>
              <a:t>Clean Formatting</a:t>
            </a:r>
            <a:r>
              <a:rPr lang="en-IN" sz="1800"/>
              <a:t> – Score, feedback, and the next question now render on clearly separated lines for readability. </a:t>
            </a:r>
          </a:p>
          <a:p>
            <a:r>
              <a:rPr lang="en-IN" sz="1800" b="1"/>
              <a:t>Reduced Token Cost</a:t>
            </a:r>
            <a:r>
              <a:rPr lang="en-IN" sz="1800"/>
              <a:t> – Per-exchange token usage dropped noticeably after compressing the system prompt and trimming conversation history. </a:t>
            </a:r>
          </a:p>
          <a:p>
            <a:r>
              <a:rPr lang="en-IN" sz="1800" b="1"/>
              <a:t>Challenges Overcome</a:t>
            </a:r>
            <a:r>
              <a:rPr lang="en-IN" sz="1800"/>
              <a:t> – The agent initially hallucinated entire fake candidate answers and scores; fixed by switching from raw text-completion to structured chat-completion messages. </a:t>
            </a:r>
          </a:p>
          <a:p>
            <a:r>
              <a:rPr lang="en-IN" sz="1800" b="1"/>
              <a:t>Rate-Limit Handling</a:t>
            </a:r>
            <a:r>
              <a:rPr lang="en-IN" sz="1800"/>
              <a:t> – IBM's free-tier concurrent request cap occasionally triggers a 429; addressed with retry-with-backoff logic instead of a hard failure. </a:t>
            </a:r>
          </a:p>
          <a:p>
            <a:r>
              <a:rPr lang="en-IN" sz="1800" b="1"/>
              <a:t>Known Limitation</a:t>
            </a:r>
            <a:r>
              <a:rPr lang="en-IN" sz="1800"/>
              <a:t> – Conversation history truncation is a real cost/quality tradeoff; overly aggressive trimming briefly caused context loss during testing, since corrected. </a:t>
            </a:r>
          </a:p>
          <a:p>
            <a:r>
              <a:rPr lang="en-IN" sz="1800" b="1"/>
              <a:t>Still To Verify</a:t>
            </a:r>
            <a:r>
              <a:rPr lang="en-IN" sz="1800"/>
              <a:t> – Full 10-question sessions under concurrent multi-user load have not yet been exhaustively tested; </a:t>
            </a:r>
            <a:r>
              <a:rPr lang="en-IN" sz="1800" b="1"/>
              <a:t>the notes above reflect iterative single-user testing</a:t>
            </a:r>
            <a:r>
              <a:rPr lang="en-IN" sz="1800"/>
              <a:t>, not a formal benchmark suite (</a:t>
            </a:r>
            <a:r>
              <a:rPr lang="en-IN" sz="1800" b="1"/>
              <a:t>add real metrics here once measured)</a:t>
            </a:r>
            <a:r>
              <a:rPr lang="en-IN" sz="1800"/>
              <a:t>.</a:t>
            </a:r>
          </a:p>
          <a:p>
            <a:endParaRPr lang="en-IN" sz="1800"/>
          </a:p>
          <a:p>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t>
            </a:r>
            <a:r>
              <a:rPr lang="en-US" sz="1850" err="1">
                <a:solidFill>
                  <a:srgbClr val="2B3541"/>
                </a:solidFill>
                <a:latin typeface="Times New Roman"/>
                <a:ea typeface="Times New Roman"/>
                <a:cs typeface="Times New Roman"/>
                <a:sym typeface="Times New Roman"/>
              </a:rPr>
              <a:t>app.py, main.py</a:t>
            </a:r>
            <a:r>
              <a:rPr lang="en-US" sz="1850">
                <a:solidFill>
                  <a:srgbClr val="2B3541"/>
                </a:solidFill>
                <a:latin typeface="Times New Roman"/>
                <a:ea typeface="Times New Roman"/>
                <a:cs typeface="Times New Roman"/>
                <a:sym typeface="Times New Roman"/>
              </a:rPr>
              <a:t> files (source code), 2) README.md with setup + demo, 3) this ARIA_Submission.pptx file, 4) requirements.txt and .env.example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 Resume Upload &amp; Parsing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Allow candidates to upload their resume so ARIA can generate personalised questions based on their actual projects, skills, and experience rather than generic role-based questions.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Multilingual Support &amp; Company-Specific RAG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Add support for Hindi, Tamil, Telugu, and other regional languages for wider accessibility. Optionally introduce a lightweight RAG layer with real, verified company-specific interview questions to ground ARIA's questions in actual past interview data.</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creenshot Placeholder"/>
          <p:cNvSpPr txBox="1"/>
          <p:nvPr/>
        </p:nvSpPr>
        <p:spPr>
          <a:xfrm>
            <a:off x="1140862" y="1485577"/>
            <a:ext cx="6911761" cy="4520796"/>
          </a:xfrm>
          <a:prstGeom prst="rect">
            <a:avLst/>
          </a:prstGeom>
          <a:solidFill>
            <a:srgbClr val="F2F2F2"/>
          </a:solidFill>
          <a:ln w="12700" cmpd="sng">
            <a:solidFill>
              <a:srgbClr val="A6A6A6"/>
            </a:solidFill>
            <a:prstDash val="dash"/>
          </a:ln>
        </p:spPr>
        <p:txBody>
          <a:bodyPr wrap="square" anchor="ctr">
            <a:normAutofit/>
          </a:bodyPr>
          <a:lstStyle/>
          <a:p>
            <a:pPr algn="ctr"/>
            <a:r>
              <a:rPr lang="en-US" sz="1800" i="1">
                <a:solidFill>
                  <a:srgbClr val="595959"/>
                </a:solidFill>
              </a:rPr>
              <a:t>[ Add your IBM SkillsBuild / Credly certificate screenshot here ]</a:t>
            </a:r>
          </a:p>
        </p:txBody>
      </p:sp>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creenshot Placeholder"/>
          <p:cNvSpPr txBox="1"/>
          <p:nvPr/>
        </p:nvSpPr>
        <p:spPr>
          <a:xfrm>
            <a:off x="2512736" y="1712637"/>
            <a:ext cx="7177553" cy="4658577"/>
          </a:xfrm>
          <a:prstGeom prst="rect">
            <a:avLst/>
          </a:prstGeom>
          <a:solidFill>
            <a:srgbClr val="F2F2F2"/>
          </a:solidFill>
          <a:ln w="12700" cmpd="sng">
            <a:solidFill>
              <a:srgbClr val="A6A6A6"/>
            </a:solidFill>
            <a:prstDash val="dash"/>
          </a:ln>
        </p:spPr>
        <p:txBody>
          <a:bodyPr wrap="square" anchor="ctr">
            <a:normAutofit/>
          </a:bodyPr>
          <a:lstStyle/>
          <a:p>
            <a:pPr algn="ctr"/>
            <a:r>
              <a:rPr lang="en-US" sz="1800" i="1">
                <a:solidFill>
                  <a:srgbClr val="595959"/>
                </a:solidFill>
              </a:rPr>
              <a:t>[ Add your IBM Bob completion certificate screenshot here ]</a:t>
            </a:r>
          </a:p>
        </p:txBody>
      </p:sp>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1929</Words>
  <Application>Microsoft Office PowerPoint</Application>
  <PresentationFormat>Widescreen</PresentationFormat>
  <Paragraphs>146</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Bhavesh N</cp:lastModifiedBy>
  <cp:revision>6</cp:revision>
  <dcterms:created xsi:type="dcterms:W3CDTF">2025-07-08T05:06:56Z</dcterms:created>
  <dcterms:modified xsi:type="dcterms:W3CDTF">2026-07-11T17:20:19Z</dcterms:modified>
</cp:coreProperties>
</file>