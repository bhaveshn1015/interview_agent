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81" r:id="rId7"/>
    <p:sldId id="279" r:id="rId8"/>
    <p:sldId id="262" r:id="rId9"/>
    <p:sldId id="264" r:id="rId10"/>
    <p:sldId id="277" r:id="rId11"/>
    <p:sldId id="286" r:id="rId12"/>
    <p:sldId id="287" r:id="rId13"/>
    <p:sldId id="280" r:id="rId14"/>
    <p:sldId id="288"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897107072"/>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rotWithShape="1">
          <a:blip r:embed="rId3">
            <a:alphaModFix/>
          </a:blip>
          <a:srcRect/>
          <a:stretch/>
        </p:blipFill>
        <p:spPr>
          <a:xfrm>
            <a:off x="4053024" y="3738417"/>
            <a:ext cx="762500"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a:t>Domain of  Project – </a:t>
            </a:r>
            <a:r>
              <a:rPr lang="en-US" sz="2400" b="1">
                <a:highlight>
                  <a:srgbClr val="FFFF00"/>
                </a:highlight>
              </a:rPr>
              <a:t>[ like Agriculture / Education / Healthcare / … ]</a:t>
            </a:r>
            <a:endParaRPr lang="en-IN" sz="2400" b="1">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a:t>Project Tile – </a:t>
            </a:r>
            <a:r>
              <a:rPr lang="en-US" sz="2400" b="1">
                <a:highlight>
                  <a:srgbClr val="FFFF00"/>
                </a:highlight>
              </a:rPr>
              <a:t>[</a:t>
            </a:r>
            <a:r>
              <a:rPr lang="en-US" sz="2400" b="1">
                <a:solidFill>
                  <a:srgbClr val="002060"/>
                </a:solidFill>
                <a:highlight>
                  <a:srgbClr val="FFFF00"/>
                </a:highlight>
                <a:latin typeface="Times New Roman"/>
                <a:ea typeface="Times New Roman"/>
                <a:cs typeface="Times New Roman"/>
                <a:sym typeface="Times New Roman"/>
              </a:rPr>
              <a:t>Write your project title here</a:t>
            </a:r>
            <a:r>
              <a:rPr lang="en-US" sz="2400" b="1">
                <a:highlight>
                  <a:srgbClr val="FFFF00"/>
                </a:highlight>
              </a:rPr>
              <a:t>]</a:t>
            </a:r>
            <a:endParaRPr lang="en-IN" sz="2400" b="1">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a:t>Problem Statement : Nutrition Agent</a:t>
            </a:r>
            <a:r>
              <a:rPr lang="en-US"/>
              <a:t> </a:t>
            </a:r>
          </a:p>
          <a:p>
            <a:pPr fontAlgn="base"/>
            <a:endParaRPr lang="en-US" b="1"/>
          </a:p>
          <a:p>
            <a:pPr fontAlgn="base"/>
            <a:r>
              <a:rPr lang="en-US" b="1"/>
              <a:t>The Challenge</a:t>
            </a:r>
            <a:r>
              <a:rPr lang="en-US"/>
              <a:t> </a:t>
            </a:r>
          </a:p>
          <a:p>
            <a:pPr fontAlgn="base"/>
            <a:r>
              <a:rPr lang="en-US"/>
              <a:t>Good nutrition is the foundation of health, but individuals often struggle with </a:t>
            </a:r>
            <a:r>
              <a:rPr lang="en-US" b="1"/>
              <a:t>diet planning, portion control, and tracking nutritional intake</a:t>
            </a:r>
            <a:r>
              <a:rPr lang="en-US"/>
              <a:t>. Information about healthy diets, disease-specific nutrition, and food composition is scattered across unreliable sources. Without </a:t>
            </a:r>
            <a:r>
              <a:rPr lang="en-US" b="1"/>
              <a:t>personalized, real-time guidance</a:t>
            </a:r>
            <a:r>
              <a:rPr lang="en-US"/>
              <a:t>, many fail to maintain balanced diets or make informed food choices. </a:t>
            </a:r>
          </a:p>
          <a:p>
            <a:pPr fontAlgn="base"/>
            <a:endParaRPr lang="en-US"/>
          </a:p>
          <a:p>
            <a:pPr fontAlgn="base"/>
            <a:r>
              <a:rPr lang="en-US" b="1"/>
              <a:t>The Objective</a:t>
            </a:r>
            <a:r>
              <a:rPr lang="en-US"/>
              <a:t> </a:t>
            </a:r>
          </a:p>
          <a:p>
            <a:pPr fontAlgn="base"/>
            <a:r>
              <a:rPr lang="en-US"/>
              <a:t>Build an </a:t>
            </a:r>
            <a:r>
              <a:rPr lang="en-US" b="1"/>
              <a:t>AI-powered Nutrition Agent</a:t>
            </a:r>
            <a:r>
              <a:rPr lang="en-US"/>
              <a:t> that delivers </a:t>
            </a:r>
            <a:r>
              <a:rPr lang="en-US" b="1"/>
              <a:t>personalized dietary insights and guidance</a:t>
            </a:r>
            <a:r>
              <a:rPr lang="en-US"/>
              <a:t> for individuals, families, and health professionals. The solution should: </a:t>
            </a:r>
          </a:p>
          <a:p>
            <a:pPr marL="285750" indent="-285750" fontAlgn="base">
              <a:buFont typeface="Arial" panose="020B0604020202020204" pitchFamily="34" charset="0"/>
              <a:buChar char="•"/>
            </a:pPr>
            <a:r>
              <a:rPr lang="en-US" b="1"/>
              <a:t>Personalized Diet Plans</a:t>
            </a:r>
            <a:r>
              <a:rPr lang="en-US"/>
              <a:t> – Recommend meals based on age, health conditions, allergies, cultural preferences, and fitness goals. </a:t>
            </a:r>
          </a:p>
          <a:p>
            <a:pPr marL="285750" indent="-285750" fontAlgn="base">
              <a:buFont typeface="Arial" panose="020B0604020202020204" pitchFamily="34" charset="0"/>
              <a:buChar char="•"/>
            </a:pPr>
            <a:r>
              <a:rPr lang="en-US" b="1"/>
              <a:t>Food Data RAG Retrieval</a:t>
            </a:r>
            <a:r>
              <a:rPr lang="en-US"/>
              <a:t> – Fetch and summarize nutritional values (calories, macros, vitamins) from reliable sources. </a:t>
            </a:r>
          </a:p>
          <a:p>
            <a:pPr marL="285750" indent="-285750" fontAlgn="base">
              <a:buFont typeface="Arial" panose="020B0604020202020204" pitchFamily="34" charset="0"/>
              <a:buChar char="•"/>
            </a:pPr>
            <a:r>
              <a:rPr lang="en-US" b="1"/>
              <a:t>Diet Tracking &amp; Feedback</a:t>
            </a:r>
            <a:r>
              <a:rPr lang="en-US"/>
              <a:t> – Allow users to log meals via text, images, or voice, and provide instant nutritional analysis. </a:t>
            </a:r>
          </a:p>
          <a:p>
            <a:pPr marL="285750" indent="-285750" fontAlgn="base">
              <a:buFont typeface="Arial" panose="020B0604020202020204" pitchFamily="34" charset="0"/>
              <a:buChar char="•"/>
            </a:pPr>
            <a:r>
              <a:rPr lang="en-US" b="1"/>
              <a:t>Preventive Health Focus</a:t>
            </a:r>
            <a:r>
              <a:rPr lang="en-US"/>
              <a:t> – Suggest diets for chronic disease management (e.g., diabetes-friendly or heart-healthy plans). </a:t>
            </a:r>
          </a:p>
          <a:p>
            <a:pPr marL="285750" indent="-285750" fontAlgn="base">
              <a:buFont typeface="Arial" panose="020B0604020202020204" pitchFamily="34" charset="0"/>
              <a:buChar char="•"/>
            </a:pPr>
            <a:r>
              <a:rPr lang="en-US" b="1"/>
              <a:t>Multi-Agent System</a:t>
            </a:r>
            <a:r>
              <a:rPr lang="en-US"/>
              <a:t> – </a:t>
            </a:r>
          </a:p>
          <a:p>
            <a:pPr marL="285750" indent="-285750" fontAlgn="base">
              <a:buFont typeface="Arial" panose="020B0604020202020204" pitchFamily="34" charset="0"/>
              <a:buChar char="•"/>
            </a:pPr>
            <a:r>
              <a:rPr lang="en-US" b="1"/>
              <a:t>Nutrition Knowledge Agent</a:t>
            </a:r>
            <a:r>
              <a:rPr lang="en-US"/>
              <a:t> (fetches nutritional data) </a:t>
            </a:r>
          </a:p>
          <a:p>
            <a:pPr marL="285750" indent="-285750" fontAlgn="base">
              <a:buFont typeface="Arial" panose="020B0604020202020204" pitchFamily="34" charset="0"/>
              <a:buChar char="•"/>
            </a:pPr>
            <a:r>
              <a:rPr lang="en-US" b="1"/>
              <a:t>Diet Recommendation Agent</a:t>
            </a:r>
            <a:r>
              <a:rPr lang="en-US"/>
              <a:t> (personalized meal plans) </a:t>
            </a:r>
          </a:p>
          <a:p>
            <a:pPr marL="285750" indent="-285750" fontAlgn="base">
              <a:buFont typeface="Arial" panose="020B0604020202020204" pitchFamily="34" charset="0"/>
              <a:buChar char="•"/>
            </a:pPr>
            <a:r>
              <a:rPr lang="en-US" b="1"/>
              <a:t>Health Advisory Agent</a:t>
            </a:r>
            <a:r>
              <a:rPr lang="en-US"/>
              <a:t> (preventive health suggestions) </a:t>
            </a:r>
          </a:p>
          <a:p>
            <a:pPr marL="285750" indent="-285750" fontAlgn="base">
              <a:buFont typeface="Arial" panose="020B0604020202020204" pitchFamily="34" charset="0"/>
              <a:buChar char="•"/>
            </a:pPr>
            <a:r>
              <a:rPr lang="en-US" b="1"/>
              <a:t>Food Log &amp; Feedback Agent</a:t>
            </a:r>
            <a:r>
              <a:rPr lang="en-US"/>
              <a:t> (meal tracking + analysis) </a:t>
            </a:r>
          </a:p>
          <a:p>
            <a:pPr marL="285750" indent="-285750" fontAlgn="base">
              <a:buFont typeface="Arial" panose="020B0604020202020204" pitchFamily="34" charset="0"/>
              <a:buChar char="•"/>
            </a:pPr>
            <a:r>
              <a:rPr lang="en-US" b="1"/>
              <a:t>Visualization Dashboard</a:t>
            </a:r>
            <a:r>
              <a:rPr lang="en-US"/>
              <a:t> – Show daily/weekly nutrient intake, deficiencies, and progress toward health goals. </a:t>
            </a:r>
          </a:p>
          <a:p>
            <a:pPr fontAlgn="base"/>
            <a:endParaRPr lang="en-US"/>
          </a:p>
          <a:p>
            <a:endParaRPr lang="en-IN"/>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455468" y="1168656"/>
            <a:ext cx="10607040" cy="5262979"/>
          </a:xfrm>
          <a:prstGeom prst="rect">
            <a:avLst/>
          </a:prstGeom>
          <a:noFill/>
        </p:spPr>
        <p:txBody>
          <a:bodyPr wrap="square" rtlCol="0">
            <a:spAutoFit/>
          </a:bodyPr>
          <a:lstStyle/>
          <a:p>
            <a:pPr fontAlgn="base"/>
            <a:endParaRPr lang="en-US" b="1"/>
          </a:p>
          <a:p>
            <a:r>
              <a:rPr lang="en-US" b="1"/>
              <a:t>Proposed Solution: AI-Powered Nutrition Agent</a:t>
            </a:r>
          </a:p>
          <a:p>
            <a:r>
              <a:rPr lang="en-US"/>
              <a:t>The proposed solution is a </a:t>
            </a:r>
            <a:r>
              <a:rPr lang="en-US" b="1"/>
              <a:t>multi-agent AI-powered Nutrition Agent</a:t>
            </a:r>
            <a:r>
              <a:rPr lang="en-US"/>
              <a:t> built using </a:t>
            </a:r>
            <a:r>
              <a:rPr lang="en-US" b="1" err="1"/>
              <a:t>LangFlow</a:t>
            </a:r>
            <a:r>
              <a:rPr lang="en-US" b="1"/>
              <a:t>, IBM watsonx.ai, and Granite Models</a:t>
            </a:r>
            <a:r>
              <a:rPr lang="en-US"/>
              <a:t> to provide personalized, real-time dietary guidance. The system addresses challenges in diet planning, nutrition tracking, and preventive healthcare through an intelligent, modular architecture.</a:t>
            </a:r>
          </a:p>
          <a:p>
            <a:r>
              <a:rPr lang="en-US"/>
              <a:t>At its core, the solution uses a </a:t>
            </a:r>
            <a:r>
              <a:rPr lang="en-US" b="1"/>
              <a:t>Retrieval-Augmented Generation (RAG)</a:t>
            </a:r>
            <a:r>
              <a:rPr lang="en-US"/>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a:t>The system consists of four key agents:</a:t>
            </a:r>
          </a:p>
          <a:p>
            <a:r>
              <a:rPr lang="en-US" b="1"/>
              <a:t>Nutrition Knowledge Agent</a:t>
            </a:r>
            <a:r>
              <a:rPr lang="en-US"/>
              <a:t> retrieves and summarizes nutritional information using RAG. </a:t>
            </a:r>
          </a:p>
          <a:p>
            <a:r>
              <a:rPr lang="en-US" b="1"/>
              <a:t>Diet Recommendation Agent</a:t>
            </a:r>
            <a:r>
              <a:rPr lang="en-US"/>
              <a:t> generates personalized meal plans based on user inputs such as age, health conditions, dietary preferences, and fitness goals. </a:t>
            </a:r>
          </a:p>
          <a:p>
            <a:r>
              <a:rPr lang="en-US" b="1"/>
              <a:t>Health Advisory Agent</a:t>
            </a:r>
            <a:r>
              <a:rPr lang="en-US"/>
              <a:t> provides preventive health suggestions, including disease-specific diets (e.g., diabetes-friendly or heart-healthy plans). </a:t>
            </a:r>
          </a:p>
          <a:p>
            <a:r>
              <a:rPr lang="en-US" b="1"/>
              <a:t>Food Log &amp; Feedback Agent</a:t>
            </a:r>
            <a:r>
              <a:rPr lang="en-US"/>
              <a:t> allows users to log meals via text, voice, or images and delivers instant nutritional analysis with actionable feedback. </a:t>
            </a:r>
          </a:p>
          <a:p>
            <a:r>
              <a:rPr lang="en-US"/>
              <a:t>The solution includes a </a:t>
            </a:r>
            <a:r>
              <a:rPr lang="en-US" b="1"/>
              <a:t>user-friendly dashboard</a:t>
            </a:r>
            <a:r>
              <a:rPr lang="en-US"/>
              <a:t> (built with </a:t>
            </a:r>
            <a:r>
              <a:rPr lang="en-US" err="1"/>
              <a:t>Streamlit</a:t>
            </a:r>
            <a:r>
              <a:rPr lang="en-US"/>
              <a:t> or React) that visualizes daily and weekly nutrient intake, highlights deficiencies, and tracks progress toward health goals.</a:t>
            </a:r>
          </a:p>
          <a:p>
            <a:r>
              <a:rPr lang="en-US" err="1"/>
              <a:t>LangFlow</a:t>
            </a:r>
            <a:r>
              <a:rPr lang="en-US"/>
              <a:t> is used to orchestrate agent workflows, while watsonx.ai ensures scalable model deployment, embeddings, and AI governance. Granite models power reasoning, summarization, and personalization.</a:t>
            </a:r>
          </a:p>
          <a:p>
            <a:r>
              <a:rPr lang="en-US"/>
              <a:t>Overall, this solution delivers an </a:t>
            </a:r>
            <a:r>
              <a:rPr lang="en-US" b="1"/>
              <a:t>end-to-end intelligent nutrition assistant</a:t>
            </a:r>
            <a:r>
              <a:rPr lang="en-US"/>
              <a:t> that promotes healthier lifestyles through personalized insights, real-time feedback, and preventive healthcare recommendations.</a:t>
            </a:r>
          </a:p>
          <a:p>
            <a:pPr fontAlgn="base"/>
            <a:endParaRPr lang="en-US"/>
          </a:p>
          <a:p>
            <a:endParaRPr lang="en-IN"/>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err="1"/>
              <a:t>Langflow</a:t>
            </a:r>
            <a:r>
              <a:rPr lang="en-US" sz="1800" b="1"/>
              <a:t> platform </a:t>
            </a:r>
            <a:r>
              <a:rPr lang="en-US" sz="1800"/>
              <a:t>-For designing and orchestrating multi-agent workflows visually</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a:t>
            </a:r>
            <a:r>
              <a:rPr lang="en-US" sz="1800" b="1" err="1"/>
              <a:t>Grainte</a:t>
            </a:r>
            <a:r>
              <a:rPr lang="en-US" sz="1800" b="1"/>
              <a:t> model </a:t>
            </a:r>
            <a:r>
              <a:rPr lang="en-US" sz="1800"/>
              <a:t>-  for </a:t>
            </a:r>
            <a:r>
              <a:rPr lang="en-US" sz="1800" err="1"/>
              <a:t>eg</a:t>
            </a:r>
            <a:r>
              <a:rPr lang="en-US" sz="1800"/>
              <a:t> – ibm-granite-3-2-8b – For natural language understanding, reasoning, and personalization</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Cloud </a:t>
            </a:r>
            <a:r>
              <a:rPr lang="en-US" sz="1800"/>
              <a:t>– It provides the infrastructure to build, deploy, and scale the Nutrition Agent efficiently. IBM Cloud enables a </a:t>
            </a:r>
            <a:r>
              <a:rPr lang="en-US" sz="1800" b="1"/>
              <a:t>reliable, secure, and scalable environment</a:t>
            </a:r>
            <a:r>
              <a:rPr lang="en-US" sz="1800"/>
              <a:t> for deploying the Nutrition Agent.</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RAG– </a:t>
            </a:r>
            <a:r>
              <a:rPr lang="en-US" sz="1800"/>
              <a:t>RAG to </a:t>
            </a:r>
            <a:r>
              <a:rPr lang="en-US" sz="1800" b="1"/>
              <a:t>fetch real data first, then generate intelligent answers</a:t>
            </a:r>
            <a:r>
              <a:rPr lang="en-US" sz="1800"/>
              <a:t>, making the Nutrition Agent more trustworthy and effective.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Watsonx.ai - </a:t>
            </a:r>
            <a:r>
              <a:rPr lang="en-US" sz="1800"/>
              <a:t>For model deployment, embeddings, and AI governance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IN" sz="1800" b="1"/>
              <a:t>Vector Database </a:t>
            </a:r>
            <a:r>
              <a:rPr lang="en-IN" sz="1800"/>
              <a:t>(FAISS/Chroma) – For RAG-based nutritional data retrieval</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endParaRPr lang="en-US"/>
          </a:p>
          <a:p>
            <a:r>
              <a:rPr lang="en-US" b="1"/>
              <a:t>1) Chat Input </a:t>
            </a:r>
            <a:r>
              <a:rPr lang="en-US"/>
              <a:t>– Interface where users enter their queries, preferences, or meal details (text/voice/image).</a:t>
            </a:r>
          </a:p>
          <a:p>
            <a:endParaRPr lang="en-US"/>
          </a:p>
          <a:p>
            <a:r>
              <a:rPr lang="en-US" b="1"/>
              <a:t>2) IBM </a:t>
            </a:r>
            <a:r>
              <a:rPr lang="en-US" b="1" err="1"/>
              <a:t>watsonx</a:t>
            </a:r>
            <a:r>
              <a:rPr lang="en-US" b="1"/>
              <a:t> AI Agent </a:t>
            </a:r>
            <a:r>
              <a:rPr lang="en-US"/>
              <a:t>- Processes user input using Granite models to generate personalized nutrition insights and recommendations. </a:t>
            </a:r>
          </a:p>
          <a:p>
            <a:endParaRPr lang="en-US"/>
          </a:p>
          <a:p>
            <a:r>
              <a:rPr lang="en-US" b="1"/>
              <a:t>3) Name of IBM Granite model - </a:t>
            </a:r>
            <a:r>
              <a:rPr lang="en-US"/>
              <a:t>Granite-4.0-8B-Instruct → Fast, efficient for real-time diet recommendations</a:t>
            </a:r>
          </a:p>
          <a:p>
            <a:endParaRPr lang="en-US"/>
          </a:p>
          <a:p>
            <a:r>
              <a:rPr lang="en-US" b="1"/>
              <a:t>4) Chat output -</a:t>
            </a:r>
            <a:r>
              <a:rPr lang="en-US"/>
              <a:t>Displays AI-generated responses such as diet plans, nutritional analysis, and health suggestions. </a:t>
            </a:r>
          </a:p>
          <a:p>
            <a:endParaRPr lang="en-US"/>
          </a:p>
          <a:p>
            <a:r>
              <a:rPr lang="en-US" b="1"/>
              <a:t>5) </a:t>
            </a:r>
            <a:r>
              <a:rPr lang="en-US" b="1">
                <a:highlight>
                  <a:srgbClr val="FFFF00"/>
                </a:highlight>
              </a:rPr>
              <a:t>File component - </a:t>
            </a:r>
            <a:r>
              <a:rPr lang="en-US">
                <a:highlight>
                  <a:srgbClr val="FFFF00"/>
                </a:highlight>
              </a:rPr>
              <a:t>Stores and retrieves user data, meal logs, and nutritional datasets for analysis and tracking.</a:t>
            </a:r>
          </a:p>
          <a:p>
            <a:endParaRPr lang="en-US"/>
          </a:p>
          <a:p>
            <a:endParaRPr lang="en-US"/>
          </a:p>
          <a:p>
            <a:r>
              <a:rPr lang="en-US"/>
              <a:t>6) </a:t>
            </a:r>
            <a:r>
              <a:rPr lang="en-US">
                <a:highlight>
                  <a:srgbClr val="FFFF00"/>
                </a:highlight>
              </a:rPr>
              <a:t>Add name of any other component used.</a:t>
            </a:r>
          </a:p>
          <a:p>
            <a:pPr marL="342900" indent="-342900">
              <a:buAutoNum type="arabicParenR" startAt="3"/>
            </a:pPr>
            <a:endParaRPr lang="en-US"/>
          </a:p>
          <a:p>
            <a:endParaRPr lang="en-US"/>
          </a:p>
          <a:p>
            <a:endParaRPr lang="en-US"/>
          </a:p>
          <a:p>
            <a:endParaRPr lang="en-US"/>
          </a:p>
          <a:p>
            <a:endParaRPr lang="en-US"/>
          </a:p>
          <a:p>
            <a:endParaRPr lang="en-US"/>
          </a:p>
          <a:p>
            <a:endParaRPr lang="en-US"/>
          </a:p>
          <a:p>
            <a:r>
              <a:rPr lang="en-US"/>
              <a:t> </a:t>
            </a:r>
            <a:endParaRPr lang="en-IN"/>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4" name="Picture 3" descr="A screenshot of a computer&#10;&#10;AI-generated content may be incorrect.">
            <a:extLst>
              <a:ext uri="{FF2B5EF4-FFF2-40B4-BE49-F238E27FC236}">
                <a16:creationId xmlns:a16="http://schemas.microsoft.com/office/drawing/2014/main" id="{C597681A-DF93-B190-DD21-CBAEDA4E3CBF}"/>
              </a:ext>
            </a:extLst>
          </p:cNvPr>
          <p:cNvPicPr>
            <a:picLocks noChangeAspect="1"/>
          </p:cNvPicPr>
          <p:nvPr/>
        </p:nvPicPr>
        <p:blipFill>
          <a:blip r:embed="rId3"/>
          <a:stretch>
            <a:fillRect/>
          </a:stretch>
        </p:blipFill>
        <p:spPr>
          <a:xfrm>
            <a:off x="535570" y="1139263"/>
            <a:ext cx="11468100" cy="550545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3" name="Picture 2">
            <a:extLst>
              <a:ext uri="{FF2B5EF4-FFF2-40B4-BE49-F238E27FC236}">
                <a16:creationId xmlns:a16="http://schemas.microsoft.com/office/drawing/2014/main" id="{81932CE2-F219-0CA8-0102-55B8C682B8A2}"/>
              </a:ext>
            </a:extLst>
          </p:cNvPr>
          <p:cNvPicPr>
            <a:picLocks noChangeAspect="1"/>
          </p:cNvPicPr>
          <p:nvPr/>
        </p:nvPicPr>
        <p:blipFill>
          <a:blip r:embed="rId3"/>
          <a:stretch>
            <a:fillRect/>
          </a:stretch>
        </p:blipFill>
        <p:spPr>
          <a:xfrm>
            <a:off x="535570" y="675732"/>
            <a:ext cx="11468100" cy="61817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a:t>Role of Agentic AI in Nutrition Agent</a:t>
            </a:r>
          </a:p>
          <a:p>
            <a:r>
              <a:rPr lang="en-US" b="1"/>
              <a:t>Agentic AI</a:t>
            </a:r>
            <a:r>
              <a:rPr lang="en-US"/>
              <a:t> enables the Nutrition Agent to function as an intelligent, autonomous system rather than a simple chatbot. Using </a:t>
            </a:r>
            <a:r>
              <a:rPr lang="en-US" b="1"/>
              <a:t>IBM watsonx.ai</a:t>
            </a:r>
            <a:r>
              <a:rPr lang="en-US"/>
              <a:t> and </a:t>
            </a:r>
            <a:r>
              <a:rPr lang="en-US" b="1"/>
              <a:t>IBM Granite models</a:t>
            </a:r>
            <a:r>
              <a:rPr lang="en-US"/>
              <a:t>, it coordinates multiple specialized agents to deliver personalized nutrition guidance.</a:t>
            </a:r>
          </a:p>
          <a:p>
            <a:r>
              <a:rPr lang="en-US"/>
              <a:t>Each agent performs a specific role—such as retrieving nutritional data, generating diet plans, providing health advice, and analyzing food logs—while working collaboratively. This </a:t>
            </a:r>
            <a:r>
              <a:rPr lang="en-US" b="1"/>
              <a:t>multi-agent approach</a:t>
            </a:r>
            <a:r>
              <a:rPr lang="en-US"/>
              <a:t> ensures efficient task execution and accurate results.</a:t>
            </a:r>
          </a:p>
          <a:p>
            <a:r>
              <a:rPr lang="en-US"/>
              <a:t>Agentic AI also brings </a:t>
            </a:r>
            <a:r>
              <a:rPr lang="en-US" b="1"/>
              <a:t>context awareness</a:t>
            </a:r>
            <a:r>
              <a:rPr lang="en-US"/>
              <a:t>, understanding user details like age, health conditions, and fitness goals to generate tailored recommendations. It supports </a:t>
            </a:r>
            <a:r>
              <a:rPr lang="en-US" b="1"/>
              <a:t>real-time adaptation</a:t>
            </a:r>
            <a:r>
              <a:rPr lang="en-US"/>
              <a:t>, continuously updating suggestions based on user inputs like daily meals.</a:t>
            </a:r>
          </a:p>
          <a:p>
            <a:r>
              <a:rPr lang="en-US"/>
              <a:t>Additionally, agents communicate with each other, enabling better decision-making and improved outcomes.</a:t>
            </a:r>
          </a:p>
          <a:p>
            <a:r>
              <a:rPr lang="en-US"/>
              <a:t>Overall, Agentic AI makes the system proactive, personalized, and goal-driven, acting like a </a:t>
            </a:r>
            <a:r>
              <a:rPr lang="en-US" b="1"/>
              <a:t>smart digital nutritionist</a:t>
            </a:r>
            <a:r>
              <a:rPr lang="en-US"/>
              <a:t> that helps users maintain a healthy lifestyle.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The proposed Nutrition Agent stands out by combining </a:t>
            </a:r>
            <a:r>
              <a:rPr lang="en-IN" sz="1800" b="1"/>
              <a:t>Agentic AI, RAG, and personalization</a:t>
            </a:r>
            <a:r>
              <a:rPr lang="en-IN" sz="1800"/>
              <a:t> into a single intelligent system.</a:t>
            </a:r>
          </a:p>
          <a:p>
            <a:endParaRPr lang="en-IN" sz="1800"/>
          </a:p>
          <a:p>
            <a:r>
              <a:rPr lang="en-IN" sz="1800" b="1"/>
              <a:t>Multi-Agent Intelligence</a:t>
            </a:r>
            <a:r>
              <a:rPr lang="en-IN" sz="1800"/>
              <a:t> – Instead of a single chatbot, multiple specialized agents collaborate to deliver accurate and context-aware nutrition guidance. </a:t>
            </a:r>
          </a:p>
          <a:p>
            <a:r>
              <a:rPr lang="en-IN" sz="1800" b="1"/>
              <a:t>RAG-Based Accuracy</a:t>
            </a:r>
            <a:r>
              <a:rPr lang="en-IN" sz="1800"/>
              <a:t> – Integrates real-time data retrieval with AI generation, reducing misinformation and ensuring trustworthy recommendations. </a:t>
            </a:r>
          </a:p>
          <a:p>
            <a:r>
              <a:rPr lang="en-IN" sz="1800" b="1"/>
              <a:t>Hyper-Personalization</a:t>
            </a:r>
            <a:r>
              <a:rPr lang="en-IN" sz="1800"/>
              <a:t> – Tailors diet plans based on health conditions, cultural preferences, and fitness goals. </a:t>
            </a:r>
          </a:p>
          <a:p>
            <a:r>
              <a:rPr lang="en-IN" sz="1800" b="1"/>
              <a:t>Real-Time Feedback Loop</a:t>
            </a:r>
            <a:r>
              <a:rPr lang="en-IN" sz="1800"/>
              <a:t> – Continuously adapts recommendations based on daily food logs and user </a:t>
            </a:r>
            <a:r>
              <a:rPr lang="en-IN" sz="1800" err="1"/>
              <a:t>behavior</a:t>
            </a:r>
            <a:r>
              <a:rPr lang="en-IN" sz="1800"/>
              <a:t>. </a:t>
            </a:r>
          </a:p>
          <a:p>
            <a:r>
              <a:rPr lang="en-IN" sz="1800" b="1"/>
              <a:t>Multi-Modal Input</a:t>
            </a:r>
            <a:r>
              <a:rPr lang="en-IN" sz="1800"/>
              <a:t> – Supports text, voice, and image-based meal tracking for better usability. </a:t>
            </a:r>
          </a:p>
          <a:p>
            <a:r>
              <a:rPr lang="en-IN" sz="1800" b="1"/>
              <a:t>Preventive Healthcare Focus</a:t>
            </a:r>
            <a:r>
              <a:rPr lang="en-IN" sz="1800"/>
              <a:t> – Goes beyond diet planning to provide disease-specific nutrition advice. </a:t>
            </a:r>
          </a:p>
          <a:p>
            <a:r>
              <a:rPr lang="en-IN" sz="1800" b="1"/>
              <a:t>Scalable &amp; Enterprise-Ready</a:t>
            </a:r>
            <a:r>
              <a:rPr lang="en-IN" sz="1800"/>
              <a:t> – Built on </a:t>
            </a:r>
            <a:r>
              <a:rPr lang="en-IN" sz="1800" b="1"/>
              <a:t>IBM watsonx.ai</a:t>
            </a:r>
            <a:r>
              <a:rPr lang="en-IN" sz="1800"/>
              <a:t> with </a:t>
            </a:r>
            <a:r>
              <a:rPr lang="en-IN" sz="1800" b="1"/>
              <a:t>IBM Granite models</a:t>
            </a:r>
            <a:r>
              <a:rPr lang="en-IN" sz="1800"/>
              <a:t>, ensuring reliability and governance. </a:t>
            </a:r>
          </a:p>
          <a:p>
            <a:endParaRPr lang="en-IN" sz="1800"/>
          </a:p>
          <a:p>
            <a:r>
              <a:rPr lang="en-IN" sz="1800"/>
              <a:t>This makes the solution a </a:t>
            </a:r>
            <a:r>
              <a:rPr lang="en-IN" sz="1800" b="1"/>
              <a:t>smart, adaptive, and proactive digital nutritionist</a:t>
            </a:r>
            <a:r>
              <a:rPr lang="en-IN" sz="1800"/>
              <a:t>, not just a static diet recommendation tool.</a:t>
            </a:r>
            <a:endParaRPr lang="en-US"/>
          </a:p>
          <a:p>
            <a:endParaRPr lang="en-IN"/>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 Please create public </a:t>
            </a:r>
            <a:r>
              <a:rPr lang="en-US" sz="1850" b="0" i="0" u="none" strike="noStrike" cap="none" err="1">
                <a:solidFill>
                  <a:srgbClr val="2B3541"/>
                </a:solidFill>
                <a:latin typeface="Times New Roman"/>
                <a:ea typeface="Times New Roman"/>
                <a:cs typeface="Times New Roman"/>
                <a:sym typeface="Times New Roman"/>
              </a:rPr>
              <a:t>github</a:t>
            </a:r>
            <a:r>
              <a:rPr lang="en-US" sz="1850" b="0" i="0" u="none" strike="noStrike" cap="none">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a:solidFill>
                  <a:srgbClr val="2B3541"/>
                </a:solidFill>
                <a:latin typeface="Times New Roman"/>
                <a:ea typeface="Times New Roman"/>
                <a:cs typeface="Times New Roman"/>
                <a:sym typeface="Times New Roman"/>
              </a:rPr>
              <a:t>Please test and Paste the working  </a:t>
            </a:r>
            <a:r>
              <a:rPr lang="en-US" sz="1850" err="1">
                <a:solidFill>
                  <a:srgbClr val="2B3541"/>
                </a:solidFill>
                <a:latin typeface="Times New Roman"/>
                <a:ea typeface="Times New Roman"/>
                <a:cs typeface="Times New Roman"/>
                <a:sym typeface="Times New Roman"/>
              </a:rPr>
              <a:t>Github</a:t>
            </a:r>
            <a:r>
              <a:rPr lang="en-US" sz="185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a:solidFill>
                  <a:srgbClr val="2B3541"/>
                </a:solidFill>
                <a:latin typeface="Times New Roman"/>
                <a:ea typeface="Times New Roman"/>
                <a:cs typeface="Times New Roman"/>
                <a:sym typeface="Times New Roman"/>
              </a:rPr>
              <a:t>Make sure you have Uploaded following three files into your </a:t>
            </a:r>
            <a:r>
              <a:rPr lang="en-US" sz="1850" b="1" err="1">
                <a:solidFill>
                  <a:srgbClr val="2B3541"/>
                </a:solidFill>
                <a:latin typeface="Times New Roman"/>
                <a:ea typeface="Times New Roman"/>
                <a:cs typeface="Times New Roman"/>
                <a:sym typeface="Times New Roman"/>
              </a:rPr>
              <a:t>github</a:t>
            </a:r>
            <a:r>
              <a:rPr lang="en-US" sz="1850" b="1">
                <a:solidFill>
                  <a:srgbClr val="2B3541"/>
                </a:solidFill>
                <a:latin typeface="Times New Roman"/>
                <a:ea typeface="Times New Roman"/>
                <a:cs typeface="Times New Roman"/>
                <a:sym typeface="Times New Roman"/>
              </a:rPr>
              <a:t> repository  </a:t>
            </a:r>
            <a:br>
              <a:rPr lang="en-US" sz="1850">
                <a:solidFill>
                  <a:srgbClr val="2B3541"/>
                </a:solidFill>
                <a:latin typeface="Times New Roman"/>
                <a:ea typeface="Times New Roman"/>
                <a:cs typeface="Times New Roman"/>
                <a:sym typeface="Times New Roman"/>
              </a:rPr>
            </a:br>
            <a:r>
              <a:rPr lang="en-US" sz="1850">
                <a:solidFill>
                  <a:srgbClr val="2B3541"/>
                </a:solidFill>
                <a:latin typeface="Times New Roman"/>
                <a:ea typeface="Times New Roman"/>
                <a:cs typeface="Times New Roman"/>
                <a:sym typeface="Times New Roman"/>
              </a:rPr>
              <a:t>1) </a:t>
            </a:r>
            <a:r>
              <a:rPr lang="en-US" sz="1850" err="1">
                <a:solidFill>
                  <a:srgbClr val="2B3541"/>
                </a:solidFill>
                <a:latin typeface="Times New Roman"/>
                <a:ea typeface="Times New Roman"/>
                <a:cs typeface="Times New Roman"/>
                <a:sym typeface="Times New Roman"/>
              </a:rPr>
              <a:t>app.json</a:t>
            </a:r>
            <a:r>
              <a:rPr lang="en-US" sz="1850">
                <a:solidFill>
                  <a:srgbClr val="2B3541"/>
                </a:solidFill>
                <a:latin typeface="Times New Roman"/>
                <a:ea typeface="Times New Roman"/>
                <a:cs typeface="Times New Roman"/>
                <a:sym typeface="Times New Roman"/>
              </a:rPr>
              <a:t> file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AD88C341-1F2F-9B6F-593F-2917E7E23DCB}"/>
              </a:ext>
            </a:extLst>
          </p:cNvPr>
          <p:cNvPicPr>
            <a:picLocks noChangeAspect="1"/>
          </p:cNvPicPr>
          <p:nvPr/>
        </p:nvPicPr>
        <p:blipFill>
          <a:blip r:embed="rId2"/>
          <a:stretch>
            <a:fillRect/>
          </a:stretch>
        </p:blipFill>
        <p:spPr>
          <a:xfrm>
            <a:off x="1140862" y="1485577"/>
            <a:ext cx="6911761" cy="4520796"/>
          </a:xfrm>
          <a:prstGeom prst="rect">
            <a:avLst/>
          </a:prstGeom>
        </p:spPr>
      </p:pic>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ertificate with red text&#10;&#10;AI-generated content may be incorrect.">
            <a:extLst>
              <a:ext uri="{FF2B5EF4-FFF2-40B4-BE49-F238E27FC236}">
                <a16:creationId xmlns:a16="http://schemas.microsoft.com/office/drawing/2014/main" id="{099C3698-991D-7A38-C456-893C84C23FC9}"/>
              </a:ext>
            </a:extLst>
          </p:cNvPr>
          <p:cNvPicPr>
            <a:picLocks noChangeAspect="1"/>
          </p:cNvPicPr>
          <p:nvPr/>
        </p:nvPicPr>
        <p:blipFill>
          <a:blip r:embed="rId2"/>
          <a:srcRect r="177" b="-275"/>
          <a:stretch>
            <a:fillRect/>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16</Slides>
  <Notes>13</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revision>5</cp:revision>
  <dcterms:created xsi:type="dcterms:W3CDTF">2025-07-08T05:06:56Z</dcterms:created>
  <dcterms:modified xsi:type="dcterms:W3CDTF">2026-07-01T16:57:53Z</dcterms:modified>
</cp:coreProperties>
</file>