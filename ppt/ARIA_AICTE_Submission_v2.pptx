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73" r:id="rId10"/>
    <p:sldId id="264" r:id="rId11"/>
    <p:sldId id="265" r:id="rId12"/>
    <p:sldId id="274" r:id="rId13"/>
    <p:sldId id="266" r:id="rId14"/>
    <p:sldId id="267" r:id="rId15"/>
    <p:sldId id="268" r:id="rId16"/>
    <p:sldId id="269" r:id="rId17"/>
    <p:sldId id="270" r:id="rId18"/>
    <p:sldId id="271" r:id="rId19"/>
    <p:sldId id="272"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54583D-3B6D-423E-80BC-DA38E6026921}" v="4" dt="2026-07-12T11:55:45.4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vesh N" userId="9b850a0e94bff26d" providerId="LiveId" clId="{7AF7B92A-7ADA-4AFA-825B-5236120253BA}"/>
    <pc:docChg chg="undo custSel addSld modSld">
      <pc:chgData name="Bhavesh N" userId="9b850a0e94bff26d" providerId="LiveId" clId="{7AF7B92A-7ADA-4AFA-825B-5236120253BA}" dt="2026-07-12T11:58:07.747" v="277" actId="207"/>
      <pc:docMkLst>
        <pc:docMk/>
      </pc:docMkLst>
      <pc:sldChg chg="modSp mod">
        <pc:chgData name="Bhavesh N" userId="9b850a0e94bff26d" providerId="LiveId" clId="{7AF7B92A-7ADA-4AFA-825B-5236120253BA}" dt="2026-07-12T11:58:07.747" v="277" actId="207"/>
        <pc:sldMkLst>
          <pc:docMk/>
          <pc:sldMk cId="0" sldId="256"/>
        </pc:sldMkLst>
        <pc:spChg chg="mod">
          <ac:chgData name="Bhavesh N" userId="9b850a0e94bff26d" providerId="LiveId" clId="{7AF7B92A-7ADA-4AFA-825B-5236120253BA}" dt="2026-07-12T11:57:55.203" v="276" actId="207"/>
          <ac:spMkLst>
            <pc:docMk/>
            <pc:sldMk cId="0" sldId="256"/>
            <ac:spMk id="8" creationId="{00000000-0000-0000-0000-000000000000}"/>
          </ac:spMkLst>
        </pc:spChg>
        <pc:spChg chg="mod">
          <ac:chgData name="Bhavesh N" userId="9b850a0e94bff26d" providerId="LiveId" clId="{7AF7B92A-7ADA-4AFA-825B-5236120253BA}" dt="2026-07-12T11:58:07.747" v="277" actId="207"/>
          <ac:spMkLst>
            <pc:docMk/>
            <pc:sldMk cId="0" sldId="256"/>
            <ac:spMk id="14" creationId="{00000000-0000-0000-0000-000000000000}"/>
          </ac:spMkLst>
        </pc:spChg>
      </pc:sldChg>
      <pc:sldChg chg="addSp modSp mod">
        <pc:chgData name="Bhavesh N" userId="9b850a0e94bff26d" providerId="LiveId" clId="{7AF7B92A-7ADA-4AFA-825B-5236120253BA}" dt="2026-07-12T11:21:55.444" v="136" actId="2711"/>
        <pc:sldMkLst>
          <pc:docMk/>
          <pc:sldMk cId="0" sldId="257"/>
        </pc:sldMkLst>
        <pc:graphicFrameChg chg="mod modGraphic">
          <ac:chgData name="Bhavesh N" userId="9b850a0e94bff26d" providerId="LiveId" clId="{7AF7B92A-7ADA-4AFA-825B-5236120253BA}" dt="2026-07-12T11:21:55.444" v="136" actId="2711"/>
          <ac:graphicFrameMkLst>
            <pc:docMk/>
            <pc:sldMk cId="0" sldId="257"/>
            <ac:graphicFrameMk id="12" creationId="{00000000-0000-0000-0000-000000000000}"/>
          </ac:graphicFrameMkLst>
        </pc:graphicFrameChg>
        <pc:picChg chg="add mod">
          <ac:chgData name="Bhavesh N" userId="9b850a0e94bff26d" providerId="LiveId" clId="{7AF7B92A-7ADA-4AFA-825B-5236120253BA}" dt="2026-07-12T11:20:24.087" v="57" actId="14100"/>
          <ac:picMkLst>
            <pc:docMk/>
            <pc:sldMk cId="0" sldId="257"/>
            <ac:picMk id="15" creationId="{97064545-B954-FE9B-24AE-D5928F250304}"/>
          </ac:picMkLst>
        </pc:picChg>
      </pc:sldChg>
      <pc:sldChg chg="addSp delSp modSp mod">
        <pc:chgData name="Bhavesh N" userId="9b850a0e94bff26d" providerId="LiveId" clId="{7AF7B92A-7ADA-4AFA-825B-5236120253BA}" dt="2026-07-12T11:51:01.591" v="233" actId="1076"/>
        <pc:sldMkLst>
          <pc:docMk/>
          <pc:sldMk cId="0" sldId="263"/>
        </pc:sldMkLst>
        <pc:spChg chg="mod">
          <ac:chgData name="Bhavesh N" userId="9b850a0e94bff26d" providerId="LiveId" clId="{7AF7B92A-7ADA-4AFA-825B-5236120253BA}" dt="2026-07-12T11:25:07.760" v="147" actId="1076"/>
          <ac:spMkLst>
            <pc:docMk/>
            <pc:sldMk cId="0" sldId="263"/>
            <ac:spMk id="4" creationId="{00000000-0000-0000-0000-000000000000}"/>
          </ac:spMkLst>
        </pc:spChg>
        <pc:spChg chg="del">
          <ac:chgData name="Bhavesh N" userId="9b850a0e94bff26d" providerId="LiveId" clId="{7AF7B92A-7ADA-4AFA-825B-5236120253BA}" dt="2026-07-12T11:32:03.184" v="189" actId="478"/>
          <ac:spMkLst>
            <pc:docMk/>
            <pc:sldMk cId="0" sldId="263"/>
            <ac:spMk id="9" creationId="{00000000-0000-0000-0000-000000000000}"/>
          </ac:spMkLst>
        </pc:spChg>
        <pc:spChg chg="del">
          <ac:chgData name="Bhavesh N" userId="9b850a0e94bff26d" providerId="LiveId" clId="{7AF7B92A-7ADA-4AFA-825B-5236120253BA}" dt="2026-07-12T11:50:15" v="218" actId="478"/>
          <ac:spMkLst>
            <pc:docMk/>
            <pc:sldMk cId="0" sldId="263"/>
            <ac:spMk id="10" creationId="{00000000-0000-0000-0000-000000000000}"/>
          </ac:spMkLst>
        </pc:spChg>
        <pc:spChg chg="del">
          <ac:chgData name="Bhavesh N" userId="9b850a0e94bff26d" providerId="LiveId" clId="{7AF7B92A-7ADA-4AFA-825B-5236120253BA}" dt="2026-07-12T11:32:25.262" v="198" actId="478"/>
          <ac:spMkLst>
            <pc:docMk/>
            <pc:sldMk cId="0" sldId="263"/>
            <ac:spMk id="11" creationId="{00000000-0000-0000-0000-000000000000}"/>
          </ac:spMkLst>
        </pc:spChg>
        <pc:spChg chg="del">
          <ac:chgData name="Bhavesh N" userId="9b850a0e94bff26d" providerId="LiveId" clId="{7AF7B92A-7ADA-4AFA-825B-5236120253BA}" dt="2026-07-12T11:23:01.596" v="137" actId="478"/>
          <ac:spMkLst>
            <pc:docMk/>
            <pc:sldMk cId="0" sldId="263"/>
            <ac:spMk id="13" creationId="{00000000-0000-0000-0000-000000000000}"/>
          </ac:spMkLst>
        </pc:spChg>
        <pc:spChg chg="del">
          <ac:chgData name="Bhavesh N" userId="9b850a0e94bff26d" providerId="LiveId" clId="{7AF7B92A-7ADA-4AFA-825B-5236120253BA}" dt="2026-07-12T11:50:40.516" v="221" actId="478"/>
          <ac:spMkLst>
            <pc:docMk/>
            <pc:sldMk cId="0" sldId="263"/>
            <ac:spMk id="14" creationId="{00000000-0000-0000-0000-000000000000}"/>
          </ac:spMkLst>
        </pc:spChg>
        <pc:spChg chg="del">
          <ac:chgData name="Bhavesh N" userId="9b850a0e94bff26d" providerId="LiveId" clId="{7AF7B92A-7ADA-4AFA-825B-5236120253BA}" dt="2026-07-12T11:50:36.895" v="220" actId="478"/>
          <ac:spMkLst>
            <pc:docMk/>
            <pc:sldMk cId="0" sldId="263"/>
            <ac:spMk id="15" creationId="{00000000-0000-0000-0000-000000000000}"/>
          </ac:spMkLst>
        </pc:spChg>
        <pc:picChg chg="add del mod">
          <ac:chgData name="Bhavesh N" userId="9b850a0e94bff26d" providerId="LiveId" clId="{7AF7B92A-7ADA-4AFA-825B-5236120253BA}" dt="2026-07-12T11:23:04.490" v="140" actId="478"/>
          <ac:picMkLst>
            <pc:docMk/>
            <pc:sldMk cId="0" sldId="263"/>
            <ac:picMk id="17" creationId="{1113EA71-A090-B380-65F4-261311DDA5DC}"/>
          </ac:picMkLst>
        </pc:picChg>
        <pc:picChg chg="add mod">
          <ac:chgData name="Bhavesh N" userId="9b850a0e94bff26d" providerId="LiveId" clId="{7AF7B92A-7ADA-4AFA-825B-5236120253BA}" dt="2026-07-12T11:32:17.308" v="196" actId="1076"/>
          <ac:picMkLst>
            <pc:docMk/>
            <pc:sldMk cId="0" sldId="263"/>
            <ac:picMk id="19" creationId="{785A904E-94B4-DC84-4BDA-FC5347913DE6}"/>
          </ac:picMkLst>
        </pc:picChg>
        <pc:picChg chg="add mod">
          <ac:chgData name="Bhavesh N" userId="9b850a0e94bff26d" providerId="LiveId" clId="{7AF7B92A-7ADA-4AFA-825B-5236120253BA}" dt="2026-07-12T11:36:53.018" v="210" actId="14100"/>
          <ac:picMkLst>
            <pc:docMk/>
            <pc:sldMk cId="0" sldId="263"/>
            <ac:picMk id="21" creationId="{450986B8-C7E3-111F-9034-1F708B921EC6}"/>
          </ac:picMkLst>
        </pc:picChg>
        <pc:picChg chg="add del mod">
          <ac:chgData name="Bhavesh N" userId="9b850a0e94bff26d" providerId="LiveId" clId="{7AF7B92A-7ADA-4AFA-825B-5236120253BA}" dt="2026-07-12T11:32:40.301" v="202" actId="478"/>
          <ac:picMkLst>
            <pc:docMk/>
            <pc:sldMk cId="0" sldId="263"/>
            <ac:picMk id="23" creationId="{88EA5649-8A45-7E04-DF89-8F5F79D30BBF}"/>
          </ac:picMkLst>
        </pc:picChg>
        <pc:picChg chg="add mod">
          <ac:chgData name="Bhavesh N" userId="9b850a0e94bff26d" providerId="LiveId" clId="{7AF7B92A-7ADA-4AFA-825B-5236120253BA}" dt="2026-07-12T11:50:55.460" v="230" actId="1076"/>
          <ac:picMkLst>
            <pc:docMk/>
            <pc:sldMk cId="0" sldId="263"/>
            <ac:picMk id="25" creationId="{14937282-F1AC-25A1-C075-9D7FD4520B3D}"/>
          </ac:picMkLst>
        </pc:picChg>
        <pc:picChg chg="add mod">
          <ac:chgData name="Bhavesh N" userId="9b850a0e94bff26d" providerId="LiveId" clId="{7AF7B92A-7ADA-4AFA-825B-5236120253BA}" dt="2026-07-12T11:51:01.591" v="233" actId="1076"/>
          <ac:picMkLst>
            <pc:docMk/>
            <pc:sldMk cId="0" sldId="263"/>
            <ac:picMk id="27" creationId="{C217CDEA-0194-E9CF-9E43-3F040B2FAC65}"/>
          </ac:picMkLst>
        </pc:picChg>
      </pc:sldChg>
      <pc:sldChg chg="modSp mod">
        <pc:chgData name="Bhavesh N" userId="9b850a0e94bff26d" providerId="LiveId" clId="{7AF7B92A-7ADA-4AFA-825B-5236120253BA}" dt="2026-07-12T11:18:17.798" v="19" actId="1036"/>
        <pc:sldMkLst>
          <pc:docMk/>
          <pc:sldMk cId="0" sldId="268"/>
        </pc:sldMkLst>
        <pc:spChg chg="mod">
          <ac:chgData name="Bhavesh N" userId="9b850a0e94bff26d" providerId="LiveId" clId="{7AF7B92A-7ADA-4AFA-825B-5236120253BA}" dt="2026-07-12T11:18:17.798" v="19" actId="1036"/>
          <ac:spMkLst>
            <pc:docMk/>
            <pc:sldMk cId="0" sldId="268"/>
            <ac:spMk id="8" creationId="{00000000-0000-0000-0000-000000000000}"/>
          </ac:spMkLst>
        </pc:spChg>
        <pc:spChg chg="mod">
          <ac:chgData name="Bhavesh N" userId="9b850a0e94bff26d" providerId="LiveId" clId="{7AF7B92A-7ADA-4AFA-825B-5236120253BA}" dt="2026-07-12T11:18:02.985" v="13" actId="20577"/>
          <ac:spMkLst>
            <pc:docMk/>
            <pc:sldMk cId="0" sldId="268"/>
            <ac:spMk id="10" creationId="{00000000-0000-0000-0000-000000000000}"/>
          </ac:spMkLst>
        </pc:spChg>
      </pc:sldChg>
      <pc:sldChg chg="addSp delSp modSp mod">
        <pc:chgData name="Bhavesh N" userId="9b850a0e94bff26d" providerId="LiveId" clId="{7AF7B92A-7ADA-4AFA-825B-5236120253BA}" dt="2026-07-12T11:17:23.235" v="10" actId="1076"/>
        <pc:sldMkLst>
          <pc:docMk/>
          <pc:sldMk cId="0" sldId="270"/>
        </pc:sldMkLst>
        <pc:spChg chg="del mod">
          <ac:chgData name="Bhavesh N" userId="9b850a0e94bff26d" providerId="LiveId" clId="{7AF7B92A-7ADA-4AFA-825B-5236120253BA}" dt="2026-07-12T11:17:12.751" v="6" actId="478"/>
          <ac:spMkLst>
            <pc:docMk/>
            <pc:sldMk cId="0" sldId="270"/>
            <ac:spMk id="8" creationId="{00000000-0000-0000-0000-000000000000}"/>
          </ac:spMkLst>
        </pc:spChg>
        <pc:picChg chg="add mod">
          <ac:chgData name="Bhavesh N" userId="9b850a0e94bff26d" providerId="LiveId" clId="{7AF7B92A-7ADA-4AFA-825B-5236120253BA}" dt="2026-07-12T11:17:15.765" v="8" actId="1076"/>
          <ac:picMkLst>
            <pc:docMk/>
            <pc:sldMk cId="0" sldId="270"/>
            <ac:picMk id="10" creationId="{71DD0D5F-034C-CEDA-298E-653CE50E9121}"/>
          </ac:picMkLst>
        </pc:picChg>
        <pc:picChg chg="add mod">
          <ac:chgData name="Bhavesh N" userId="9b850a0e94bff26d" providerId="LiveId" clId="{7AF7B92A-7ADA-4AFA-825B-5236120253BA}" dt="2026-07-12T11:17:23.235" v="10" actId="1076"/>
          <ac:picMkLst>
            <pc:docMk/>
            <pc:sldMk cId="0" sldId="270"/>
            <ac:picMk id="12" creationId="{E40C4145-E8D3-9601-87AD-6C21EB53B97D}"/>
          </ac:picMkLst>
        </pc:picChg>
      </pc:sldChg>
      <pc:sldChg chg="addSp delSp modSp mod">
        <pc:chgData name="Bhavesh N" userId="9b850a0e94bff26d" providerId="LiveId" clId="{7AF7B92A-7ADA-4AFA-825B-5236120253BA}" dt="2026-07-12T11:16:59.795" v="2" actId="1076"/>
        <pc:sldMkLst>
          <pc:docMk/>
          <pc:sldMk cId="0" sldId="271"/>
        </pc:sldMkLst>
        <pc:spChg chg="del">
          <ac:chgData name="Bhavesh N" userId="9b850a0e94bff26d" providerId="LiveId" clId="{7AF7B92A-7ADA-4AFA-825B-5236120253BA}" dt="2026-07-12T11:16:55.423" v="0" actId="478"/>
          <ac:spMkLst>
            <pc:docMk/>
            <pc:sldMk cId="0" sldId="271"/>
            <ac:spMk id="8" creationId="{00000000-0000-0000-0000-000000000000}"/>
          </ac:spMkLst>
        </pc:spChg>
        <pc:picChg chg="add mod">
          <ac:chgData name="Bhavesh N" userId="9b850a0e94bff26d" providerId="LiveId" clId="{7AF7B92A-7ADA-4AFA-825B-5236120253BA}" dt="2026-07-12T11:16:59.795" v="2" actId="1076"/>
          <ac:picMkLst>
            <pc:docMk/>
            <pc:sldMk cId="0" sldId="271"/>
            <ac:picMk id="10" creationId="{071DA712-346D-8D17-1FAB-2A2F64BC4CD8}"/>
          </ac:picMkLst>
        </pc:picChg>
      </pc:sldChg>
      <pc:sldChg chg="modSp mod">
        <pc:chgData name="Bhavesh N" userId="9b850a0e94bff26d" providerId="LiveId" clId="{7AF7B92A-7ADA-4AFA-825B-5236120253BA}" dt="2026-07-12T11:56:05.563" v="275" actId="20577"/>
        <pc:sldMkLst>
          <pc:docMk/>
          <pc:sldMk cId="0" sldId="272"/>
        </pc:sldMkLst>
        <pc:spChg chg="mod">
          <ac:chgData name="Bhavesh N" userId="9b850a0e94bff26d" providerId="LiveId" clId="{7AF7B92A-7ADA-4AFA-825B-5236120253BA}" dt="2026-07-12T11:56:05.563" v="275" actId="20577"/>
          <ac:spMkLst>
            <pc:docMk/>
            <pc:sldMk cId="0" sldId="272"/>
            <ac:spMk id="13" creationId="{00000000-0000-0000-0000-000000000000}"/>
          </ac:spMkLst>
        </pc:spChg>
        <pc:spChg chg="mod">
          <ac:chgData name="Bhavesh N" userId="9b850a0e94bff26d" providerId="LiveId" clId="{7AF7B92A-7ADA-4AFA-825B-5236120253BA}" dt="2026-07-12T11:55:54.088" v="253" actId="207"/>
          <ac:spMkLst>
            <pc:docMk/>
            <pc:sldMk cId="0" sldId="272"/>
            <ac:spMk id="14" creationId="{00000000-0000-0000-0000-000000000000}"/>
          </ac:spMkLst>
        </pc:spChg>
      </pc:sldChg>
      <pc:sldChg chg="addSp delSp modSp new mod">
        <pc:chgData name="Bhavesh N" userId="9b850a0e94bff26d" providerId="LiveId" clId="{7AF7B92A-7ADA-4AFA-825B-5236120253BA}" dt="2026-07-12T11:53:36.314" v="248" actId="1076"/>
        <pc:sldMkLst>
          <pc:docMk/>
          <pc:sldMk cId="3403365640" sldId="273"/>
        </pc:sldMkLst>
        <pc:spChg chg="add">
          <ac:chgData name="Bhavesh N" userId="9b850a0e94bff26d" providerId="LiveId" clId="{7AF7B92A-7ADA-4AFA-825B-5236120253BA}" dt="2026-07-12T11:25:13.223" v="148" actId="22"/>
          <ac:spMkLst>
            <pc:docMk/>
            <pc:sldMk cId="3403365640" sldId="273"/>
            <ac:spMk id="3" creationId="{3588492D-0837-E3C1-8620-DAA5F3F4B487}"/>
          </ac:spMkLst>
        </pc:spChg>
        <pc:spChg chg="add del">
          <ac:chgData name="Bhavesh N" userId="9b850a0e94bff26d" providerId="LiveId" clId="{7AF7B92A-7ADA-4AFA-825B-5236120253BA}" dt="2026-07-12T11:25:31.207" v="150" actId="22"/>
          <ac:spMkLst>
            <pc:docMk/>
            <pc:sldMk cId="3403365640" sldId="273"/>
            <ac:spMk id="5" creationId="{134A9FB2-082D-E5E5-5EF9-4F289F962617}"/>
          </ac:spMkLst>
        </pc:spChg>
        <pc:picChg chg="add mod">
          <ac:chgData name="Bhavesh N" userId="9b850a0e94bff26d" providerId="LiveId" clId="{7AF7B92A-7ADA-4AFA-825B-5236120253BA}" dt="2026-07-12T11:53:28.725" v="245" actId="14100"/>
          <ac:picMkLst>
            <pc:docMk/>
            <pc:sldMk cId="3403365640" sldId="273"/>
            <ac:picMk id="7" creationId="{79768EA8-6BE8-1CED-11CD-F2C49C034114}"/>
          </ac:picMkLst>
        </pc:picChg>
        <pc:picChg chg="add mod">
          <ac:chgData name="Bhavesh N" userId="9b850a0e94bff26d" providerId="LiveId" clId="{7AF7B92A-7ADA-4AFA-825B-5236120253BA}" dt="2026-07-12T11:53:36.314" v="248" actId="1076"/>
          <ac:picMkLst>
            <pc:docMk/>
            <pc:sldMk cId="3403365640" sldId="273"/>
            <ac:picMk id="9" creationId="{CE50CFD2-716A-F5B8-C47C-2D8BED74EA6A}"/>
          </ac:picMkLst>
        </pc:picChg>
      </pc:sldChg>
      <pc:sldChg chg="addSp delSp modSp new mod">
        <pc:chgData name="Bhavesh N" userId="9b850a0e94bff26d" providerId="LiveId" clId="{7AF7B92A-7ADA-4AFA-825B-5236120253BA}" dt="2026-07-12T11:31:37.143" v="188" actId="1076"/>
        <pc:sldMkLst>
          <pc:docMk/>
          <pc:sldMk cId="2213679635" sldId="274"/>
        </pc:sldMkLst>
        <pc:spChg chg="add mod">
          <ac:chgData name="Bhavesh N" userId="9b850a0e94bff26d" providerId="LiveId" clId="{7AF7B92A-7ADA-4AFA-825B-5236120253BA}" dt="2026-07-12T11:29:11.235" v="157"/>
          <ac:spMkLst>
            <pc:docMk/>
            <pc:sldMk cId="2213679635" sldId="274"/>
            <ac:spMk id="3" creationId="{051D07F1-07E6-6DF1-0F6F-DFE6758FF955}"/>
          </ac:spMkLst>
        </pc:spChg>
        <pc:spChg chg="add del">
          <ac:chgData name="Bhavesh N" userId="9b850a0e94bff26d" providerId="LiveId" clId="{7AF7B92A-7ADA-4AFA-825B-5236120253BA}" dt="2026-07-12T11:28:51.914" v="155" actId="478"/>
          <ac:spMkLst>
            <pc:docMk/>
            <pc:sldMk cId="2213679635" sldId="274"/>
            <ac:spMk id="5" creationId="{6833E9DD-90FE-B429-989F-96D2DE173BC1}"/>
          </ac:spMkLst>
        </pc:spChg>
        <pc:spChg chg="add del">
          <ac:chgData name="Bhavesh N" userId="9b850a0e94bff26d" providerId="LiveId" clId="{7AF7B92A-7ADA-4AFA-825B-5236120253BA}" dt="2026-07-12T11:29:20.675" v="159" actId="478"/>
          <ac:spMkLst>
            <pc:docMk/>
            <pc:sldMk cId="2213679635" sldId="274"/>
            <ac:spMk id="7" creationId="{E55D1DBA-84C7-E7D7-80DC-7E99B1015841}"/>
          </ac:spMkLst>
        </pc:spChg>
        <pc:spChg chg="add mod">
          <ac:chgData name="Bhavesh N" userId="9b850a0e94bff26d" providerId="LiveId" clId="{7AF7B92A-7ADA-4AFA-825B-5236120253BA}" dt="2026-07-12T11:29:30.919" v="161" actId="1076"/>
          <ac:spMkLst>
            <pc:docMk/>
            <pc:sldMk cId="2213679635" sldId="274"/>
            <ac:spMk id="9" creationId="{5292FB55-BBCE-B06E-667D-ECD379270D61}"/>
          </ac:spMkLst>
        </pc:spChg>
        <pc:spChg chg="add del">
          <ac:chgData name="Bhavesh N" userId="9b850a0e94bff26d" providerId="LiveId" clId="{7AF7B92A-7ADA-4AFA-825B-5236120253BA}" dt="2026-07-12T11:29:39.448" v="163" actId="22"/>
          <ac:spMkLst>
            <pc:docMk/>
            <pc:sldMk cId="2213679635" sldId="274"/>
            <ac:spMk id="11" creationId="{6F20D291-7552-0012-1B3C-1D696B3BC422}"/>
          </ac:spMkLst>
        </pc:spChg>
        <pc:spChg chg="add del">
          <ac:chgData name="Bhavesh N" userId="9b850a0e94bff26d" providerId="LiveId" clId="{7AF7B92A-7ADA-4AFA-825B-5236120253BA}" dt="2026-07-12T11:29:42.260" v="165" actId="22"/>
          <ac:spMkLst>
            <pc:docMk/>
            <pc:sldMk cId="2213679635" sldId="274"/>
            <ac:spMk id="13" creationId="{12FBB2DF-2543-0F04-5D5A-90B4FD642954}"/>
          </ac:spMkLst>
        </pc:spChg>
        <pc:spChg chg="add mod">
          <ac:chgData name="Bhavesh N" userId="9b850a0e94bff26d" providerId="LiveId" clId="{7AF7B92A-7ADA-4AFA-825B-5236120253BA}" dt="2026-07-12T11:29:52.388" v="167" actId="1076"/>
          <ac:spMkLst>
            <pc:docMk/>
            <pc:sldMk cId="2213679635" sldId="274"/>
            <ac:spMk id="15" creationId="{5C4449C6-20EF-C65E-0561-D4A1A1F9D186}"/>
          </ac:spMkLst>
        </pc:spChg>
        <pc:picChg chg="add mod">
          <ac:chgData name="Bhavesh N" userId="9b850a0e94bff26d" providerId="LiveId" clId="{7AF7B92A-7ADA-4AFA-825B-5236120253BA}" dt="2026-07-12T11:31:26.473" v="183" actId="1076"/>
          <ac:picMkLst>
            <pc:docMk/>
            <pc:sldMk cId="2213679635" sldId="274"/>
            <ac:picMk id="17" creationId="{34C97B5A-F018-36B2-4E58-C23D10F09255}"/>
          </ac:picMkLst>
        </pc:picChg>
        <pc:picChg chg="add mod">
          <ac:chgData name="Bhavesh N" userId="9b850a0e94bff26d" providerId="LiveId" clId="{7AF7B92A-7ADA-4AFA-825B-5236120253BA}" dt="2026-07-12T11:31:37.143" v="188" actId="1076"/>
          <ac:picMkLst>
            <pc:docMk/>
            <pc:sldMk cId="2213679635" sldId="274"/>
            <ac:picMk id="19" creationId="{04C3A9E7-BB68-B955-E907-D37006FE0BA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537960"/>
            <a:ext cx="12191695" cy="320040"/>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54480"/>
            <a:ext cx="10515600" cy="457200"/>
          </a:xfrm>
          <a:prstGeom prst="rect">
            <a:avLst/>
          </a:prstGeom>
          <a:noFill/>
        </p:spPr>
        <p:txBody>
          <a:bodyPr wrap="square" lIns="0" tIns="0" rIns="0" bIns="0" anchor="t">
            <a:spAutoFit/>
          </a:bodyPr>
          <a:lstStyle/>
          <a:p>
            <a:pPr algn="l">
              <a:lnSpc>
                <a:spcPct val="100000"/>
              </a:lnSpc>
            </a:pPr>
            <a:r>
              <a:rPr sz="1500" b="1" i="0">
                <a:solidFill>
                  <a:srgbClr val="7BA7FF"/>
                </a:solidFill>
                <a:latin typeface="Arial"/>
              </a:rPr>
              <a:t>IBM SKILLSBUILD × AICTE 2026</a:t>
            </a:r>
          </a:p>
        </p:txBody>
      </p:sp>
      <p:sp>
        <p:nvSpPr>
          <p:cNvPr id="5" name="TextBox 4"/>
          <p:cNvSpPr txBox="1"/>
          <p:nvPr/>
        </p:nvSpPr>
        <p:spPr>
          <a:xfrm>
            <a:off x="777240" y="1965960"/>
            <a:ext cx="10515600" cy="1280160"/>
          </a:xfrm>
          <a:prstGeom prst="rect">
            <a:avLst/>
          </a:prstGeom>
          <a:noFill/>
        </p:spPr>
        <p:txBody>
          <a:bodyPr wrap="square" lIns="0" tIns="0" rIns="0" bIns="0" anchor="t">
            <a:spAutoFit/>
          </a:bodyPr>
          <a:lstStyle/>
          <a:p>
            <a:pPr algn="l">
              <a:lnSpc>
                <a:spcPct val="100000"/>
              </a:lnSpc>
            </a:pPr>
            <a:r>
              <a:rPr sz="8000" b="1" i="0">
                <a:solidFill>
                  <a:srgbClr val="FFFFFF"/>
                </a:solidFill>
                <a:latin typeface="Arial"/>
              </a:rPr>
              <a:t>ARIA</a:t>
            </a:r>
          </a:p>
        </p:txBody>
      </p:sp>
      <p:sp>
        <p:nvSpPr>
          <p:cNvPr id="6" name="TextBox 5"/>
          <p:cNvSpPr txBox="1"/>
          <p:nvPr/>
        </p:nvSpPr>
        <p:spPr>
          <a:xfrm>
            <a:off x="822960" y="3246120"/>
            <a:ext cx="10515600" cy="548640"/>
          </a:xfrm>
          <a:prstGeom prst="rect">
            <a:avLst/>
          </a:prstGeom>
          <a:noFill/>
        </p:spPr>
        <p:txBody>
          <a:bodyPr wrap="square" lIns="0" tIns="0" rIns="0" bIns="0" anchor="t">
            <a:spAutoFit/>
          </a:bodyPr>
          <a:lstStyle/>
          <a:p>
            <a:pPr algn="l">
              <a:lnSpc>
                <a:spcPct val="100000"/>
              </a:lnSpc>
            </a:pPr>
            <a:r>
              <a:rPr sz="2600" b="0" i="0">
                <a:solidFill>
                  <a:srgbClr val="C9D6F2"/>
                </a:solidFill>
                <a:latin typeface="Arial"/>
              </a:rPr>
              <a:t>AI Readiness Interview Agent</a:t>
            </a:r>
          </a:p>
        </p:txBody>
      </p:sp>
      <p:sp>
        <p:nvSpPr>
          <p:cNvPr id="7" name="TextBox 6"/>
          <p:cNvSpPr txBox="1"/>
          <p:nvPr/>
        </p:nvSpPr>
        <p:spPr>
          <a:xfrm>
            <a:off x="822960" y="3794760"/>
            <a:ext cx="9601200" cy="457200"/>
          </a:xfrm>
          <a:prstGeom prst="rect">
            <a:avLst/>
          </a:prstGeom>
          <a:noFill/>
        </p:spPr>
        <p:txBody>
          <a:bodyPr wrap="square" lIns="0" tIns="0" rIns="0" bIns="0" anchor="t">
            <a:spAutoFit/>
          </a:bodyPr>
          <a:lstStyle/>
          <a:p>
            <a:pPr algn="l">
              <a:lnSpc>
                <a:spcPct val="100000"/>
              </a:lnSpc>
            </a:pPr>
            <a:r>
              <a:rPr sz="1500" b="0" i="1">
                <a:solidFill>
                  <a:srgbClr val="9AA8C9"/>
                </a:solidFill>
                <a:latin typeface="Arial"/>
              </a:rPr>
              <a:t>Your Personal AI-Powered Mock Interview Coach</a:t>
            </a:r>
          </a:p>
        </p:txBody>
      </p:sp>
      <p:sp>
        <p:nvSpPr>
          <p:cNvPr id="8" name="Rounded Rectangle 7"/>
          <p:cNvSpPr/>
          <p:nvPr/>
        </p:nvSpPr>
        <p:spPr>
          <a:xfrm>
            <a:off x="822960" y="4480560"/>
            <a:ext cx="2130552" cy="365760"/>
          </a:xfrm>
          <a:prstGeom prst="roundRect">
            <a:avLst>
              <a:gd name="adj" fmla="val 50000"/>
            </a:avLst>
          </a:prstGeom>
          <a:solidFill>
            <a:srgbClr val="242E4D"/>
          </a:solidFill>
          <a:ln>
            <a:noFill/>
          </a:ln>
        </p:spPr>
        <p:style>
          <a:lnRef idx="1">
            <a:schemeClr val="accent1"/>
          </a:lnRef>
          <a:fillRef idx="3">
            <a:schemeClr val="accent1"/>
          </a:fillRef>
          <a:effectRef idx="2">
            <a:schemeClr val="accent1"/>
          </a:effectRef>
          <a:fontRef idx="minor">
            <a:schemeClr val="lt1"/>
          </a:fontRef>
        </p:style>
        <p:txBody>
          <a:bodyPr lIns="50800" tIns="0" rIns="50800" bIns="0" rtlCol="0" anchor="ctr"/>
          <a:lstStyle/>
          <a:p>
            <a:pPr algn="ctr"/>
            <a:r>
              <a:rPr sz="1050" b="1" dirty="0">
                <a:solidFill>
                  <a:schemeClr val="bg1"/>
                </a:solidFill>
                <a:latin typeface="Arial"/>
              </a:rPr>
              <a:t>Meta Llama 3.3 70B</a:t>
            </a:r>
          </a:p>
        </p:txBody>
      </p:sp>
      <p:sp>
        <p:nvSpPr>
          <p:cNvPr id="9" name="Rounded Rectangle 8"/>
          <p:cNvSpPr/>
          <p:nvPr/>
        </p:nvSpPr>
        <p:spPr>
          <a:xfrm>
            <a:off x="3090672" y="4480560"/>
            <a:ext cx="1728216" cy="365760"/>
          </a:xfrm>
          <a:prstGeom prst="roundRect">
            <a:avLst>
              <a:gd name="adj" fmla="val 50000"/>
            </a:avLst>
          </a:prstGeom>
          <a:solidFill>
            <a:srgbClr val="242E4D"/>
          </a:solidFill>
          <a:ln>
            <a:noFill/>
          </a:ln>
        </p:spPr>
        <p:style>
          <a:lnRef idx="1">
            <a:schemeClr val="accent1"/>
          </a:lnRef>
          <a:fillRef idx="3">
            <a:schemeClr val="accent1"/>
          </a:fillRef>
          <a:effectRef idx="2">
            <a:schemeClr val="accent1"/>
          </a:effectRef>
          <a:fontRef idx="minor">
            <a:schemeClr val="lt1"/>
          </a:fontRef>
        </p:style>
        <p:txBody>
          <a:bodyPr lIns="50800" tIns="0" rIns="50800" bIns="0" rtlCol="0" anchor="ctr"/>
          <a:lstStyle/>
          <a:p>
            <a:pPr algn="ctr"/>
            <a:r>
              <a:rPr sz="1050" b="1">
                <a:solidFill>
                  <a:srgbClr val="009D9A"/>
                </a:solidFill>
                <a:latin typeface="Arial"/>
              </a:rPr>
              <a:t>IBM watsonx.ai</a:t>
            </a:r>
          </a:p>
        </p:txBody>
      </p:sp>
      <p:sp>
        <p:nvSpPr>
          <p:cNvPr id="10" name="Rounded Rectangle 9"/>
          <p:cNvSpPr/>
          <p:nvPr/>
        </p:nvSpPr>
        <p:spPr>
          <a:xfrm>
            <a:off x="4956048" y="4480560"/>
            <a:ext cx="1024128" cy="365760"/>
          </a:xfrm>
          <a:prstGeom prst="roundRect">
            <a:avLst>
              <a:gd name="adj" fmla="val 50000"/>
            </a:avLst>
          </a:prstGeom>
          <a:solidFill>
            <a:srgbClr val="242E4D"/>
          </a:solidFill>
          <a:ln>
            <a:noFill/>
          </a:ln>
        </p:spPr>
        <p:style>
          <a:lnRef idx="1">
            <a:schemeClr val="accent1"/>
          </a:lnRef>
          <a:fillRef idx="3">
            <a:schemeClr val="accent1"/>
          </a:fillRef>
          <a:effectRef idx="2">
            <a:schemeClr val="accent1"/>
          </a:effectRef>
          <a:fontRef idx="minor">
            <a:schemeClr val="lt1"/>
          </a:fontRef>
        </p:style>
        <p:txBody>
          <a:bodyPr lIns="50800" tIns="0" rIns="50800" bIns="0" rtlCol="0" anchor="ctr"/>
          <a:lstStyle/>
          <a:p>
            <a:pPr algn="ctr"/>
            <a:r>
              <a:rPr sz="1050" b="1">
                <a:solidFill>
                  <a:srgbClr val="F1A50C"/>
                </a:solidFill>
                <a:latin typeface="Arial"/>
              </a:rPr>
              <a:t>FastAPI</a:t>
            </a:r>
          </a:p>
        </p:txBody>
      </p:sp>
      <p:sp>
        <p:nvSpPr>
          <p:cNvPr id="11" name="Rounded Rectangle 10"/>
          <p:cNvSpPr/>
          <p:nvPr/>
        </p:nvSpPr>
        <p:spPr>
          <a:xfrm>
            <a:off x="6117336" y="4480560"/>
            <a:ext cx="1225295" cy="365760"/>
          </a:xfrm>
          <a:prstGeom prst="roundRect">
            <a:avLst>
              <a:gd name="adj" fmla="val 50000"/>
            </a:avLst>
          </a:prstGeom>
          <a:solidFill>
            <a:srgbClr val="242E4D"/>
          </a:solidFill>
          <a:ln>
            <a:noFill/>
          </a:ln>
        </p:spPr>
        <p:style>
          <a:lnRef idx="1">
            <a:schemeClr val="accent1"/>
          </a:lnRef>
          <a:fillRef idx="3">
            <a:schemeClr val="accent1"/>
          </a:fillRef>
          <a:effectRef idx="2">
            <a:schemeClr val="accent1"/>
          </a:effectRef>
          <a:fontRef idx="minor">
            <a:schemeClr val="lt1"/>
          </a:fontRef>
        </p:style>
        <p:txBody>
          <a:bodyPr lIns="50800" tIns="0" rIns="50800" bIns="0" rtlCol="0" anchor="ctr"/>
          <a:lstStyle/>
          <a:p>
            <a:pPr algn="ctr"/>
            <a:r>
              <a:rPr sz="1050" b="1">
                <a:solidFill>
                  <a:srgbClr val="24A148"/>
                </a:solidFill>
                <a:latin typeface="Arial"/>
              </a:rPr>
              <a:t>Streamlit</a:t>
            </a:r>
          </a:p>
        </p:txBody>
      </p:sp>
      <p:sp>
        <p:nvSpPr>
          <p:cNvPr id="12" name="Rounded Rectangle 11"/>
          <p:cNvSpPr/>
          <p:nvPr/>
        </p:nvSpPr>
        <p:spPr>
          <a:xfrm>
            <a:off x="7479791" y="4480560"/>
            <a:ext cx="1426464" cy="365760"/>
          </a:xfrm>
          <a:prstGeom prst="roundRect">
            <a:avLst>
              <a:gd name="adj" fmla="val 50000"/>
            </a:avLst>
          </a:prstGeom>
          <a:solidFill>
            <a:srgbClr val="242E4D"/>
          </a:solidFill>
          <a:ln>
            <a:noFill/>
          </a:ln>
        </p:spPr>
        <p:style>
          <a:lnRef idx="1">
            <a:schemeClr val="accent1"/>
          </a:lnRef>
          <a:fillRef idx="3">
            <a:schemeClr val="accent1"/>
          </a:fillRef>
          <a:effectRef idx="2">
            <a:schemeClr val="accent1"/>
          </a:effectRef>
          <a:fontRef idx="minor">
            <a:schemeClr val="lt1"/>
          </a:fontRef>
        </p:style>
        <p:txBody>
          <a:bodyPr lIns="50800" tIns="0" rIns="50800" bIns="0" rtlCol="0" anchor="ctr"/>
          <a:lstStyle/>
          <a:p>
            <a:pPr algn="ctr"/>
            <a:r>
              <a:rPr sz="1050" b="1">
                <a:solidFill>
                  <a:srgbClr val="8A3FFC"/>
                </a:solidFill>
                <a:latin typeface="Arial"/>
              </a:rPr>
              <a:t>Voice Input</a:t>
            </a:r>
          </a:p>
        </p:txBody>
      </p:sp>
      <p:sp>
        <p:nvSpPr>
          <p:cNvPr id="13" name="Rounded Rectangle 12"/>
          <p:cNvSpPr/>
          <p:nvPr/>
        </p:nvSpPr>
        <p:spPr>
          <a:xfrm>
            <a:off x="9043415" y="4480560"/>
            <a:ext cx="1527048" cy="365760"/>
          </a:xfrm>
          <a:prstGeom prst="roundRect">
            <a:avLst>
              <a:gd name="adj" fmla="val 50000"/>
            </a:avLst>
          </a:prstGeom>
          <a:solidFill>
            <a:srgbClr val="242E4D"/>
          </a:solidFill>
          <a:ln>
            <a:noFill/>
          </a:ln>
        </p:spPr>
        <p:style>
          <a:lnRef idx="1">
            <a:schemeClr val="accent1"/>
          </a:lnRef>
          <a:fillRef idx="3">
            <a:schemeClr val="accent1"/>
          </a:fillRef>
          <a:effectRef idx="2">
            <a:schemeClr val="accent1"/>
          </a:effectRef>
          <a:fontRef idx="minor">
            <a:schemeClr val="lt1"/>
          </a:fontRef>
        </p:style>
        <p:txBody>
          <a:bodyPr lIns="50800" tIns="0" rIns="50800" bIns="0" rtlCol="0" anchor="ctr"/>
          <a:lstStyle/>
          <a:p>
            <a:pPr algn="ctr"/>
            <a:r>
              <a:rPr sz="1050" b="1">
                <a:solidFill>
                  <a:srgbClr val="DA1E28"/>
                </a:solidFill>
                <a:latin typeface="Arial"/>
              </a:rPr>
              <a:t>Resume-Aware</a:t>
            </a:r>
          </a:p>
        </p:txBody>
      </p:sp>
      <p:sp>
        <p:nvSpPr>
          <p:cNvPr id="14" name="Rounded Rectangle 13"/>
          <p:cNvSpPr/>
          <p:nvPr/>
        </p:nvSpPr>
        <p:spPr>
          <a:xfrm>
            <a:off x="10707623" y="4480560"/>
            <a:ext cx="1024128" cy="365760"/>
          </a:xfrm>
          <a:prstGeom prst="roundRect">
            <a:avLst>
              <a:gd name="adj" fmla="val 50000"/>
            </a:avLst>
          </a:prstGeom>
          <a:solidFill>
            <a:srgbClr val="242E4D"/>
          </a:solidFill>
          <a:ln>
            <a:noFill/>
          </a:ln>
        </p:spPr>
        <p:style>
          <a:lnRef idx="1">
            <a:schemeClr val="accent1"/>
          </a:lnRef>
          <a:fillRef idx="3">
            <a:schemeClr val="accent1"/>
          </a:fillRef>
          <a:effectRef idx="2">
            <a:schemeClr val="accent1"/>
          </a:effectRef>
          <a:fontRef idx="minor">
            <a:schemeClr val="lt1"/>
          </a:fontRef>
        </p:style>
        <p:txBody>
          <a:bodyPr lIns="50800" tIns="0" rIns="50800" bIns="0" rtlCol="0" anchor="ctr"/>
          <a:lstStyle/>
          <a:p>
            <a:pPr algn="ctr"/>
            <a:r>
              <a:rPr sz="1050" b="1" dirty="0">
                <a:solidFill>
                  <a:schemeClr val="bg1"/>
                </a:solidFill>
                <a:latin typeface="Arial"/>
              </a:rPr>
              <a:t>IBM Bob</a:t>
            </a:r>
          </a:p>
        </p:txBody>
      </p:sp>
      <p:sp>
        <p:nvSpPr>
          <p:cNvPr id="15" name="TextBox 14"/>
          <p:cNvSpPr txBox="1"/>
          <p:nvPr/>
        </p:nvSpPr>
        <p:spPr>
          <a:xfrm>
            <a:off x="822960" y="5989320"/>
            <a:ext cx="9144000" cy="365760"/>
          </a:xfrm>
          <a:prstGeom prst="rect">
            <a:avLst/>
          </a:prstGeom>
          <a:noFill/>
        </p:spPr>
        <p:txBody>
          <a:bodyPr wrap="square" lIns="0" tIns="0" rIns="0" bIns="0" anchor="t">
            <a:spAutoFit/>
          </a:bodyPr>
          <a:lstStyle/>
          <a:p>
            <a:pPr algn="l">
              <a:lnSpc>
                <a:spcPct val="100000"/>
              </a:lnSpc>
            </a:pPr>
            <a:r>
              <a:rPr sz="1200" b="0" i="0">
                <a:solidFill>
                  <a:srgbClr val="8A96B8"/>
                </a:solidFill>
                <a:latin typeface="Arial"/>
              </a:rPr>
              <a:t>Problem Statement #22 — Interview Trainer Agent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5486400" cy="274320"/>
          </a:xfrm>
          <a:prstGeom prst="rect">
            <a:avLst/>
          </a:prstGeom>
          <a:noFill/>
        </p:spPr>
        <p:txBody>
          <a:bodyPr wrap="square" lIns="0" tIns="0" rIns="0" bIns="0" anchor="t">
            <a:spAutoFit/>
          </a:bodyPr>
          <a:lstStyle/>
          <a:p>
            <a:pPr algn="l">
              <a:lnSpc>
                <a:spcPct val="100000"/>
              </a:lnSpc>
            </a:pPr>
            <a:r>
              <a:rPr sz="1100" b="1" i="0">
                <a:solidFill>
                  <a:srgbClr val="0530AD"/>
                </a:solidFill>
                <a:latin typeface="Arial"/>
              </a:rPr>
              <a:t>PROJECT SUBMISSION</a:t>
            </a:r>
          </a:p>
        </p:txBody>
      </p:sp>
      <p:sp>
        <p:nvSpPr>
          <p:cNvPr id="4" name="TextBox 3"/>
          <p:cNvSpPr txBox="1"/>
          <p:nvPr/>
        </p:nvSpPr>
        <p:spPr>
          <a:xfrm>
            <a:off x="502920" y="502920"/>
            <a:ext cx="9601200" cy="640080"/>
          </a:xfrm>
          <a:prstGeom prst="rect">
            <a:avLst/>
          </a:prstGeom>
          <a:noFill/>
        </p:spPr>
        <p:txBody>
          <a:bodyPr wrap="square" lIns="0" tIns="0" rIns="0" bIns="0" anchor="t">
            <a:spAutoFit/>
          </a:bodyPr>
          <a:lstStyle/>
          <a:p>
            <a:pPr algn="l">
              <a:lnSpc>
                <a:spcPct val="100000"/>
              </a:lnSpc>
            </a:pPr>
            <a:r>
              <a:rPr sz="2800" b="1" i="0">
                <a:solidFill>
                  <a:srgbClr val="161A2B"/>
                </a:solidFill>
                <a:latin typeface="Arial"/>
              </a:rPr>
              <a:t>Student Details</a:t>
            </a:r>
          </a:p>
        </p:txBody>
      </p:sp>
      <p:sp>
        <p:nvSpPr>
          <p:cNvPr id="5" name="Rectangle 4"/>
          <p:cNvSpPr/>
          <p:nvPr/>
        </p:nvSpPr>
        <p:spPr>
          <a:xfrm>
            <a:off x="502920" y="1143000"/>
            <a:ext cx="1005840" cy="38100"/>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37960"/>
            <a:ext cx="5486400" cy="274320"/>
          </a:xfrm>
          <a:prstGeom prst="rect">
            <a:avLst/>
          </a:prstGeom>
          <a:noFill/>
        </p:spPr>
        <p:txBody>
          <a:bodyPr wrap="square" lIns="0" tIns="0" rIns="0" bIns="0" anchor="t">
            <a:spAutoFit/>
          </a:bodyPr>
          <a:lstStyle/>
          <a:p>
            <a:pPr algn="l">
              <a:lnSpc>
                <a:spcPct val="100000"/>
              </a:lnSpc>
            </a:pPr>
            <a:r>
              <a:rPr sz="800" b="0" i="0">
                <a:solidFill>
                  <a:srgbClr val="9A9A9A"/>
                </a:solidFill>
                <a:latin typeface="Arial"/>
              </a:rPr>
              <a:t>ARIA — AI Readiness Interview Agent</a:t>
            </a:r>
          </a:p>
        </p:txBody>
      </p:sp>
      <p:sp>
        <p:nvSpPr>
          <p:cNvPr id="7" name="TextBox 6"/>
          <p:cNvSpPr txBox="1"/>
          <p:nvPr/>
        </p:nvSpPr>
        <p:spPr>
          <a:xfrm>
            <a:off x="9601200" y="6537960"/>
            <a:ext cx="2103120" cy="274320"/>
          </a:xfrm>
          <a:prstGeom prst="rect">
            <a:avLst/>
          </a:prstGeom>
          <a:noFill/>
        </p:spPr>
        <p:txBody>
          <a:bodyPr wrap="square" lIns="0" tIns="0" rIns="0" bIns="0" anchor="t">
            <a:spAutoFit/>
          </a:bodyPr>
          <a:lstStyle/>
          <a:p>
            <a:pPr algn="r">
              <a:lnSpc>
                <a:spcPct val="100000"/>
              </a:lnSpc>
            </a:pPr>
            <a:r>
              <a:rPr sz="800" b="0" i="0">
                <a:solidFill>
                  <a:srgbClr val="9A9A9A"/>
                </a:solidFill>
                <a:latin typeface="Arial"/>
              </a:rPr>
              <a:t>IBM SkillsBuild × AICTE 2026   |   2/17</a:t>
            </a:r>
          </a:p>
        </p:txBody>
      </p:sp>
      <p:sp>
        <p:nvSpPr>
          <p:cNvPr id="8" name="TextBox 7"/>
          <p:cNvSpPr txBox="1"/>
          <p:nvPr/>
        </p:nvSpPr>
        <p:spPr>
          <a:xfrm>
            <a:off x="502920" y="1417320"/>
            <a:ext cx="2743200" cy="320040"/>
          </a:xfrm>
          <a:prstGeom prst="rect">
            <a:avLst/>
          </a:prstGeom>
          <a:noFill/>
        </p:spPr>
        <p:txBody>
          <a:bodyPr wrap="square" lIns="0" tIns="0" rIns="0" bIns="0" anchor="t">
            <a:spAutoFit/>
          </a:bodyPr>
          <a:lstStyle/>
          <a:p>
            <a:pPr algn="l">
              <a:lnSpc>
                <a:spcPct val="100000"/>
              </a:lnSpc>
            </a:pPr>
            <a:r>
              <a:rPr sz="1100" b="1" i="0">
                <a:solidFill>
                  <a:srgbClr val="0530AD"/>
                </a:solidFill>
                <a:latin typeface="Arial"/>
              </a:rPr>
              <a:t>Project Title</a:t>
            </a:r>
          </a:p>
        </p:txBody>
      </p:sp>
      <p:sp>
        <p:nvSpPr>
          <p:cNvPr id="9" name="TextBox 8"/>
          <p:cNvSpPr txBox="1"/>
          <p:nvPr/>
        </p:nvSpPr>
        <p:spPr>
          <a:xfrm>
            <a:off x="502920" y="1737360"/>
            <a:ext cx="10515600" cy="457200"/>
          </a:xfrm>
          <a:prstGeom prst="rect">
            <a:avLst/>
          </a:prstGeom>
          <a:noFill/>
        </p:spPr>
        <p:txBody>
          <a:bodyPr wrap="square" lIns="0" tIns="0" rIns="0" bIns="0" anchor="t">
            <a:spAutoFit/>
          </a:bodyPr>
          <a:lstStyle/>
          <a:p>
            <a:pPr algn="l">
              <a:lnSpc>
                <a:spcPct val="100000"/>
              </a:lnSpc>
            </a:pPr>
            <a:r>
              <a:rPr sz="2000" b="1" i="0">
                <a:solidFill>
                  <a:srgbClr val="161A2B"/>
                </a:solidFill>
                <a:latin typeface="Arial"/>
              </a:rPr>
              <a:t>ARIA — AI Readiness Interview Agent</a:t>
            </a:r>
          </a:p>
        </p:txBody>
      </p:sp>
      <p:sp>
        <p:nvSpPr>
          <p:cNvPr id="10" name="TextBox 9"/>
          <p:cNvSpPr txBox="1"/>
          <p:nvPr/>
        </p:nvSpPr>
        <p:spPr>
          <a:xfrm>
            <a:off x="502920" y="2331720"/>
            <a:ext cx="2743200" cy="320040"/>
          </a:xfrm>
          <a:prstGeom prst="rect">
            <a:avLst/>
          </a:prstGeom>
          <a:noFill/>
        </p:spPr>
        <p:txBody>
          <a:bodyPr wrap="square" lIns="0" tIns="0" rIns="0" bIns="0" anchor="t">
            <a:spAutoFit/>
          </a:bodyPr>
          <a:lstStyle/>
          <a:p>
            <a:pPr algn="l">
              <a:lnSpc>
                <a:spcPct val="100000"/>
              </a:lnSpc>
            </a:pPr>
            <a:r>
              <a:rPr sz="1100" b="1" i="0">
                <a:solidFill>
                  <a:srgbClr val="0530AD"/>
                </a:solidFill>
                <a:latin typeface="Arial"/>
              </a:rPr>
              <a:t>Domain</a:t>
            </a:r>
          </a:p>
        </p:txBody>
      </p:sp>
      <p:sp>
        <p:nvSpPr>
          <p:cNvPr id="11" name="TextBox 10"/>
          <p:cNvSpPr txBox="1"/>
          <p:nvPr/>
        </p:nvSpPr>
        <p:spPr>
          <a:xfrm>
            <a:off x="502920" y="2606040"/>
            <a:ext cx="10515600" cy="365760"/>
          </a:xfrm>
          <a:prstGeom prst="rect">
            <a:avLst/>
          </a:prstGeom>
          <a:noFill/>
        </p:spPr>
        <p:txBody>
          <a:bodyPr wrap="square" lIns="0" tIns="0" rIns="0" bIns="0" anchor="t">
            <a:spAutoFit/>
          </a:bodyPr>
          <a:lstStyle/>
          <a:p>
            <a:pPr algn="l">
              <a:lnSpc>
                <a:spcPct val="100000"/>
              </a:lnSpc>
            </a:pPr>
            <a:r>
              <a:rPr sz="1500" b="0" i="0">
                <a:solidFill>
                  <a:srgbClr val="4A4A4A"/>
                </a:solidFill>
                <a:latin typeface="Arial"/>
              </a:rPr>
              <a:t>Education / Career Development / Conversational AI</a:t>
            </a:r>
          </a:p>
        </p:txBody>
      </p:sp>
      <p:graphicFrame>
        <p:nvGraphicFramePr>
          <p:cNvPr id="12" name="Table 11"/>
          <p:cNvGraphicFramePr>
            <a:graphicFrameLocks noGrp="1"/>
          </p:cNvGraphicFramePr>
          <p:nvPr>
            <p:extLst>
              <p:ext uri="{D42A27DB-BD31-4B8C-83A1-F6EECF244321}">
                <p14:modId xmlns:p14="http://schemas.microsoft.com/office/powerpoint/2010/main" val="1808525379"/>
              </p:ext>
            </p:extLst>
          </p:nvPr>
        </p:nvGraphicFramePr>
        <p:xfrm>
          <a:off x="502920" y="2876673"/>
          <a:ext cx="10515600" cy="2255766"/>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853813">
                  <a:extLst>
                    <a:ext uri="{9D8B030D-6E8A-4147-A177-3AD203B41FA5}">
                      <a16:colId xmlns:a16="http://schemas.microsoft.com/office/drawing/2014/main" val="20002"/>
                    </a:ext>
                  </a:extLst>
                </a:gridCol>
                <a:gridCol w="1992507">
                  <a:extLst>
                    <a:ext uri="{9D8B030D-6E8A-4147-A177-3AD203B41FA5}">
                      <a16:colId xmlns:a16="http://schemas.microsoft.com/office/drawing/2014/main" val="20003"/>
                    </a:ext>
                  </a:extLst>
                </a:gridCol>
              </a:tblGrid>
              <a:tr h="777240">
                <a:tc>
                  <a:txBody>
                    <a:bodyPr/>
                    <a:lstStyle/>
                    <a:p>
                      <a:r>
                        <a:rPr sz="1200" b="1">
                          <a:solidFill>
                            <a:srgbClr val="FFFFFF"/>
                          </a:solidFill>
                          <a:latin typeface="Arial"/>
                        </a:rPr>
                        <a:t>Student Name</a:t>
                      </a:r>
                    </a:p>
                  </a:txBody>
                  <a:tcPr anchor="ctr">
                    <a:solidFill>
                      <a:srgbClr val="0530AD"/>
                    </a:solidFill>
                  </a:tcPr>
                </a:tc>
                <a:tc>
                  <a:txBody>
                    <a:bodyPr/>
                    <a:lstStyle/>
                    <a:p>
                      <a:r>
                        <a:rPr sz="1200" b="1">
                          <a:solidFill>
                            <a:srgbClr val="FFFFFF"/>
                          </a:solidFill>
                          <a:latin typeface="Arial"/>
                        </a:rPr>
                        <a:t>Recent Passport Photo</a:t>
                      </a:r>
                    </a:p>
                  </a:txBody>
                  <a:tcPr anchor="ctr">
                    <a:solidFill>
                      <a:srgbClr val="0530AD"/>
                    </a:solidFill>
                  </a:tcPr>
                </a:tc>
                <a:tc>
                  <a:txBody>
                    <a:bodyPr/>
                    <a:lstStyle/>
                    <a:p>
                      <a:r>
                        <a:rPr sz="1200" b="1">
                          <a:solidFill>
                            <a:srgbClr val="FFFFFF"/>
                          </a:solidFill>
                          <a:latin typeface="Arial"/>
                        </a:rPr>
                        <a:t>Email ID</a:t>
                      </a:r>
                    </a:p>
                  </a:txBody>
                  <a:tcPr anchor="ctr">
                    <a:solidFill>
                      <a:srgbClr val="0530AD"/>
                    </a:solidFill>
                  </a:tcPr>
                </a:tc>
                <a:tc>
                  <a:txBody>
                    <a:bodyPr/>
                    <a:lstStyle/>
                    <a:p>
                      <a:r>
                        <a:rPr sz="1200" b="1">
                          <a:solidFill>
                            <a:srgbClr val="FFFFFF"/>
                          </a:solidFill>
                          <a:latin typeface="Arial"/>
                        </a:rPr>
                        <a:t>Mobile Number (WhatsApp)</a:t>
                      </a:r>
                    </a:p>
                  </a:txBody>
                  <a:tcPr anchor="ctr">
                    <a:solidFill>
                      <a:srgbClr val="0530AD"/>
                    </a:solidFill>
                  </a:tcPr>
                </a:tc>
                <a:extLst>
                  <a:ext uri="{0D108BD9-81ED-4DB2-BD59-A6C34878D82A}">
                    <a16:rowId xmlns:a16="http://schemas.microsoft.com/office/drawing/2014/main" val="10000"/>
                  </a:ext>
                </a:extLst>
              </a:tr>
              <a:tr h="1478526">
                <a:tc>
                  <a:txBody>
                    <a:bodyPr/>
                    <a:lstStyle/>
                    <a:p>
                      <a:r>
                        <a:rPr lang="en-US" sz="2000" b="1" i="1" dirty="0">
                          <a:solidFill>
                            <a:schemeClr val="tx1"/>
                          </a:solidFill>
                          <a:latin typeface="Times New Roman" panose="02020603050405020304" pitchFamily="18" charset="0"/>
                          <a:cs typeface="Times New Roman" panose="02020603050405020304" pitchFamily="18" charset="0"/>
                        </a:rPr>
                        <a:t>Bhavesh Nayak</a:t>
                      </a:r>
                      <a:endParaRPr sz="2000" b="1" i="1" dirty="0">
                        <a:solidFill>
                          <a:schemeClr val="tx1"/>
                        </a:solidFill>
                        <a:latin typeface="Times New Roman" panose="02020603050405020304" pitchFamily="18" charset="0"/>
                        <a:cs typeface="Times New Roman" panose="02020603050405020304" pitchFamily="18" charset="0"/>
                      </a:endParaRPr>
                    </a:p>
                  </a:txBody>
                  <a:tcPr anchor="ctr">
                    <a:solidFill>
                      <a:srgbClr val="F0F2F8"/>
                    </a:solidFill>
                  </a:tcPr>
                </a:tc>
                <a:tc>
                  <a:txBody>
                    <a:bodyPr/>
                    <a:lstStyle/>
                    <a:p>
                      <a:endParaRPr sz="1100" i="1" dirty="0">
                        <a:solidFill>
                          <a:srgbClr val="9A9A9A"/>
                        </a:solidFill>
                        <a:latin typeface="Arial"/>
                      </a:endParaRPr>
                    </a:p>
                  </a:txBody>
                  <a:tcPr anchor="ctr">
                    <a:solidFill>
                      <a:srgbClr val="F0F2F8"/>
                    </a:solidFill>
                  </a:tcPr>
                </a:tc>
                <a:tc>
                  <a:txBody>
                    <a:bodyPr/>
                    <a:lstStyle/>
                    <a:p>
                      <a:r>
                        <a:rPr lang="en-US" sz="1600" i="1" dirty="0">
                          <a:solidFill>
                            <a:schemeClr val="tx1"/>
                          </a:solidFill>
                          <a:latin typeface="Times New Roman" panose="02020603050405020304" pitchFamily="18" charset="0"/>
                          <a:cs typeface="Times New Roman" panose="02020603050405020304" pitchFamily="18" charset="0"/>
                        </a:rPr>
                        <a:t>bhaveshnayak934@gmail.com</a:t>
                      </a:r>
                      <a:endParaRPr sz="1600" i="1" dirty="0">
                        <a:solidFill>
                          <a:schemeClr val="tx1"/>
                        </a:solidFill>
                        <a:latin typeface="Times New Roman" panose="02020603050405020304" pitchFamily="18" charset="0"/>
                        <a:cs typeface="Times New Roman" panose="02020603050405020304" pitchFamily="18" charset="0"/>
                      </a:endParaRPr>
                    </a:p>
                  </a:txBody>
                  <a:tcPr anchor="ctr">
                    <a:solidFill>
                      <a:srgbClr val="F0F2F8"/>
                    </a:solidFill>
                  </a:tcPr>
                </a:tc>
                <a:tc>
                  <a:txBody>
                    <a:bodyPr/>
                    <a:lstStyle/>
                    <a:p>
                      <a:r>
                        <a:rPr lang="en-US" sz="1600" i="1" dirty="0">
                          <a:solidFill>
                            <a:schemeClr val="tx1"/>
                          </a:solidFill>
                          <a:latin typeface="Times New Roman" panose="02020603050405020304" pitchFamily="18" charset="0"/>
                          <a:cs typeface="Times New Roman" panose="02020603050405020304" pitchFamily="18" charset="0"/>
                        </a:rPr>
                        <a:t>9340087041</a:t>
                      </a:r>
                      <a:endParaRPr sz="1600" i="1" dirty="0">
                        <a:solidFill>
                          <a:schemeClr val="tx1"/>
                        </a:solidFill>
                        <a:latin typeface="Times New Roman" panose="02020603050405020304" pitchFamily="18" charset="0"/>
                        <a:cs typeface="Times New Roman" panose="02020603050405020304" pitchFamily="18" charset="0"/>
                      </a:endParaRPr>
                    </a:p>
                  </a:txBody>
                  <a:tcPr anchor="ctr">
                    <a:solidFill>
                      <a:srgbClr val="F0F2F8"/>
                    </a:solidFill>
                  </a:tcPr>
                </a:tc>
                <a:extLst>
                  <a:ext uri="{0D108BD9-81ED-4DB2-BD59-A6C34878D82A}">
                    <a16:rowId xmlns:a16="http://schemas.microsoft.com/office/drawing/2014/main" val="10001"/>
                  </a:ext>
                </a:extLst>
              </a:tr>
            </a:tbl>
          </a:graphicData>
        </a:graphic>
      </p:graphicFrame>
      <p:sp>
        <p:nvSpPr>
          <p:cNvPr id="13" name="TextBox 12"/>
          <p:cNvSpPr txBox="1"/>
          <p:nvPr/>
        </p:nvSpPr>
        <p:spPr>
          <a:xfrm>
            <a:off x="502920" y="5120640"/>
            <a:ext cx="10058400" cy="1097280"/>
          </a:xfrm>
          <a:prstGeom prst="rect">
            <a:avLst/>
          </a:prstGeom>
          <a:noFill/>
        </p:spPr>
        <p:txBody>
          <a:bodyPr wrap="square" lIns="0" tIns="0" rIns="0" bIns="0" anchor="t">
            <a:spAutoFit/>
          </a:bodyPr>
          <a:lstStyle/>
          <a:p>
            <a:pPr algn="l">
              <a:lnSpc>
                <a:spcPct val="150000"/>
              </a:lnSpc>
            </a:pPr>
            <a:r>
              <a:rPr sz="1250" b="0" i="0">
                <a:solidFill>
                  <a:srgbClr val="4A4A4A"/>
                </a:solidFill>
                <a:latin typeface="Arial"/>
              </a:rPr>
              <a:t>Mentor / Guide: IBM SkillsBuild Program
Institution: Edunet Foundation — IBM University Engagement
Problem Statement: #22 — Interview Trainer Agent</a:t>
            </a:r>
          </a:p>
        </p:txBody>
      </p:sp>
      <p:pic>
        <p:nvPicPr>
          <p:cNvPr id="15" name="Picture 14">
            <a:extLst>
              <a:ext uri="{FF2B5EF4-FFF2-40B4-BE49-F238E27FC236}">
                <a16:creationId xmlns:a16="http://schemas.microsoft.com/office/drawing/2014/main" id="{97064545-B954-FE9B-24AE-D5928F250304}"/>
              </a:ext>
            </a:extLst>
          </p:cNvPr>
          <p:cNvPicPr>
            <a:picLocks noChangeAspect="1"/>
          </p:cNvPicPr>
          <p:nvPr/>
        </p:nvPicPr>
        <p:blipFill>
          <a:blip r:embed="rId2"/>
          <a:stretch>
            <a:fillRect/>
          </a:stretch>
        </p:blipFill>
        <p:spPr>
          <a:xfrm>
            <a:off x="3490451" y="3715118"/>
            <a:ext cx="1474839" cy="140552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5486400" cy="274320"/>
          </a:xfrm>
          <a:prstGeom prst="rect">
            <a:avLst/>
          </a:prstGeom>
          <a:noFill/>
        </p:spPr>
        <p:txBody>
          <a:bodyPr wrap="square" lIns="0" tIns="0" rIns="0" bIns="0" anchor="t">
            <a:spAutoFit/>
          </a:bodyPr>
          <a:lstStyle/>
          <a:p>
            <a:pPr algn="l">
              <a:lnSpc>
                <a:spcPct val="100000"/>
              </a:lnSpc>
            </a:pPr>
            <a:r>
              <a:rPr sz="1100" b="1" i="0">
                <a:solidFill>
                  <a:srgbClr val="0530AD"/>
                </a:solidFill>
                <a:latin typeface="Arial"/>
              </a:rPr>
              <a:t>THE PROBLEM</a:t>
            </a:r>
          </a:p>
        </p:txBody>
      </p:sp>
      <p:sp>
        <p:nvSpPr>
          <p:cNvPr id="4" name="TextBox 3"/>
          <p:cNvSpPr txBox="1"/>
          <p:nvPr/>
        </p:nvSpPr>
        <p:spPr>
          <a:xfrm>
            <a:off x="502920" y="502920"/>
            <a:ext cx="9601200" cy="640080"/>
          </a:xfrm>
          <a:prstGeom prst="rect">
            <a:avLst/>
          </a:prstGeom>
          <a:noFill/>
        </p:spPr>
        <p:txBody>
          <a:bodyPr wrap="square" lIns="0" tIns="0" rIns="0" bIns="0" anchor="t">
            <a:spAutoFit/>
          </a:bodyPr>
          <a:lstStyle/>
          <a:p>
            <a:pPr algn="l">
              <a:lnSpc>
                <a:spcPct val="100000"/>
              </a:lnSpc>
            </a:pPr>
            <a:r>
              <a:rPr sz="2800" b="1" i="0">
                <a:solidFill>
                  <a:srgbClr val="161A2B"/>
                </a:solidFill>
                <a:latin typeface="Arial"/>
              </a:rPr>
              <a:t>Problem Statement</a:t>
            </a:r>
          </a:p>
        </p:txBody>
      </p:sp>
      <p:sp>
        <p:nvSpPr>
          <p:cNvPr id="5" name="Rectangle 4"/>
          <p:cNvSpPr/>
          <p:nvPr/>
        </p:nvSpPr>
        <p:spPr>
          <a:xfrm>
            <a:off x="502920" y="1143000"/>
            <a:ext cx="1005840" cy="38100"/>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37960"/>
            <a:ext cx="5486400" cy="274320"/>
          </a:xfrm>
          <a:prstGeom prst="rect">
            <a:avLst/>
          </a:prstGeom>
          <a:noFill/>
        </p:spPr>
        <p:txBody>
          <a:bodyPr wrap="square" lIns="0" tIns="0" rIns="0" bIns="0" anchor="t">
            <a:spAutoFit/>
          </a:bodyPr>
          <a:lstStyle/>
          <a:p>
            <a:pPr algn="l">
              <a:lnSpc>
                <a:spcPct val="100000"/>
              </a:lnSpc>
            </a:pPr>
            <a:r>
              <a:rPr sz="800" b="0" i="0">
                <a:solidFill>
                  <a:srgbClr val="9A9A9A"/>
                </a:solidFill>
                <a:latin typeface="Arial"/>
              </a:rPr>
              <a:t>ARIA — AI Readiness Interview Agent</a:t>
            </a:r>
          </a:p>
        </p:txBody>
      </p:sp>
      <p:sp>
        <p:nvSpPr>
          <p:cNvPr id="7" name="TextBox 6"/>
          <p:cNvSpPr txBox="1"/>
          <p:nvPr/>
        </p:nvSpPr>
        <p:spPr>
          <a:xfrm>
            <a:off x="9601200" y="6537960"/>
            <a:ext cx="2103120" cy="274320"/>
          </a:xfrm>
          <a:prstGeom prst="rect">
            <a:avLst/>
          </a:prstGeom>
          <a:noFill/>
        </p:spPr>
        <p:txBody>
          <a:bodyPr wrap="square" lIns="0" tIns="0" rIns="0" bIns="0" anchor="t">
            <a:spAutoFit/>
          </a:bodyPr>
          <a:lstStyle/>
          <a:p>
            <a:pPr algn="r">
              <a:lnSpc>
                <a:spcPct val="100000"/>
              </a:lnSpc>
            </a:pPr>
            <a:r>
              <a:rPr sz="800" b="0" i="0">
                <a:solidFill>
                  <a:srgbClr val="9A9A9A"/>
                </a:solidFill>
                <a:latin typeface="Arial"/>
              </a:rPr>
              <a:t>IBM SkillsBuild × AICTE 2026   |   3/17</a:t>
            </a:r>
          </a:p>
        </p:txBody>
      </p:sp>
      <p:sp>
        <p:nvSpPr>
          <p:cNvPr id="8" name="Rounded Rectangle 7"/>
          <p:cNvSpPr/>
          <p:nvPr/>
        </p:nvSpPr>
        <p:spPr>
          <a:xfrm>
            <a:off x="502920" y="1417320"/>
            <a:ext cx="5394960" cy="233172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02920" y="1417320"/>
            <a:ext cx="82296" cy="2331720"/>
          </a:xfrm>
          <a:prstGeom prst="roundRect">
            <a:avLst>
              <a:gd name="adj" fmla="val 50000"/>
            </a:avLst>
          </a:prstGeom>
          <a:solidFill>
            <a:srgbClr val="D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4088" y="1527048"/>
            <a:ext cx="4992624" cy="2130552"/>
          </a:xfrm>
          <a:prstGeom prst="rect">
            <a:avLst/>
          </a:prstGeom>
          <a:noFill/>
        </p:spPr>
        <p:txBody>
          <a:bodyPr wrap="square" lIns="0" tIns="0" rIns="0" bIns="0">
            <a:spAutoFit/>
          </a:bodyPr>
          <a:lstStyle/>
          <a:p>
            <a:pPr>
              <a:lnSpc>
                <a:spcPct val="100000"/>
              </a:lnSpc>
            </a:pPr>
            <a:r>
              <a:rPr sz="1600" b="1">
                <a:solidFill>
                  <a:srgbClr val="161A2B"/>
                </a:solidFill>
                <a:latin typeface="Arial"/>
              </a:rPr>
              <a:t>⚠️  The Challenge</a:t>
            </a:r>
          </a:p>
          <a:p>
            <a:pPr>
              <a:lnSpc>
                <a:spcPct val="105000"/>
              </a:lnSpc>
              <a:spcBef>
                <a:spcPts val="300"/>
              </a:spcBef>
            </a:pPr>
            <a:r>
              <a:rPr sz="1200">
                <a:solidFill>
                  <a:srgbClr val="4A4A4A"/>
                </a:solidFill>
                <a:latin typeface="Arial"/>
              </a:rPr>
              <a:t>Every year, thousands of students and freshers struggle in job interviews — not due to lack of knowledge, but due to lack of structured, personalised interview practice.
Generic YouTube videos and static PDFs don't adapt to an individual's skill set, role, or target company. Without real-time, adaptive feedback, many candidates walk in underprepared and underconfident.</a:t>
            </a:r>
          </a:p>
        </p:txBody>
      </p:sp>
      <p:sp>
        <p:nvSpPr>
          <p:cNvPr id="11" name="Rounded Rectangle 10"/>
          <p:cNvSpPr/>
          <p:nvPr/>
        </p:nvSpPr>
        <p:spPr>
          <a:xfrm>
            <a:off x="6263640" y="1417320"/>
            <a:ext cx="5394960" cy="233172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263640" y="1417320"/>
            <a:ext cx="82296" cy="2331720"/>
          </a:xfrm>
          <a:prstGeom prst="roundRect">
            <a:avLst>
              <a:gd name="adj" fmla="val 50000"/>
            </a:avLst>
          </a:prstGeom>
          <a:solidFill>
            <a:srgbClr val="24A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64808" y="1527048"/>
            <a:ext cx="4992624" cy="2130552"/>
          </a:xfrm>
          <a:prstGeom prst="rect">
            <a:avLst/>
          </a:prstGeom>
          <a:noFill/>
        </p:spPr>
        <p:txBody>
          <a:bodyPr wrap="square" lIns="0" tIns="0" rIns="0" bIns="0">
            <a:spAutoFit/>
          </a:bodyPr>
          <a:lstStyle/>
          <a:p>
            <a:pPr>
              <a:lnSpc>
                <a:spcPct val="100000"/>
              </a:lnSpc>
            </a:pPr>
            <a:r>
              <a:rPr sz="1600" b="1">
                <a:solidFill>
                  <a:srgbClr val="161A2B"/>
                </a:solidFill>
                <a:latin typeface="Arial"/>
              </a:rPr>
              <a:t>🎯  The Objective</a:t>
            </a:r>
          </a:p>
          <a:p>
            <a:pPr>
              <a:lnSpc>
                <a:spcPct val="105000"/>
              </a:lnSpc>
              <a:spcBef>
                <a:spcPts val="300"/>
              </a:spcBef>
            </a:pPr>
            <a:r>
              <a:rPr sz="1200">
                <a:solidFill>
                  <a:srgbClr val="4A4A4A"/>
                </a:solidFill>
                <a:latin typeface="Arial"/>
              </a:rPr>
              <a:t>Build an AI-powered Interview Trainer Agent that delivers structured, personalised mock interviews with real-time evaluation for IT job seekers targeting companies like TCS, Infosys, Wipro, Accenture, and Cognizant.</a:t>
            </a:r>
          </a:p>
        </p:txBody>
      </p:sp>
      <p:sp>
        <p:nvSpPr>
          <p:cNvPr id="14" name="Rounded Rectangle 13"/>
          <p:cNvSpPr/>
          <p:nvPr/>
        </p:nvSpPr>
        <p:spPr>
          <a:xfrm>
            <a:off x="502920" y="3886200"/>
            <a:ext cx="3637178" cy="105156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02920" y="3886200"/>
            <a:ext cx="82296" cy="1051560"/>
          </a:xfrm>
          <a:prstGeom prst="roundRect">
            <a:avLst>
              <a:gd name="adj" fmla="val 50000"/>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04088" y="3995928"/>
            <a:ext cx="3234842" cy="850392"/>
          </a:xfrm>
          <a:prstGeom prst="rect">
            <a:avLst/>
          </a:prstGeom>
          <a:noFill/>
        </p:spPr>
        <p:txBody>
          <a:bodyPr wrap="square" lIns="0" tIns="0" rIns="0" bIns="0">
            <a:spAutoFit/>
          </a:bodyPr>
          <a:lstStyle/>
          <a:p>
            <a:pPr>
              <a:lnSpc>
                <a:spcPct val="100000"/>
              </a:lnSpc>
            </a:pPr>
            <a:r>
              <a:rPr sz="1150" b="1">
                <a:solidFill>
                  <a:srgbClr val="161A2B"/>
                </a:solidFill>
                <a:latin typeface="Arial"/>
              </a:rPr>
              <a:t>🧩  Role &amp; Company-Specific Qs</a:t>
            </a:r>
          </a:p>
          <a:p>
            <a:pPr>
              <a:lnSpc>
                <a:spcPct val="105000"/>
              </a:lnSpc>
              <a:spcBef>
                <a:spcPts val="300"/>
              </a:spcBef>
            </a:pPr>
            <a:r>
              <a:rPr sz="950">
                <a:solidFill>
                  <a:srgbClr val="4A4A4A"/>
                </a:solidFill>
                <a:latin typeface="Arial"/>
              </a:rPr>
              <a:t>Technical, HR &amp; Situational questions tailored to role, experience &amp; target company.</a:t>
            </a:r>
          </a:p>
        </p:txBody>
      </p:sp>
      <p:sp>
        <p:nvSpPr>
          <p:cNvPr id="17" name="Rounded Rectangle 16"/>
          <p:cNvSpPr/>
          <p:nvPr/>
        </p:nvSpPr>
        <p:spPr>
          <a:xfrm>
            <a:off x="4277258" y="3886200"/>
            <a:ext cx="3637178" cy="105156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277258" y="3886200"/>
            <a:ext cx="82296" cy="1051560"/>
          </a:xfrm>
          <a:prstGeom prst="roundRect">
            <a:avLst>
              <a:gd name="adj" fmla="val 50000"/>
            </a:avLst>
          </a:prstGeom>
          <a:solidFill>
            <a:srgbClr val="009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78426" y="3995928"/>
            <a:ext cx="3234842" cy="850392"/>
          </a:xfrm>
          <a:prstGeom prst="rect">
            <a:avLst/>
          </a:prstGeom>
          <a:noFill/>
        </p:spPr>
        <p:txBody>
          <a:bodyPr wrap="square" lIns="0" tIns="0" rIns="0" bIns="0">
            <a:spAutoFit/>
          </a:bodyPr>
          <a:lstStyle/>
          <a:p>
            <a:pPr>
              <a:lnSpc>
                <a:spcPct val="100000"/>
              </a:lnSpc>
            </a:pPr>
            <a:r>
              <a:rPr sz="1150" b="1">
                <a:solidFill>
                  <a:srgbClr val="161A2B"/>
                </a:solidFill>
                <a:latin typeface="Arial"/>
              </a:rPr>
              <a:t>📊  Real-Time Answer Evaluation</a:t>
            </a:r>
          </a:p>
          <a:p>
            <a:pPr>
              <a:lnSpc>
                <a:spcPct val="105000"/>
              </a:lnSpc>
              <a:spcBef>
                <a:spcPts val="300"/>
              </a:spcBef>
            </a:pPr>
            <a:r>
              <a:rPr sz="950">
                <a:solidFill>
                  <a:srgbClr val="4A4A4A"/>
                </a:solidFill>
                <a:latin typeface="Arial"/>
              </a:rPr>
              <a:t>Score each answer out of 10, highlighting strengths and missing concepts instantly.</a:t>
            </a:r>
          </a:p>
        </p:txBody>
      </p:sp>
      <p:sp>
        <p:nvSpPr>
          <p:cNvPr id="20" name="Rounded Rectangle 19"/>
          <p:cNvSpPr/>
          <p:nvPr/>
        </p:nvSpPr>
        <p:spPr>
          <a:xfrm>
            <a:off x="8051596" y="3886200"/>
            <a:ext cx="3637178" cy="105156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051596" y="3886200"/>
            <a:ext cx="82296" cy="1051560"/>
          </a:xfrm>
          <a:prstGeom prst="roundRect">
            <a:avLst>
              <a:gd name="adj" fmla="val 50000"/>
            </a:avLst>
          </a:prstGeom>
          <a:solidFill>
            <a:srgbClr val="F1A5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52764" y="3995928"/>
            <a:ext cx="3234842" cy="850392"/>
          </a:xfrm>
          <a:prstGeom prst="rect">
            <a:avLst/>
          </a:prstGeom>
          <a:noFill/>
        </p:spPr>
        <p:txBody>
          <a:bodyPr wrap="square" lIns="0" tIns="0" rIns="0" bIns="0">
            <a:spAutoFit/>
          </a:bodyPr>
          <a:lstStyle/>
          <a:p>
            <a:pPr>
              <a:lnSpc>
                <a:spcPct val="100000"/>
              </a:lnSpc>
            </a:pPr>
            <a:r>
              <a:rPr sz="1150" b="1">
                <a:solidFill>
                  <a:srgbClr val="161A2B"/>
                </a:solidFill>
                <a:latin typeface="Arial"/>
              </a:rPr>
              <a:t>💡  Confidence Tracking</a:t>
            </a:r>
          </a:p>
          <a:p>
            <a:pPr>
              <a:lnSpc>
                <a:spcPct val="105000"/>
              </a:lnSpc>
              <a:spcBef>
                <a:spcPts val="300"/>
              </a:spcBef>
            </a:pPr>
            <a:r>
              <a:rPr sz="950">
                <a:solidFill>
                  <a:srgbClr val="4A4A4A"/>
                </a:solidFill>
                <a:latin typeface="Arial"/>
              </a:rPr>
              <a:t>Measures candidate confidence before and after the session to show real growth.</a:t>
            </a:r>
          </a:p>
        </p:txBody>
      </p:sp>
      <p:sp>
        <p:nvSpPr>
          <p:cNvPr id="23" name="Rounded Rectangle 22"/>
          <p:cNvSpPr/>
          <p:nvPr/>
        </p:nvSpPr>
        <p:spPr>
          <a:xfrm>
            <a:off x="502920" y="5074920"/>
            <a:ext cx="3637178" cy="105156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02920" y="5074920"/>
            <a:ext cx="82296" cy="1051560"/>
          </a:xfrm>
          <a:prstGeom prst="roundRect">
            <a:avLst>
              <a:gd name="adj" fmla="val 50000"/>
            </a:avLst>
          </a:prstGeom>
          <a:solidFill>
            <a:srgbClr val="24A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04088" y="5184648"/>
            <a:ext cx="3234842" cy="850392"/>
          </a:xfrm>
          <a:prstGeom prst="rect">
            <a:avLst/>
          </a:prstGeom>
          <a:noFill/>
        </p:spPr>
        <p:txBody>
          <a:bodyPr wrap="square" lIns="0" tIns="0" rIns="0" bIns="0">
            <a:spAutoFit/>
          </a:bodyPr>
          <a:lstStyle/>
          <a:p>
            <a:pPr>
              <a:lnSpc>
                <a:spcPct val="100000"/>
              </a:lnSpc>
            </a:pPr>
            <a:r>
              <a:rPr sz="1150" b="1">
                <a:solidFill>
                  <a:srgbClr val="161A2B"/>
                </a:solidFill>
                <a:latin typeface="Arial"/>
              </a:rPr>
              <a:t>📈  Adaptive Difficulty</a:t>
            </a:r>
          </a:p>
          <a:p>
            <a:pPr>
              <a:lnSpc>
                <a:spcPct val="105000"/>
              </a:lnSpc>
              <a:spcBef>
                <a:spcPts val="300"/>
              </a:spcBef>
            </a:pPr>
            <a:r>
              <a:rPr sz="950">
                <a:solidFill>
                  <a:srgbClr val="4A4A4A"/>
                </a:solidFill>
                <a:latin typeface="Arial"/>
              </a:rPr>
              <a:t>Increases question difficulty as the candidate performs well.</a:t>
            </a:r>
          </a:p>
        </p:txBody>
      </p:sp>
      <p:sp>
        <p:nvSpPr>
          <p:cNvPr id="26" name="Rounded Rectangle 25"/>
          <p:cNvSpPr/>
          <p:nvPr/>
        </p:nvSpPr>
        <p:spPr>
          <a:xfrm>
            <a:off x="4277258" y="5074920"/>
            <a:ext cx="3637178" cy="105156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4277258" y="5074920"/>
            <a:ext cx="82296" cy="1051560"/>
          </a:xfrm>
          <a:prstGeom prst="roundRect">
            <a:avLst>
              <a:gd name="adj" fmla="val 50000"/>
            </a:avLst>
          </a:prstGeom>
          <a:solidFill>
            <a:srgbClr val="8A3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478426" y="5184648"/>
            <a:ext cx="3234842" cy="850392"/>
          </a:xfrm>
          <a:prstGeom prst="rect">
            <a:avLst/>
          </a:prstGeom>
          <a:noFill/>
        </p:spPr>
        <p:txBody>
          <a:bodyPr wrap="square" lIns="0" tIns="0" rIns="0" bIns="0">
            <a:spAutoFit/>
          </a:bodyPr>
          <a:lstStyle/>
          <a:p>
            <a:pPr>
              <a:lnSpc>
                <a:spcPct val="100000"/>
              </a:lnSpc>
            </a:pPr>
            <a:r>
              <a:rPr sz="1150" b="1">
                <a:solidFill>
                  <a:srgbClr val="161A2B"/>
                </a:solidFill>
                <a:latin typeface="Arial"/>
              </a:rPr>
              <a:t>📄  Resume-Aware Personalisation</a:t>
            </a:r>
          </a:p>
          <a:p>
            <a:pPr>
              <a:lnSpc>
                <a:spcPct val="105000"/>
              </a:lnSpc>
              <a:spcBef>
                <a:spcPts val="300"/>
              </a:spcBef>
            </a:pPr>
            <a:r>
              <a:rPr sz="950">
                <a:solidFill>
                  <a:srgbClr val="4A4A4A"/>
                </a:solidFill>
                <a:latin typeface="Arial"/>
              </a:rPr>
              <a:t>Draws questions from the candidate's actual projects &amp; skills, not just their role.</a:t>
            </a:r>
          </a:p>
        </p:txBody>
      </p:sp>
      <p:sp>
        <p:nvSpPr>
          <p:cNvPr id="29" name="Rounded Rectangle 28"/>
          <p:cNvSpPr/>
          <p:nvPr/>
        </p:nvSpPr>
        <p:spPr>
          <a:xfrm>
            <a:off x="8051596" y="5074920"/>
            <a:ext cx="3637178" cy="105156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051596" y="5074920"/>
            <a:ext cx="82296" cy="1051560"/>
          </a:xfrm>
          <a:prstGeom prst="roundRect">
            <a:avLst>
              <a:gd name="adj" fmla="val 50000"/>
            </a:avLst>
          </a:prstGeom>
          <a:solidFill>
            <a:srgbClr val="D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52764" y="5184648"/>
            <a:ext cx="3234842" cy="850392"/>
          </a:xfrm>
          <a:prstGeom prst="rect">
            <a:avLst/>
          </a:prstGeom>
          <a:noFill/>
        </p:spPr>
        <p:txBody>
          <a:bodyPr wrap="square" lIns="0" tIns="0" rIns="0" bIns="0">
            <a:spAutoFit/>
          </a:bodyPr>
          <a:lstStyle/>
          <a:p>
            <a:pPr>
              <a:lnSpc>
                <a:spcPct val="100000"/>
              </a:lnSpc>
            </a:pPr>
            <a:r>
              <a:rPr sz="1150" b="1">
                <a:solidFill>
                  <a:srgbClr val="161A2B"/>
                </a:solidFill>
                <a:latin typeface="Arial"/>
              </a:rPr>
              <a:t>📋  Final Report Card</a:t>
            </a:r>
          </a:p>
          <a:p>
            <a:pPr>
              <a:lnSpc>
                <a:spcPct val="105000"/>
              </a:lnSpc>
              <a:spcBef>
                <a:spcPts val="300"/>
              </a:spcBef>
            </a:pPr>
            <a:r>
              <a:rPr sz="950">
                <a:solidFill>
                  <a:srgbClr val="4A4A4A"/>
                </a:solidFill>
                <a:latin typeface="Arial"/>
              </a:rPr>
              <a:t>Scores, strengths, resume alignment &amp; a 7-day study roadmap.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5486400" cy="274320"/>
          </a:xfrm>
          <a:prstGeom prst="rect">
            <a:avLst/>
          </a:prstGeom>
          <a:noFill/>
        </p:spPr>
        <p:txBody>
          <a:bodyPr wrap="square" lIns="0" tIns="0" rIns="0" bIns="0" anchor="t">
            <a:spAutoFit/>
          </a:bodyPr>
          <a:lstStyle/>
          <a:p>
            <a:pPr algn="l">
              <a:lnSpc>
                <a:spcPct val="100000"/>
              </a:lnSpc>
            </a:pPr>
            <a:r>
              <a:rPr sz="1100" b="1" i="0">
                <a:solidFill>
                  <a:srgbClr val="0530AD"/>
                </a:solidFill>
                <a:latin typeface="Arial"/>
              </a:rPr>
              <a:t>OUR SOLUTION</a:t>
            </a:r>
          </a:p>
        </p:txBody>
      </p:sp>
      <p:sp>
        <p:nvSpPr>
          <p:cNvPr id="4" name="TextBox 3"/>
          <p:cNvSpPr txBox="1"/>
          <p:nvPr/>
        </p:nvSpPr>
        <p:spPr>
          <a:xfrm>
            <a:off x="502920" y="502920"/>
            <a:ext cx="9601200" cy="640080"/>
          </a:xfrm>
          <a:prstGeom prst="rect">
            <a:avLst/>
          </a:prstGeom>
          <a:noFill/>
        </p:spPr>
        <p:txBody>
          <a:bodyPr wrap="square" lIns="0" tIns="0" rIns="0" bIns="0" anchor="t">
            <a:spAutoFit/>
          </a:bodyPr>
          <a:lstStyle/>
          <a:p>
            <a:pPr algn="l">
              <a:lnSpc>
                <a:spcPct val="100000"/>
              </a:lnSpc>
            </a:pPr>
            <a:r>
              <a:rPr sz="2800" b="1" i="0">
                <a:solidFill>
                  <a:srgbClr val="161A2B"/>
                </a:solidFill>
                <a:latin typeface="Arial"/>
              </a:rPr>
              <a:t>Proposed Solution — ARIA</a:t>
            </a:r>
          </a:p>
        </p:txBody>
      </p:sp>
      <p:sp>
        <p:nvSpPr>
          <p:cNvPr id="5" name="Rectangle 4"/>
          <p:cNvSpPr/>
          <p:nvPr/>
        </p:nvSpPr>
        <p:spPr>
          <a:xfrm>
            <a:off x="502920" y="1143000"/>
            <a:ext cx="1005840" cy="38100"/>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37960"/>
            <a:ext cx="5486400" cy="274320"/>
          </a:xfrm>
          <a:prstGeom prst="rect">
            <a:avLst/>
          </a:prstGeom>
          <a:noFill/>
        </p:spPr>
        <p:txBody>
          <a:bodyPr wrap="square" lIns="0" tIns="0" rIns="0" bIns="0" anchor="t">
            <a:spAutoFit/>
          </a:bodyPr>
          <a:lstStyle/>
          <a:p>
            <a:pPr algn="l">
              <a:lnSpc>
                <a:spcPct val="100000"/>
              </a:lnSpc>
            </a:pPr>
            <a:r>
              <a:rPr sz="800" b="0" i="0">
                <a:solidFill>
                  <a:srgbClr val="9A9A9A"/>
                </a:solidFill>
                <a:latin typeface="Arial"/>
              </a:rPr>
              <a:t>ARIA — AI Readiness Interview Agent</a:t>
            </a:r>
          </a:p>
        </p:txBody>
      </p:sp>
      <p:sp>
        <p:nvSpPr>
          <p:cNvPr id="7" name="TextBox 6"/>
          <p:cNvSpPr txBox="1"/>
          <p:nvPr/>
        </p:nvSpPr>
        <p:spPr>
          <a:xfrm>
            <a:off x="9601200" y="6537960"/>
            <a:ext cx="2103120" cy="274320"/>
          </a:xfrm>
          <a:prstGeom prst="rect">
            <a:avLst/>
          </a:prstGeom>
          <a:noFill/>
        </p:spPr>
        <p:txBody>
          <a:bodyPr wrap="square" lIns="0" tIns="0" rIns="0" bIns="0" anchor="t">
            <a:spAutoFit/>
          </a:bodyPr>
          <a:lstStyle/>
          <a:p>
            <a:pPr algn="r">
              <a:lnSpc>
                <a:spcPct val="100000"/>
              </a:lnSpc>
            </a:pPr>
            <a:r>
              <a:rPr sz="800" b="0" i="0">
                <a:solidFill>
                  <a:srgbClr val="9A9A9A"/>
                </a:solidFill>
                <a:latin typeface="Arial"/>
              </a:rPr>
              <a:t>IBM SkillsBuild × AICTE 2026   |   4/17</a:t>
            </a:r>
          </a:p>
        </p:txBody>
      </p:sp>
      <p:sp>
        <p:nvSpPr>
          <p:cNvPr id="8" name="TextBox 7"/>
          <p:cNvSpPr txBox="1"/>
          <p:nvPr/>
        </p:nvSpPr>
        <p:spPr>
          <a:xfrm>
            <a:off x="502920" y="1371600"/>
            <a:ext cx="11155680" cy="822960"/>
          </a:xfrm>
          <a:prstGeom prst="rect">
            <a:avLst/>
          </a:prstGeom>
          <a:noFill/>
        </p:spPr>
        <p:txBody>
          <a:bodyPr wrap="square" lIns="0" tIns="0" rIns="0" bIns="0" anchor="t">
            <a:spAutoFit/>
          </a:bodyPr>
          <a:lstStyle/>
          <a:p>
            <a:pPr algn="l">
              <a:lnSpc>
                <a:spcPct val="120000"/>
              </a:lnSpc>
            </a:pPr>
            <a:r>
              <a:rPr sz="1300" b="0" i="0">
                <a:solidFill>
                  <a:srgbClr val="4A4A4A"/>
                </a:solidFill>
                <a:latin typeface="Arial"/>
              </a:rPr>
              <a:t>ARIA is a conversational AI-powered Interview Trainer Agent built using FastAPI, Streamlit, and IBM watsonx.ai (Meta Llama 3.3 70B Instruct). It uses IBM watsonx.ai's structured Chat Completion API — explicit system/user/assistant roles rather than raw text completion — so the model reliably respects turn boundaries and evaluation format.</a:t>
            </a:r>
          </a:p>
        </p:txBody>
      </p:sp>
      <p:sp>
        <p:nvSpPr>
          <p:cNvPr id="9" name="TextBox 8"/>
          <p:cNvSpPr txBox="1"/>
          <p:nvPr/>
        </p:nvSpPr>
        <p:spPr>
          <a:xfrm>
            <a:off x="502920" y="2331720"/>
            <a:ext cx="5486400" cy="320040"/>
          </a:xfrm>
          <a:prstGeom prst="rect">
            <a:avLst/>
          </a:prstGeom>
          <a:noFill/>
        </p:spPr>
        <p:txBody>
          <a:bodyPr wrap="square" lIns="0" tIns="0" rIns="0" bIns="0" anchor="t">
            <a:spAutoFit/>
          </a:bodyPr>
          <a:lstStyle/>
          <a:p>
            <a:pPr algn="l">
              <a:lnSpc>
                <a:spcPct val="100000"/>
              </a:lnSpc>
            </a:pPr>
            <a:r>
              <a:rPr sz="1350" b="1" i="0">
                <a:solidFill>
                  <a:srgbClr val="0530AD"/>
                </a:solidFill>
                <a:latin typeface="Arial"/>
              </a:rPr>
              <a:t>The Interview Flows Through Four Structured Stages</a:t>
            </a:r>
          </a:p>
        </p:txBody>
      </p:sp>
      <p:sp>
        <p:nvSpPr>
          <p:cNvPr id="10" name="Rounded Rectangle 9"/>
          <p:cNvSpPr/>
          <p:nvPr/>
        </p:nvSpPr>
        <p:spPr>
          <a:xfrm>
            <a:off x="502920" y="2788920"/>
            <a:ext cx="2606040" cy="502920"/>
          </a:xfrm>
          <a:prstGeom prst="roundRect">
            <a:avLst>
              <a:gd name="adj" fmla="val 12000"/>
            </a:avLst>
          </a:prstGeom>
          <a:solidFill>
            <a:srgbClr val="009D9A"/>
          </a:solidFill>
          <a:ln>
            <a:noFill/>
          </a:ln>
          <a:effectLst/>
        </p:spPr>
        <p:style>
          <a:lnRef idx="1">
            <a:schemeClr val="accent1"/>
          </a:lnRef>
          <a:fillRef idx="3">
            <a:schemeClr val="accent1"/>
          </a:fillRef>
          <a:effectRef idx="2">
            <a:schemeClr val="accent1"/>
          </a:effectRef>
          <a:fontRef idx="minor">
            <a:schemeClr val="lt1"/>
          </a:fontRef>
        </p:style>
        <p:txBody>
          <a:bodyPr wrap="square" lIns="76200" rIns="76200" rtlCol="0" anchor="ctr"/>
          <a:lstStyle/>
          <a:p>
            <a:pPr algn="ctr"/>
            <a:r>
              <a:rPr sz="1150" b="1">
                <a:solidFill>
                  <a:srgbClr val="FFFFFF"/>
                </a:solidFill>
                <a:latin typeface="Arial"/>
              </a:rPr>
              <a:t>STAGE 1</a:t>
            </a:r>
          </a:p>
        </p:txBody>
      </p:sp>
      <p:sp>
        <p:nvSpPr>
          <p:cNvPr id="11" name="Rounded Rectangle 10"/>
          <p:cNvSpPr/>
          <p:nvPr/>
        </p:nvSpPr>
        <p:spPr>
          <a:xfrm>
            <a:off x="502920" y="3383280"/>
            <a:ext cx="2606040" cy="109728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2920" y="3383280"/>
            <a:ext cx="82296" cy="1097280"/>
          </a:xfrm>
          <a:prstGeom prst="roundRect">
            <a:avLst>
              <a:gd name="adj" fmla="val 50000"/>
            </a:avLst>
          </a:prstGeom>
          <a:solidFill>
            <a:srgbClr val="009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4088" y="3493008"/>
            <a:ext cx="2203704" cy="896112"/>
          </a:xfrm>
          <a:prstGeom prst="rect">
            <a:avLst/>
          </a:prstGeom>
          <a:noFill/>
        </p:spPr>
        <p:txBody>
          <a:bodyPr wrap="square" lIns="0" tIns="0" rIns="0" bIns="0">
            <a:spAutoFit/>
          </a:bodyPr>
          <a:lstStyle/>
          <a:p>
            <a:pPr>
              <a:lnSpc>
                <a:spcPct val="100000"/>
              </a:lnSpc>
            </a:pPr>
            <a:r>
              <a:rPr sz="1200" b="1">
                <a:solidFill>
                  <a:srgbClr val="161A2B"/>
                </a:solidFill>
                <a:latin typeface="Arial"/>
              </a:rPr>
              <a:t>Onboarding &amp;
Confidence Baseline</a:t>
            </a:r>
          </a:p>
          <a:p>
            <a:pPr>
              <a:lnSpc>
                <a:spcPct val="105000"/>
              </a:lnSpc>
              <a:spcBef>
                <a:spcPts val="300"/>
              </a:spcBef>
            </a:pPr>
            <a:r>
              <a:rPr sz="1000">
                <a:solidFill>
                  <a:srgbClr val="4A4A4A"/>
                </a:solidFill>
                <a:latin typeface="Arial"/>
              </a:rPr>
              <a:t>Collects name, role, experience,
skills &amp; target company; captures
starting confidence (1-10).</a:t>
            </a:r>
          </a:p>
        </p:txBody>
      </p:sp>
      <p:sp>
        <p:nvSpPr>
          <p:cNvPr id="14" name="Right Arrow 13"/>
          <p:cNvSpPr/>
          <p:nvPr/>
        </p:nvSpPr>
        <p:spPr>
          <a:xfrm>
            <a:off x="3127248" y="3566160"/>
            <a:ext cx="164592" cy="274320"/>
          </a:xfrm>
          <a:prstGeom prst="rightArrow">
            <a:avLst/>
          </a:prstGeom>
          <a:solidFill>
            <a:srgbClr val="B8B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310128" y="2788920"/>
            <a:ext cx="2606040" cy="502920"/>
          </a:xfrm>
          <a:prstGeom prst="roundRect">
            <a:avLst>
              <a:gd name="adj" fmla="val 12000"/>
            </a:avLst>
          </a:prstGeom>
          <a:solidFill>
            <a:srgbClr val="0530AD"/>
          </a:solidFill>
          <a:ln>
            <a:noFill/>
          </a:ln>
          <a:effectLst/>
        </p:spPr>
        <p:style>
          <a:lnRef idx="1">
            <a:schemeClr val="accent1"/>
          </a:lnRef>
          <a:fillRef idx="3">
            <a:schemeClr val="accent1"/>
          </a:fillRef>
          <a:effectRef idx="2">
            <a:schemeClr val="accent1"/>
          </a:effectRef>
          <a:fontRef idx="minor">
            <a:schemeClr val="lt1"/>
          </a:fontRef>
        </p:style>
        <p:txBody>
          <a:bodyPr wrap="square" lIns="76200" rIns="76200" rtlCol="0" anchor="ctr"/>
          <a:lstStyle/>
          <a:p>
            <a:pPr algn="ctr"/>
            <a:r>
              <a:rPr sz="1150" b="1">
                <a:solidFill>
                  <a:srgbClr val="FFFFFF"/>
                </a:solidFill>
                <a:latin typeface="Arial"/>
              </a:rPr>
              <a:t>STAGE 2</a:t>
            </a:r>
          </a:p>
        </p:txBody>
      </p:sp>
      <p:sp>
        <p:nvSpPr>
          <p:cNvPr id="16" name="Rounded Rectangle 15"/>
          <p:cNvSpPr/>
          <p:nvPr/>
        </p:nvSpPr>
        <p:spPr>
          <a:xfrm>
            <a:off x="3310128" y="3383280"/>
            <a:ext cx="2606040" cy="109728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310128" y="3383280"/>
            <a:ext cx="82296" cy="1097280"/>
          </a:xfrm>
          <a:prstGeom prst="roundRect">
            <a:avLst>
              <a:gd name="adj" fmla="val 50000"/>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511296" y="3493008"/>
            <a:ext cx="2203704" cy="896112"/>
          </a:xfrm>
          <a:prstGeom prst="rect">
            <a:avLst/>
          </a:prstGeom>
          <a:noFill/>
        </p:spPr>
        <p:txBody>
          <a:bodyPr wrap="square" lIns="0" tIns="0" rIns="0" bIns="0">
            <a:spAutoFit/>
          </a:bodyPr>
          <a:lstStyle/>
          <a:p>
            <a:pPr>
              <a:lnSpc>
                <a:spcPct val="100000"/>
              </a:lnSpc>
            </a:pPr>
            <a:r>
              <a:rPr sz="1200" b="1">
                <a:solidFill>
                  <a:srgbClr val="161A2B"/>
                </a:solidFill>
                <a:latin typeface="Arial"/>
              </a:rPr>
              <a:t>Resume-Aware
Adaptive Engine</a:t>
            </a:r>
          </a:p>
          <a:p>
            <a:pPr>
              <a:lnSpc>
                <a:spcPct val="105000"/>
              </a:lnSpc>
              <a:spcBef>
                <a:spcPts val="300"/>
              </a:spcBef>
            </a:pPr>
            <a:r>
              <a:rPr sz="1000">
                <a:solidFill>
                  <a:srgbClr val="4A4A4A"/>
                </a:solidFill>
                <a:latin typeface="Arial"/>
              </a:rPr>
              <a:t>Generates 5 Technical, 3 HR
(STAR) &amp; 2 Situational Qs tied to
role + resume, harder as you go.</a:t>
            </a:r>
          </a:p>
        </p:txBody>
      </p:sp>
      <p:sp>
        <p:nvSpPr>
          <p:cNvPr id="19" name="Right Arrow 18"/>
          <p:cNvSpPr/>
          <p:nvPr/>
        </p:nvSpPr>
        <p:spPr>
          <a:xfrm>
            <a:off x="5934456" y="3566160"/>
            <a:ext cx="164592" cy="274320"/>
          </a:xfrm>
          <a:prstGeom prst="rightArrow">
            <a:avLst/>
          </a:prstGeom>
          <a:solidFill>
            <a:srgbClr val="B8B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117336" y="2788920"/>
            <a:ext cx="2606040" cy="502920"/>
          </a:xfrm>
          <a:prstGeom prst="roundRect">
            <a:avLst>
              <a:gd name="adj" fmla="val 12000"/>
            </a:avLst>
          </a:prstGeom>
          <a:solidFill>
            <a:srgbClr val="F1A50C"/>
          </a:solidFill>
          <a:ln>
            <a:noFill/>
          </a:ln>
          <a:effectLst/>
        </p:spPr>
        <p:style>
          <a:lnRef idx="1">
            <a:schemeClr val="accent1"/>
          </a:lnRef>
          <a:fillRef idx="3">
            <a:schemeClr val="accent1"/>
          </a:fillRef>
          <a:effectRef idx="2">
            <a:schemeClr val="accent1"/>
          </a:effectRef>
          <a:fontRef idx="minor">
            <a:schemeClr val="lt1"/>
          </a:fontRef>
        </p:style>
        <p:txBody>
          <a:bodyPr wrap="square" lIns="76200" rIns="76200" rtlCol="0" anchor="ctr"/>
          <a:lstStyle/>
          <a:p>
            <a:pPr algn="ctr"/>
            <a:r>
              <a:rPr sz="1150" b="1">
                <a:solidFill>
                  <a:srgbClr val="FFFFFF"/>
                </a:solidFill>
                <a:latin typeface="Arial"/>
              </a:rPr>
              <a:t>STAGE 3</a:t>
            </a:r>
          </a:p>
        </p:txBody>
      </p:sp>
      <p:sp>
        <p:nvSpPr>
          <p:cNvPr id="21" name="Rounded Rectangle 20"/>
          <p:cNvSpPr/>
          <p:nvPr/>
        </p:nvSpPr>
        <p:spPr>
          <a:xfrm>
            <a:off x="6117336" y="3383280"/>
            <a:ext cx="2606040" cy="109728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117336" y="3383280"/>
            <a:ext cx="82296" cy="1097280"/>
          </a:xfrm>
          <a:prstGeom prst="roundRect">
            <a:avLst>
              <a:gd name="adj" fmla="val 50000"/>
            </a:avLst>
          </a:prstGeom>
          <a:solidFill>
            <a:srgbClr val="F1A5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18504" y="3493008"/>
            <a:ext cx="2203704" cy="896112"/>
          </a:xfrm>
          <a:prstGeom prst="rect">
            <a:avLst/>
          </a:prstGeom>
          <a:noFill/>
        </p:spPr>
        <p:txBody>
          <a:bodyPr wrap="square" lIns="0" tIns="0" rIns="0" bIns="0">
            <a:spAutoFit/>
          </a:bodyPr>
          <a:lstStyle/>
          <a:p>
            <a:pPr>
              <a:lnSpc>
                <a:spcPct val="100000"/>
              </a:lnSpc>
            </a:pPr>
            <a:r>
              <a:rPr sz="1200" b="1">
                <a:solidFill>
                  <a:srgbClr val="161A2B"/>
                </a:solidFill>
                <a:latin typeface="Arial"/>
              </a:rPr>
              <a:t>Real-Time
Evaluator</a:t>
            </a:r>
          </a:p>
          <a:p>
            <a:pPr>
              <a:lnSpc>
                <a:spcPct val="105000"/>
              </a:lnSpc>
              <a:spcBef>
                <a:spcPts val="300"/>
              </a:spcBef>
            </a:pPr>
            <a:r>
              <a:rPr sz="1000">
                <a:solidFill>
                  <a:srgbClr val="4A4A4A"/>
                </a:solidFill>
                <a:latin typeface="Arial"/>
              </a:rPr>
              <a:t>Scores every answer /10 with
what was good, what was
missing, and the ideal answer.</a:t>
            </a:r>
          </a:p>
        </p:txBody>
      </p:sp>
      <p:sp>
        <p:nvSpPr>
          <p:cNvPr id="24" name="Right Arrow 23"/>
          <p:cNvSpPr/>
          <p:nvPr/>
        </p:nvSpPr>
        <p:spPr>
          <a:xfrm>
            <a:off x="8741664" y="3566160"/>
            <a:ext cx="164592" cy="274320"/>
          </a:xfrm>
          <a:prstGeom prst="rightArrow">
            <a:avLst/>
          </a:prstGeom>
          <a:solidFill>
            <a:srgbClr val="B8B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924544" y="2788920"/>
            <a:ext cx="2606040" cy="502920"/>
          </a:xfrm>
          <a:prstGeom prst="roundRect">
            <a:avLst>
              <a:gd name="adj" fmla="val 12000"/>
            </a:avLst>
          </a:prstGeom>
          <a:solidFill>
            <a:srgbClr val="24A148"/>
          </a:solidFill>
          <a:ln>
            <a:noFill/>
          </a:ln>
          <a:effectLst/>
        </p:spPr>
        <p:style>
          <a:lnRef idx="1">
            <a:schemeClr val="accent1"/>
          </a:lnRef>
          <a:fillRef idx="3">
            <a:schemeClr val="accent1"/>
          </a:fillRef>
          <a:effectRef idx="2">
            <a:schemeClr val="accent1"/>
          </a:effectRef>
          <a:fontRef idx="minor">
            <a:schemeClr val="lt1"/>
          </a:fontRef>
        </p:style>
        <p:txBody>
          <a:bodyPr wrap="square" lIns="76200" rIns="76200" rtlCol="0" anchor="ctr"/>
          <a:lstStyle/>
          <a:p>
            <a:pPr algn="ctr"/>
            <a:r>
              <a:rPr sz="1150" b="1">
                <a:solidFill>
                  <a:srgbClr val="FFFFFF"/>
                </a:solidFill>
                <a:latin typeface="Arial"/>
              </a:rPr>
              <a:t>STAGE 4</a:t>
            </a:r>
          </a:p>
        </p:txBody>
      </p:sp>
      <p:sp>
        <p:nvSpPr>
          <p:cNvPr id="26" name="Rounded Rectangle 25"/>
          <p:cNvSpPr/>
          <p:nvPr/>
        </p:nvSpPr>
        <p:spPr>
          <a:xfrm>
            <a:off x="8924544" y="3383280"/>
            <a:ext cx="2606040" cy="109728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924544" y="3383280"/>
            <a:ext cx="82296" cy="1097280"/>
          </a:xfrm>
          <a:prstGeom prst="roundRect">
            <a:avLst>
              <a:gd name="adj" fmla="val 50000"/>
            </a:avLst>
          </a:prstGeom>
          <a:solidFill>
            <a:srgbClr val="24A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25712" y="3493008"/>
            <a:ext cx="2203704" cy="896112"/>
          </a:xfrm>
          <a:prstGeom prst="rect">
            <a:avLst/>
          </a:prstGeom>
          <a:noFill/>
        </p:spPr>
        <p:txBody>
          <a:bodyPr wrap="square" lIns="0" tIns="0" rIns="0" bIns="0">
            <a:spAutoFit/>
          </a:bodyPr>
          <a:lstStyle/>
          <a:p>
            <a:pPr>
              <a:lnSpc>
                <a:spcPct val="100000"/>
              </a:lnSpc>
            </a:pPr>
            <a:r>
              <a:rPr sz="1200" b="1">
                <a:solidFill>
                  <a:srgbClr val="161A2B"/>
                </a:solidFill>
                <a:latin typeface="Arial"/>
              </a:rPr>
              <a:t>Report Card
Generator</a:t>
            </a:r>
          </a:p>
          <a:p>
            <a:pPr>
              <a:lnSpc>
                <a:spcPct val="105000"/>
              </a:lnSpc>
              <a:spcBef>
                <a:spcPts val="300"/>
              </a:spcBef>
            </a:pPr>
            <a:r>
              <a:rPr sz="1000">
                <a:solidFill>
                  <a:srgbClr val="4A4A4A"/>
                </a:solidFill>
                <a:latin typeface="Arial"/>
              </a:rPr>
              <a:t>Final scores, confidence growth,
resume alignment score &amp; a
7-day study roadmap.</a:t>
            </a:r>
          </a:p>
        </p:txBody>
      </p:sp>
      <p:sp>
        <p:nvSpPr>
          <p:cNvPr id="29" name="TextBox 28"/>
          <p:cNvSpPr txBox="1"/>
          <p:nvPr/>
        </p:nvSpPr>
        <p:spPr>
          <a:xfrm>
            <a:off x="502920" y="4892040"/>
            <a:ext cx="11155680" cy="1371600"/>
          </a:xfrm>
          <a:prstGeom prst="rect">
            <a:avLst/>
          </a:prstGeom>
          <a:noFill/>
        </p:spPr>
        <p:txBody>
          <a:bodyPr wrap="square" lIns="0" tIns="0" rIns="0" bIns="0" anchor="t">
            <a:spAutoFit/>
          </a:bodyPr>
          <a:lstStyle/>
          <a:p>
            <a:pPr algn="l">
              <a:lnSpc>
                <a:spcPct val="120000"/>
              </a:lnSpc>
            </a:pPr>
            <a:r>
              <a:rPr sz="1250" b="0" i="0">
                <a:solidFill>
                  <a:srgbClr val="4A4A4A"/>
                </a:solidFill>
                <a:latin typeface="Arial"/>
              </a:rPr>
              <a:t>The candidate interacts through a clean chat-based Streamlit interface, with optional voice input via the browser's Web Speech API. FastAPI orchestrates the conversation flow and prompt engineering, while IBM watsonx.ai handles model hosting and inference. IBM Bob (IBM's AI coding agent) was used throughout development to architect the backend, debug hallucination and token issues, build the voice + resume features, and optimise the codebase end-to-end.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5486400" cy="274320"/>
          </a:xfrm>
          <a:prstGeom prst="rect">
            <a:avLst/>
          </a:prstGeom>
          <a:noFill/>
        </p:spPr>
        <p:txBody>
          <a:bodyPr wrap="square" lIns="0" tIns="0" rIns="0" bIns="0" anchor="t">
            <a:spAutoFit/>
          </a:bodyPr>
          <a:lstStyle/>
          <a:p>
            <a:pPr algn="l">
              <a:lnSpc>
                <a:spcPct val="100000"/>
              </a:lnSpc>
            </a:pPr>
            <a:r>
              <a:rPr sz="1100" b="1" i="0">
                <a:solidFill>
                  <a:srgbClr val="0530AD"/>
                </a:solidFill>
                <a:latin typeface="Arial"/>
              </a:rPr>
              <a:t>UNDER THE HOOD</a:t>
            </a:r>
          </a:p>
        </p:txBody>
      </p:sp>
      <p:sp>
        <p:nvSpPr>
          <p:cNvPr id="4" name="TextBox 3"/>
          <p:cNvSpPr txBox="1"/>
          <p:nvPr/>
        </p:nvSpPr>
        <p:spPr>
          <a:xfrm>
            <a:off x="502920" y="502920"/>
            <a:ext cx="9601200" cy="640080"/>
          </a:xfrm>
          <a:prstGeom prst="rect">
            <a:avLst/>
          </a:prstGeom>
          <a:noFill/>
        </p:spPr>
        <p:txBody>
          <a:bodyPr wrap="square" lIns="0" tIns="0" rIns="0" bIns="0" anchor="t">
            <a:spAutoFit/>
          </a:bodyPr>
          <a:lstStyle/>
          <a:p>
            <a:pPr algn="l">
              <a:lnSpc>
                <a:spcPct val="100000"/>
              </a:lnSpc>
            </a:pPr>
            <a:r>
              <a:rPr sz="2800" b="1" i="0">
                <a:solidFill>
                  <a:srgbClr val="161A2B"/>
                </a:solidFill>
                <a:latin typeface="Arial"/>
              </a:rPr>
              <a:t>Technology Stack</a:t>
            </a:r>
          </a:p>
        </p:txBody>
      </p:sp>
      <p:sp>
        <p:nvSpPr>
          <p:cNvPr id="5" name="Rectangle 4"/>
          <p:cNvSpPr/>
          <p:nvPr/>
        </p:nvSpPr>
        <p:spPr>
          <a:xfrm>
            <a:off x="502920" y="1143000"/>
            <a:ext cx="1005840" cy="38100"/>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37960"/>
            <a:ext cx="5486400" cy="274320"/>
          </a:xfrm>
          <a:prstGeom prst="rect">
            <a:avLst/>
          </a:prstGeom>
          <a:noFill/>
        </p:spPr>
        <p:txBody>
          <a:bodyPr wrap="square" lIns="0" tIns="0" rIns="0" bIns="0" anchor="t">
            <a:spAutoFit/>
          </a:bodyPr>
          <a:lstStyle/>
          <a:p>
            <a:pPr algn="l">
              <a:lnSpc>
                <a:spcPct val="100000"/>
              </a:lnSpc>
            </a:pPr>
            <a:r>
              <a:rPr sz="800" b="0" i="0">
                <a:solidFill>
                  <a:srgbClr val="9A9A9A"/>
                </a:solidFill>
                <a:latin typeface="Arial"/>
              </a:rPr>
              <a:t>ARIA — AI Readiness Interview Agent</a:t>
            </a:r>
          </a:p>
        </p:txBody>
      </p:sp>
      <p:sp>
        <p:nvSpPr>
          <p:cNvPr id="7" name="TextBox 6"/>
          <p:cNvSpPr txBox="1"/>
          <p:nvPr/>
        </p:nvSpPr>
        <p:spPr>
          <a:xfrm>
            <a:off x="9601200" y="6537960"/>
            <a:ext cx="2103120" cy="274320"/>
          </a:xfrm>
          <a:prstGeom prst="rect">
            <a:avLst/>
          </a:prstGeom>
          <a:noFill/>
        </p:spPr>
        <p:txBody>
          <a:bodyPr wrap="square" lIns="0" tIns="0" rIns="0" bIns="0" anchor="t">
            <a:spAutoFit/>
          </a:bodyPr>
          <a:lstStyle/>
          <a:p>
            <a:pPr algn="r">
              <a:lnSpc>
                <a:spcPct val="100000"/>
              </a:lnSpc>
            </a:pPr>
            <a:r>
              <a:rPr sz="800" b="0" i="0">
                <a:solidFill>
                  <a:srgbClr val="9A9A9A"/>
                </a:solidFill>
                <a:latin typeface="Arial"/>
              </a:rPr>
              <a:t>IBM SkillsBuild × AICTE 2026   |   5/17</a:t>
            </a:r>
          </a:p>
        </p:txBody>
      </p:sp>
      <p:sp>
        <p:nvSpPr>
          <p:cNvPr id="8" name="Rounded Rectangle 7"/>
          <p:cNvSpPr/>
          <p:nvPr/>
        </p:nvSpPr>
        <p:spPr>
          <a:xfrm>
            <a:off x="502920" y="1463040"/>
            <a:ext cx="2659303" cy="141732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02920" y="1463040"/>
            <a:ext cx="82296" cy="1417320"/>
          </a:xfrm>
          <a:prstGeom prst="roundRect">
            <a:avLst>
              <a:gd name="adj" fmla="val 50000"/>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4088" y="1572768"/>
            <a:ext cx="2256967" cy="1216152"/>
          </a:xfrm>
          <a:prstGeom prst="rect">
            <a:avLst/>
          </a:prstGeom>
          <a:noFill/>
        </p:spPr>
        <p:txBody>
          <a:bodyPr wrap="square" lIns="0" tIns="0" rIns="0" bIns="0">
            <a:spAutoFit/>
          </a:bodyPr>
          <a:lstStyle/>
          <a:p>
            <a:pPr>
              <a:lnSpc>
                <a:spcPct val="100000"/>
              </a:lnSpc>
            </a:pPr>
            <a:r>
              <a:rPr sz="1200" b="1">
                <a:solidFill>
                  <a:srgbClr val="161A2B"/>
                </a:solidFill>
                <a:latin typeface="Arial"/>
              </a:rPr>
              <a:t>🧠  Meta Llama 3.3 70B Instruct</a:t>
            </a:r>
          </a:p>
          <a:p>
            <a:pPr>
              <a:lnSpc>
                <a:spcPct val="105000"/>
              </a:lnSpc>
              <a:spcBef>
                <a:spcPts val="300"/>
              </a:spcBef>
            </a:pPr>
            <a:r>
              <a:rPr sz="980">
                <a:solidFill>
                  <a:srgbClr val="4A4A4A"/>
                </a:solidFill>
                <a:latin typeface="Arial"/>
              </a:rPr>
              <a:t>Interview agent brain — question generation, real-time scoring, report card, via IBM watsonx.ai.</a:t>
            </a:r>
          </a:p>
        </p:txBody>
      </p:sp>
      <p:sp>
        <p:nvSpPr>
          <p:cNvPr id="11" name="Rounded Rectangle 10"/>
          <p:cNvSpPr/>
          <p:nvPr/>
        </p:nvSpPr>
        <p:spPr>
          <a:xfrm>
            <a:off x="3345103" y="1463040"/>
            <a:ext cx="2659303" cy="141732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345103" y="1463040"/>
            <a:ext cx="82296" cy="1417320"/>
          </a:xfrm>
          <a:prstGeom prst="roundRect">
            <a:avLst>
              <a:gd name="adj" fmla="val 50000"/>
            </a:avLst>
          </a:prstGeom>
          <a:solidFill>
            <a:srgbClr val="009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46271" y="1572768"/>
            <a:ext cx="2256967" cy="1216152"/>
          </a:xfrm>
          <a:prstGeom prst="rect">
            <a:avLst/>
          </a:prstGeom>
          <a:noFill/>
        </p:spPr>
        <p:txBody>
          <a:bodyPr wrap="square" lIns="0" tIns="0" rIns="0" bIns="0">
            <a:spAutoFit/>
          </a:bodyPr>
          <a:lstStyle/>
          <a:p>
            <a:pPr>
              <a:lnSpc>
                <a:spcPct val="100000"/>
              </a:lnSpc>
            </a:pPr>
            <a:r>
              <a:rPr sz="1200" b="1">
                <a:solidFill>
                  <a:srgbClr val="161A2B"/>
                </a:solidFill>
                <a:latin typeface="Arial"/>
              </a:rPr>
              <a:t>☁️  IBM watsonx.ai</a:t>
            </a:r>
          </a:p>
          <a:p>
            <a:pPr>
              <a:lnSpc>
                <a:spcPct val="105000"/>
              </a:lnSpc>
              <a:spcBef>
                <a:spcPts val="300"/>
              </a:spcBef>
            </a:pPr>
            <a:r>
              <a:rPr sz="980">
                <a:solidFill>
                  <a:srgbClr val="4A4A4A"/>
                </a:solidFill>
                <a:latin typeface="Arial"/>
              </a:rPr>
              <a:t>Hosted inference platform. Chat Completion API, project management, token usage tracking.</a:t>
            </a:r>
          </a:p>
        </p:txBody>
      </p:sp>
      <p:sp>
        <p:nvSpPr>
          <p:cNvPr id="14" name="Rounded Rectangle 13"/>
          <p:cNvSpPr/>
          <p:nvPr/>
        </p:nvSpPr>
        <p:spPr>
          <a:xfrm>
            <a:off x="6187287" y="1463040"/>
            <a:ext cx="2659303" cy="141732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187287" y="1463040"/>
            <a:ext cx="82296" cy="1417320"/>
          </a:xfrm>
          <a:prstGeom prst="roundRect">
            <a:avLst>
              <a:gd name="adj" fmla="val 50000"/>
            </a:avLst>
          </a:prstGeom>
          <a:solidFill>
            <a:srgbClr val="F1A5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88455" y="1572768"/>
            <a:ext cx="2256967" cy="1216152"/>
          </a:xfrm>
          <a:prstGeom prst="rect">
            <a:avLst/>
          </a:prstGeom>
          <a:noFill/>
        </p:spPr>
        <p:txBody>
          <a:bodyPr wrap="square" lIns="0" tIns="0" rIns="0" bIns="0">
            <a:spAutoFit/>
          </a:bodyPr>
          <a:lstStyle/>
          <a:p>
            <a:pPr>
              <a:lnSpc>
                <a:spcPct val="100000"/>
              </a:lnSpc>
            </a:pPr>
            <a:r>
              <a:rPr sz="1200" b="1">
                <a:solidFill>
                  <a:srgbClr val="161A2B"/>
                </a:solidFill>
                <a:latin typeface="Arial"/>
              </a:rPr>
              <a:t>⚙️  FastAPI + Uvicorn</a:t>
            </a:r>
          </a:p>
          <a:p>
            <a:pPr>
              <a:lnSpc>
                <a:spcPct val="105000"/>
              </a:lnSpc>
              <a:spcBef>
                <a:spcPts val="300"/>
              </a:spcBef>
            </a:pPr>
            <a:r>
              <a:rPr sz="980">
                <a:solidFill>
                  <a:srgbClr val="4A4A4A"/>
                </a:solidFill>
                <a:latin typeface="Arial"/>
              </a:rPr>
              <a:t>REST backend — session management, resume parsing, prompt engineering.</a:t>
            </a:r>
          </a:p>
        </p:txBody>
      </p:sp>
      <p:sp>
        <p:nvSpPr>
          <p:cNvPr id="17" name="Rounded Rectangle 16"/>
          <p:cNvSpPr/>
          <p:nvPr/>
        </p:nvSpPr>
        <p:spPr>
          <a:xfrm>
            <a:off x="9029471" y="1463040"/>
            <a:ext cx="2659303" cy="141732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029471" y="1463040"/>
            <a:ext cx="82296" cy="1417320"/>
          </a:xfrm>
          <a:prstGeom prst="roundRect">
            <a:avLst>
              <a:gd name="adj" fmla="val 50000"/>
            </a:avLst>
          </a:prstGeom>
          <a:solidFill>
            <a:srgbClr val="24A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30639" y="1572768"/>
            <a:ext cx="2256967" cy="1216152"/>
          </a:xfrm>
          <a:prstGeom prst="rect">
            <a:avLst/>
          </a:prstGeom>
          <a:noFill/>
        </p:spPr>
        <p:txBody>
          <a:bodyPr wrap="square" lIns="0" tIns="0" rIns="0" bIns="0">
            <a:spAutoFit/>
          </a:bodyPr>
          <a:lstStyle/>
          <a:p>
            <a:pPr>
              <a:lnSpc>
                <a:spcPct val="100000"/>
              </a:lnSpc>
            </a:pPr>
            <a:r>
              <a:rPr sz="1200" b="1">
                <a:solidFill>
                  <a:srgbClr val="161A2B"/>
                </a:solidFill>
                <a:latin typeface="Arial"/>
              </a:rPr>
              <a:t>💬  Streamlit</a:t>
            </a:r>
          </a:p>
          <a:p>
            <a:pPr>
              <a:lnSpc>
                <a:spcPct val="105000"/>
              </a:lnSpc>
              <a:spcBef>
                <a:spcPts val="300"/>
              </a:spcBef>
            </a:pPr>
            <a:r>
              <a:rPr sz="980">
                <a:solidFill>
                  <a:srgbClr val="4A4A4A"/>
                </a:solidFill>
                <a:latin typeface="Arial"/>
              </a:rPr>
              <a:t>Chat UI, sidebar controls, voice widget &amp; resume uploader — real-time display.</a:t>
            </a:r>
          </a:p>
        </p:txBody>
      </p:sp>
      <p:sp>
        <p:nvSpPr>
          <p:cNvPr id="20" name="Rounded Rectangle 19"/>
          <p:cNvSpPr/>
          <p:nvPr/>
        </p:nvSpPr>
        <p:spPr>
          <a:xfrm>
            <a:off x="502920" y="3063240"/>
            <a:ext cx="2659303" cy="141732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02920" y="3063240"/>
            <a:ext cx="82296" cy="1417320"/>
          </a:xfrm>
          <a:prstGeom prst="roundRect">
            <a:avLst>
              <a:gd name="adj" fmla="val 50000"/>
            </a:avLst>
          </a:prstGeom>
          <a:solidFill>
            <a:srgbClr val="8A3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4088" y="3172968"/>
            <a:ext cx="2256967" cy="1216152"/>
          </a:xfrm>
          <a:prstGeom prst="rect">
            <a:avLst/>
          </a:prstGeom>
          <a:noFill/>
        </p:spPr>
        <p:txBody>
          <a:bodyPr wrap="square" lIns="0" tIns="0" rIns="0" bIns="0">
            <a:spAutoFit/>
          </a:bodyPr>
          <a:lstStyle/>
          <a:p>
            <a:pPr>
              <a:lnSpc>
                <a:spcPct val="100000"/>
              </a:lnSpc>
            </a:pPr>
            <a:r>
              <a:rPr sz="1200" b="1">
                <a:solidFill>
                  <a:srgbClr val="161A2B"/>
                </a:solidFill>
                <a:latin typeface="Arial"/>
              </a:rPr>
              <a:t>🎙️  Browser Web Speech API</a:t>
            </a:r>
          </a:p>
          <a:p>
            <a:pPr>
              <a:lnSpc>
                <a:spcPct val="105000"/>
              </a:lnSpc>
              <a:spcBef>
                <a:spcPts val="300"/>
              </a:spcBef>
            </a:pPr>
            <a:r>
              <a:rPr sz="980">
                <a:solidFill>
                  <a:srgbClr val="4A4A4A"/>
                </a:solidFill>
                <a:latin typeface="Arial"/>
              </a:rPr>
              <a:t>Microphone-to-text voice input — zero external dependencies, native Chrome/Edge.</a:t>
            </a:r>
          </a:p>
        </p:txBody>
      </p:sp>
      <p:sp>
        <p:nvSpPr>
          <p:cNvPr id="23" name="Rounded Rectangle 22"/>
          <p:cNvSpPr/>
          <p:nvPr/>
        </p:nvSpPr>
        <p:spPr>
          <a:xfrm>
            <a:off x="3345103" y="3063240"/>
            <a:ext cx="2659303" cy="141732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3345103" y="3063240"/>
            <a:ext cx="82296" cy="1417320"/>
          </a:xfrm>
          <a:prstGeom prst="roundRect">
            <a:avLst>
              <a:gd name="adj" fmla="val 50000"/>
            </a:avLst>
          </a:prstGeom>
          <a:solidFill>
            <a:srgbClr val="D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546271" y="3172968"/>
            <a:ext cx="2256967" cy="1216152"/>
          </a:xfrm>
          <a:prstGeom prst="rect">
            <a:avLst/>
          </a:prstGeom>
          <a:noFill/>
        </p:spPr>
        <p:txBody>
          <a:bodyPr wrap="square" lIns="0" tIns="0" rIns="0" bIns="0">
            <a:spAutoFit/>
          </a:bodyPr>
          <a:lstStyle/>
          <a:p>
            <a:pPr>
              <a:lnSpc>
                <a:spcPct val="100000"/>
              </a:lnSpc>
            </a:pPr>
            <a:r>
              <a:rPr sz="1200" b="1">
                <a:solidFill>
                  <a:srgbClr val="161A2B"/>
                </a:solidFill>
                <a:latin typeface="Arial"/>
              </a:rPr>
              <a:t>📄  PyMuPDF + python-docx</a:t>
            </a:r>
          </a:p>
          <a:p>
            <a:pPr>
              <a:lnSpc>
                <a:spcPct val="105000"/>
              </a:lnSpc>
              <a:spcBef>
                <a:spcPts val="300"/>
              </a:spcBef>
            </a:pPr>
            <a:r>
              <a:rPr sz="980">
                <a:solidFill>
                  <a:srgbClr val="4A4A4A"/>
                </a:solidFill>
                <a:latin typeface="Arial"/>
              </a:rPr>
              <a:t>Server-side resume text extraction from PDF and DOCX files.</a:t>
            </a:r>
          </a:p>
        </p:txBody>
      </p:sp>
      <p:sp>
        <p:nvSpPr>
          <p:cNvPr id="26" name="Rounded Rectangle 25"/>
          <p:cNvSpPr/>
          <p:nvPr/>
        </p:nvSpPr>
        <p:spPr>
          <a:xfrm>
            <a:off x="6187287" y="3063240"/>
            <a:ext cx="2659303" cy="141732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187287" y="3063240"/>
            <a:ext cx="82296" cy="1417320"/>
          </a:xfrm>
          <a:prstGeom prst="roundRect">
            <a:avLst>
              <a:gd name="adj" fmla="val 50000"/>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88455" y="3172968"/>
            <a:ext cx="2256967" cy="1216152"/>
          </a:xfrm>
          <a:prstGeom prst="rect">
            <a:avLst/>
          </a:prstGeom>
          <a:noFill/>
        </p:spPr>
        <p:txBody>
          <a:bodyPr wrap="square" lIns="0" tIns="0" rIns="0" bIns="0">
            <a:spAutoFit/>
          </a:bodyPr>
          <a:lstStyle/>
          <a:p>
            <a:pPr>
              <a:lnSpc>
                <a:spcPct val="100000"/>
              </a:lnSpc>
            </a:pPr>
            <a:r>
              <a:rPr sz="1200" b="1">
                <a:solidFill>
                  <a:srgbClr val="161A2B"/>
                </a:solidFill>
                <a:latin typeface="Arial"/>
              </a:rPr>
              <a:t>🔌  ibm-watsonx-ai SDK</a:t>
            </a:r>
          </a:p>
          <a:p>
            <a:pPr>
              <a:lnSpc>
                <a:spcPct val="105000"/>
              </a:lnSpc>
              <a:spcBef>
                <a:spcPts val="300"/>
              </a:spcBef>
            </a:pPr>
            <a:r>
              <a:rPr sz="980">
                <a:solidFill>
                  <a:srgbClr val="4A4A4A"/>
                </a:solidFill>
                <a:latin typeface="Arial"/>
              </a:rPr>
              <a:t>Official Python SDK for ModelInference, chat completion calls &amp; credentials.</a:t>
            </a:r>
          </a:p>
        </p:txBody>
      </p:sp>
      <p:sp>
        <p:nvSpPr>
          <p:cNvPr id="29" name="Rounded Rectangle 28"/>
          <p:cNvSpPr/>
          <p:nvPr/>
        </p:nvSpPr>
        <p:spPr>
          <a:xfrm>
            <a:off x="9029471" y="3063240"/>
            <a:ext cx="2659303" cy="141732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9029471" y="3063240"/>
            <a:ext cx="82296" cy="1417320"/>
          </a:xfrm>
          <a:prstGeom prst="roundRect">
            <a:avLst>
              <a:gd name="adj" fmla="val 50000"/>
            </a:avLst>
          </a:prstGeom>
          <a:solidFill>
            <a:srgbClr val="009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230639" y="3172968"/>
            <a:ext cx="2256967" cy="1216152"/>
          </a:xfrm>
          <a:prstGeom prst="rect">
            <a:avLst/>
          </a:prstGeom>
          <a:noFill/>
        </p:spPr>
        <p:txBody>
          <a:bodyPr wrap="square" lIns="0" tIns="0" rIns="0" bIns="0">
            <a:spAutoFit/>
          </a:bodyPr>
          <a:lstStyle/>
          <a:p>
            <a:pPr>
              <a:lnSpc>
                <a:spcPct val="100000"/>
              </a:lnSpc>
            </a:pPr>
            <a:r>
              <a:rPr sz="1200" b="1">
                <a:solidFill>
                  <a:srgbClr val="161A2B"/>
                </a:solidFill>
                <a:latin typeface="Arial"/>
              </a:rPr>
              <a:t>🐍  Python 3.10+</a:t>
            </a:r>
          </a:p>
          <a:p>
            <a:pPr>
              <a:lnSpc>
                <a:spcPct val="105000"/>
              </a:lnSpc>
              <a:spcBef>
                <a:spcPts val="300"/>
              </a:spcBef>
            </a:pPr>
            <a:r>
              <a:rPr sz="980">
                <a:solidFill>
                  <a:srgbClr val="4A4A4A"/>
                </a:solidFill>
                <a:latin typeface="Arial"/>
              </a:rPr>
              <a:t>Core language across the entire backend and frontend.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5486400" cy="274320"/>
          </a:xfrm>
          <a:prstGeom prst="rect">
            <a:avLst/>
          </a:prstGeom>
          <a:noFill/>
        </p:spPr>
        <p:txBody>
          <a:bodyPr wrap="square" lIns="0" tIns="0" rIns="0" bIns="0" anchor="t">
            <a:spAutoFit/>
          </a:bodyPr>
          <a:lstStyle/>
          <a:p>
            <a:pPr algn="l">
              <a:lnSpc>
                <a:spcPct val="100000"/>
              </a:lnSpc>
            </a:pPr>
            <a:r>
              <a:rPr sz="1100" b="1" i="0">
                <a:solidFill>
                  <a:srgbClr val="0530AD"/>
                </a:solidFill>
                <a:latin typeface="Arial"/>
              </a:rPr>
              <a:t>WHAT ARIA DOES</a:t>
            </a:r>
          </a:p>
        </p:txBody>
      </p:sp>
      <p:sp>
        <p:nvSpPr>
          <p:cNvPr id="4" name="TextBox 3"/>
          <p:cNvSpPr txBox="1"/>
          <p:nvPr/>
        </p:nvSpPr>
        <p:spPr>
          <a:xfrm>
            <a:off x="502920" y="502920"/>
            <a:ext cx="9601200" cy="640080"/>
          </a:xfrm>
          <a:prstGeom prst="rect">
            <a:avLst/>
          </a:prstGeom>
          <a:noFill/>
        </p:spPr>
        <p:txBody>
          <a:bodyPr wrap="square" lIns="0" tIns="0" rIns="0" bIns="0" anchor="t">
            <a:spAutoFit/>
          </a:bodyPr>
          <a:lstStyle/>
          <a:p>
            <a:pPr algn="l">
              <a:lnSpc>
                <a:spcPct val="100000"/>
              </a:lnSpc>
            </a:pPr>
            <a:r>
              <a:rPr sz="2800" b="1" i="0">
                <a:solidFill>
                  <a:srgbClr val="161A2B"/>
                </a:solidFill>
                <a:latin typeface="Arial"/>
              </a:rPr>
              <a:t>Key Features</a:t>
            </a:r>
          </a:p>
        </p:txBody>
      </p:sp>
      <p:sp>
        <p:nvSpPr>
          <p:cNvPr id="5" name="Rectangle 4"/>
          <p:cNvSpPr/>
          <p:nvPr/>
        </p:nvSpPr>
        <p:spPr>
          <a:xfrm>
            <a:off x="502920" y="1143000"/>
            <a:ext cx="1005840" cy="38100"/>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37960"/>
            <a:ext cx="5486400" cy="274320"/>
          </a:xfrm>
          <a:prstGeom prst="rect">
            <a:avLst/>
          </a:prstGeom>
          <a:noFill/>
        </p:spPr>
        <p:txBody>
          <a:bodyPr wrap="square" lIns="0" tIns="0" rIns="0" bIns="0" anchor="t">
            <a:spAutoFit/>
          </a:bodyPr>
          <a:lstStyle/>
          <a:p>
            <a:pPr algn="l">
              <a:lnSpc>
                <a:spcPct val="100000"/>
              </a:lnSpc>
            </a:pPr>
            <a:r>
              <a:rPr sz="800" b="0" i="0">
                <a:solidFill>
                  <a:srgbClr val="9A9A9A"/>
                </a:solidFill>
                <a:latin typeface="Arial"/>
              </a:rPr>
              <a:t>ARIA — AI Readiness Interview Agent</a:t>
            </a:r>
          </a:p>
        </p:txBody>
      </p:sp>
      <p:sp>
        <p:nvSpPr>
          <p:cNvPr id="7" name="TextBox 6"/>
          <p:cNvSpPr txBox="1"/>
          <p:nvPr/>
        </p:nvSpPr>
        <p:spPr>
          <a:xfrm>
            <a:off x="9601200" y="6537960"/>
            <a:ext cx="2103120" cy="274320"/>
          </a:xfrm>
          <a:prstGeom prst="rect">
            <a:avLst/>
          </a:prstGeom>
          <a:noFill/>
        </p:spPr>
        <p:txBody>
          <a:bodyPr wrap="square" lIns="0" tIns="0" rIns="0" bIns="0" anchor="t">
            <a:spAutoFit/>
          </a:bodyPr>
          <a:lstStyle/>
          <a:p>
            <a:pPr algn="r">
              <a:lnSpc>
                <a:spcPct val="100000"/>
              </a:lnSpc>
            </a:pPr>
            <a:r>
              <a:rPr sz="800" b="0" i="0">
                <a:solidFill>
                  <a:srgbClr val="9A9A9A"/>
                </a:solidFill>
                <a:latin typeface="Arial"/>
              </a:rPr>
              <a:t>IBM SkillsBuild × AICTE 2026   |   6/17</a:t>
            </a:r>
          </a:p>
        </p:txBody>
      </p:sp>
      <p:sp>
        <p:nvSpPr>
          <p:cNvPr id="8" name="Rounded Rectangle 7"/>
          <p:cNvSpPr/>
          <p:nvPr/>
        </p:nvSpPr>
        <p:spPr>
          <a:xfrm>
            <a:off x="502920" y="1463040"/>
            <a:ext cx="3606698" cy="141732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02920" y="1463040"/>
            <a:ext cx="82296" cy="1417320"/>
          </a:xfrm>
          <a:prstGeom prst="roundRect">
            <a:avLst>
              <a:gd name="adj" fmla="val 50000"/>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4088" y="1572768"/>
            <a:ext cx="3204362" cy="1216152"/>
          </a:xfrm>
          <a:prstGeom prst="rect">
            <a:avLst/>
          </a:prstGeom>
          <a:noFill/>
        </p:spPr>
        <p:txBody>
          <a:bodyPr wrap="square" lIns="0" tIns="0" rIns="0" bIns="0">
            <a:spAutoFit/>
          </a:bodyPr>
          <a:lstStyle/>
          <a:p>
            <a:pPr>
              <a:lnSpc>
                <a:spcPct val="100000"/>
              </a:lnSpc>
            </a:pPr>
            <a:r>
              <a:rPr sz="1300" b="1">
                <a:solidFill>
                  <a:srgbClr val="161A2B"/>
                </a:solidFill>
                <a:latin typeface="Arial"/>
              </a:rPr>
              <a:t>🎯  Role-Based Questions</a:t>
            </a:r>
          </a:p>
          <a:p>
            <a:pPr>
              <a:lnSpc>
                <a:spcPct val="105000"/>
              </a:lnSpc>
              <a:spcBef>
                <a:spcPts val="300"/>
              </a:spcBef>
            </a:pPr>
            <a:r>
              <a:rPr sz="1050">
                <a:solidFill>
                  <a:srgbClr val="4A4A4A"/>
                </a:solidFill>
                <a:latin typeface="Arial"/>
              </a:rPr>
              <a:t>Tailored questions for any IT role and target company.</a:t>
            </a:r>
          </a:p>
        </p:txBody>
      </p:sp>
      <p:sp>
        <p:nvSpPr>
          <p:cNvPr id="11" name="Rounded Rectangle 10"/>
          <p:cNvSpPr/>
          <p:nvPr/>
        </p:nvSpPr>
        <p:spPr>
          <a:xfrm>
            <a:off x="4292498" y="1463040"/>
            <a:ext cx="3606698" cy="141732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292498" y="1463040"/>
            <a:ext cx="82296" cy="1417320"/>
          </a:xfrm>
          <a:prstGeom prst="roundRect">
            <a:avLst>
              <a:gd name="adj" fmla="val 50000"/>
            </a:avLst>
          </a:prstGeom>
          <a:solidFill>
            <a:srgbClr val="009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93666" y="1572768"/>
            <a:ext cx="3204362" cy="1216152"/>
          </a:xfrm>
          <a:prstGeom prst="rect">
            <a:avLst/>
          </a:prstGeom>
          <a:noFill/>
        </p:spPr>
        <p:txBody>
          <a:bodyPr wrap="square" lIns="0" tIns="0" rIns="0" bIns="0">
            <a:spAutoFit/>
          </a:bodyPr>
          <a:lstStyle/>
          <a:p>
            <a:pPr>
              <a:lnSpc>
                <a:spcPct val="100000"/>
              </a:lnSpc>
            </a:pPr>
            <a:r>
              <a:rPr sz="1300" b="1">
                <a:solidFill>
                  <a:srgbClr val="161A2B"/>
                </a:solidFill>
                <a:latin typeface="Arial"/>
              </a:rPr>
              <a:t>📄  Resume-Aware Interviews</a:t>
            </a:r>
          </a:p>
          <a:p>
            <a:pPr>
              <a:lnSpc>
                <a:spcPct val="105000"/>
              </a:lnSpc>
              <a:spcBef>
                <a:spcPts val="300"/>
              </a:spcBef>
            </a:pPr>
            <a:r>
              <a:rPr sz="1050">
                <a:solidFill>
                  <a:srgbClr val="4A4A4A"/>
                </a:solidFill>
                <a:latin typeface="Arial"/>
              </a:rPr>
              <a:t>Upload PDF/DOCX/TXT — ARIA asks about your real projects &amp; achievements.</a:t>
            </a:r>
          </a:p>
        </p:txBody>
      </p:sp>
      <p:sp>
        <p:nvSpPr>
          <p:cNvPr id="14" name="Rounded Rectangle 13"/>
          <p:cNvSpPr/>
          <p:nvPr/>
        </p:nvSpPr>
        <p:spPr>
          <a:xfrm>
            <a:off x="8082076" y="1463040"/>
            <a:ext cx="3606698" cy="141732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082076" y="1463040"/>
            <a:ext cx="82296" cy="1417320"/>
          </a:xfrm>
          <a:prstGeom prst="roundRect">
            <a:avLst>
              <a:gd name="adj" fmla="val 50000"/>
            </a:avLst>
          </a:prstGeom>
          <a:solidFill>
            <a:srgbClr val="F1A5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83244" y="1572768"/>
            <a:ext cx="3204362" cy="1216152"/>
          </a:xfrm>
          <a:prstGeom prst="rect">
            <a:avLst/>
          </a:prstGeom>
          <a:noFill/>
        </p:spPr>
        <p:txBody>
          <a:bodyPr wrap="square" lIns="0" tIns="0" rIns="0" bIns="0">
            <a:spAutoFit/>
          </a:bodyPr>
          <a:lstStyle/>
          <a:p>
            <a:pPr>
              <a:lnSpc>
                <a:spcPct val="100000"/>
              </a:lnSpc>
            </a:pPr>
            <a:r>
              <a:rPr sz="1300" b="1">
                <a:solidFill>
                  <a:srgbClr val="161A2B"/>
                </a:solidFill>
                <a:latin typeface="Arial"/>
              </a:rPr>
              <a:t>📊  Real-Time Evaluation</a:t>
            </a:r>
          </a:p>
          <a:p>
            <a:pPr>
              <a:lnSpc>
                <a:spcPct val="105000"/>
              </a:lnSpc>
              <a:spcBef>
                <a:spcPts val="300"/>
              </a:spcBef>
            </a:pPr>
            <a:r>
              <a:rPr sz="1050">
                <a:solidFill>
                  <a:srgbClr val="4A4A4A"/>
                </a:solidFill>
                <a:latin typeface="Arial"/>
              </a:rPr>
              <a:t>Score (X/10) + concise feedback after every single answer.</a:t>
            </a:r>
          </a:p>
        </p:txBody>
      </p:sp>
      <p:sp>
        <p:nvSpPr>
          <p:cNvPr id="17" name="Rounded Rectangle 16"/>
          <p:cNvSpPr/>
          <p:nvPr/>
        </p:nvSpPr>
        <p:spPr>
          <a:xfrm>
            <a:off x="502920" y="3063240"/>
            <a:ext cx="3606698" cy="141732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02920" y="3063240"/>
            <a:ext cx="82296" cy="1417320"/>
          </a:xfrm>
          <a:prstGeom prst="roundRect">
            <a:avLst>
              <a:gd name="adj" fmla="val 50000"/>
            </a:avLst>
          </a:prstGeom>
          <a:solidFill>
            <a:srgbClr val="24A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04088" y="3172968"/>
            <a:ext cx="3204362" cy="1216152"/>
          </a:xfrm>
          <a:prstGeom prst="rect">
            <a:avLst/>
          </a:prstGeom>
          <a:noFill/>
        </p:spPr>
        <p:txBody>
          <a:bodyPr wrap="square" lIns="0" tIns="0" rIns="0" bIns="0">
            <a:spAutoFit/>
          </a:bodyPr>
          <a:lstStyle/>
          <a:p>
            <a:pPr>
              <a:lnSpc>
                <a:spcPct val="100000"/>
              </a:lnSpc>
            </a:pPr>
            <a:r>
              <a:rPr sz="1300" b="1">
                <a:solidFill>
                  <a:srgbClr val="161A2B"/>
                </a:solidFill>
                <a:latin typeface="Arial"/>
              </a:rPr>
              <a:t>💡  Confidence Tracking</a:t>
            </a:r>
          </a:p>
          <a:p>
            <a:pPr>
              <a:lnSpc>
                <a:spcPct val="105000"/>
              </a:lnSpc>
              <a:spcBef>
                <a:spcPts val="300"/>
              </a:spcBef>
            </a:pPr>
            <a:r>
              <a:rPr sz="1050">
                <a:solidFill>
                  <a:srgbClr val="4A4A4A"/>
                </a:solidFill>
                <a:latin typeface="Arial"/>
              </a:rPr>
              <a:t>Measures confidence growth from start to finish.</a:t>
            </a:r>
          </a:p>
        </p:txBody>
      </p:sp>
      <p:sp>
        <p:nvSpPr>
          <p:cNvPr id="20" name="Rounded Rectangle 19"/>
          <p:cNvSpPr/>
          <p:nvPr/>
        </p:nvSpPr>
        <p:spPr>
          <a:xfrm>
            <a:off x="4292498" y="3063240"/>
            <a:ext cx="3606698" cy="141732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292498" y="3063240"/>
            <a:ext cx="82296" cy="1417320"/>
          </a:xfrm>
          <a:prstGeom prst="roundRect">
            <a:avLst>
              <a:gd name="adj" fmla="val 50000"/>
            </a:avLst>
          </a:prstGeom>
          <a:solidFill>
            <a:srgbClr val="8A3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93666" y="3172968"/>
            <a:ext cx="3204362" cy="1216152"/>
          </a:xfrm>
          <a:prstGeom prst="rect">
            <a:avLst/>
          </a:prstGeom>
          <a:noFill/>
        </p:spPr>
        <p:txBody>
          <a:bodyPr wrap="square" lIns="0" tIns="0" rIns="0" bIns="0">
            <a:spAutoFit/>
          </a:bodyPr>
          <a:lstStyle/>
          <a:p>
            <a:pPr>
              <a:lnSpc>
                <a:spcPct val="100000"/>
              </a:lnSpc>
            </a:pPr>
            <a:r>
              <a:rPr sz="1300" b="1">
                <a:solidFill>
                  <a:srgbClr val="161A2B"/>
                </a:solidFill>
                <a:latin typeface="Arial"/>
              </a:rPr>
              <a:t>📈  Adaptive Difficulty</a:t>
            </a:r>
          </a:p>
          <a:p>
            <a:pPr>
              <a:lnSpc>
                <a:spcPct val="105000"/>
              </a:lnSpc>
              <a:spcBef>
                <a:spcPts val="300"/>
              </a:spcBef>
            </a:pPr>
            <a:r>
              <a:rPr sz="1050">
                <a:solidFill>
                  <a:srgbClr val="4A4A4A"/>
                </a:solidFill>
                <a:latin typeface="Arial"/>
              </a:rPr>
              <a:t>Questions get progressively harder as you perform better.</a:t>
            </a:r>
          </a:p>
        </p:txBody>
      </p:sp>
      <p:sp>
        <p:nvSpPr>
          <p:cNvPr id="23" name="Rounded Rectangle 22"/>
          <p:cNvSpPr/>
          <p:nvPr/>
        </p:nvSpPr>
        <p:spPr>
          <a:xfrm>
            <a:off x="8082076" y="3063240"/>
            <a:ext cx="3606698" cy="141732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8082076" y="3063240"/>
            <a:ext cx="82296" cy="1417320"/>
          </a:xfrm>
          <a:prstGeom prst="roundRect">
            <a:avLst>
              <a:gd name="adj" fmla="val 50000"/>
            </a:avLst>
          </a:prstGeom>
          <a:solidFill>
            <a:srgbClr val="D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83244" y="3172968"/>
            <a:ext cx="3204362" cy="1216152"/>
          </a:xfrm>
          <a:prstGeom prst="rect">
            <a:avLst/>
          </a:prstGeom>
          <a:noFill/>
        </p:spPr>
        <p:txBody>
          <a:bodyPr wrap="square" lIns="0" tIns="0" rIns="0" bIns="0">
            <a:spAutoFit/>
          </a:bodyPr>
          <a:lstStyle/>
          <a:p>
            <a:pPr>
              <a:lnSpc>
                <a:spcPct val="100000"/>
              </a:lnSpc>
            </a:pPr>
            <a:r>
              <a:rPr sz="1300" b="1">
                <a:solidFill>
                  <a:srgbClr val="161A2B"/>
                </a:solidFill>
                <a:latin typeface="Arial"/>
              </a:rPr>
              <a:t>🎙️  Voice Input</a:t>
            </a:r>
          </a:p>
          <a:p>
            <a:pPr>
              <a:lnSpc>
                <a:spcPct val="105000"/>
              </a:lnSpc>
              <a:spcBef>
                <a:spcPts val="300"/>
              </a:spcBef>
            </a:pPr>
            <a:r>
              <a:rPr sz="1050">
                <a:solidFill>
                  <a:srgbClr val="4A4A4A"/>
                </a:solidFill>
                <a:latin typeface="Arial"/>
              </a:rPr>
              <a:t>Speak your answers using your microphone — Chrome/Edge.</a:t>
            </a:r>
          </a:p>
        </p:txBody>
      </p:sp>
      <p:sp>
        <p:nvSpPr>
          <p:cNvPr id="26" name="Rounded Rectangle 25"/>
          <p:cNvSpPr/>
          <p:nvPr/>
        </p:nvSpPr>
        <p:spPr>
          <a:xfrm>
            <a:off x="502920" y="4663440"/>
            <a:ext cx="3606698" cy="141732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502920" y="4663440"/>
            <a:ext cx="82296" cy="1417320"/>
          </a:xfrm>
          <a:prstGeom prst="roundRect">
            <a:avLst>
              <a:gd name="adj" fmla="val 50000"/>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04088" y="4773168"/>
            <a:ext cx="3204362" cy="1216152"/>
          </a:xfrm>
          <a:prstGeom prst="rect">
            <a:avLst/>
          </a:prstGeom>
          <a:noFill/>
        </p:spPr>
        <p:txBody>
          <a:bodyPr wrap="square" lIns="0" tIns="0" rIns="0" bIns="0">
            <a:spAutoFit/>
          </a:bodyPr>
          <a:lstStyle/>
          <a:p>
            <a:pPr>
              <a:lnSpc>
                <a:spcPct val="100000"/>
              </a:lnSpc>
            </a:pPr>
            <a:r>
              <a:rPr sz="1300" b="1">
                <a:solidFill>
                  <a:srgbClr val="161A2B"/>
                </a:solidFill>
                <a:latin typeface="Arial"/>
              </a:rPr>
              <a:t>📋  Final Report Card</a:t>
            </a:r>
          </a:p>
          <a:p>
            <a:pPr>
              <a:lnSpc>
                <a:spcPct val="105000"/>
              </a:lnSpc>
              <a:spcBef>
                <a:spcPts val="300"/>
              </a:spcBef>
            </a:pPr>
            <a:r>
              <a:rPr sz="1050">
                <a:solidFill>
                  <a:srgbClr val="4A4A4A"/>
                </a:solidFill>
                <a:latin typeface="Arial"/>
              </a:rPr>
              <a:t>Scores, strengths, improvement areas + Resume Alignment score.</a:t>
            </a:r>
          </a:p>
        </p:txBody>
      </p:sp>
      <p:sp>
        <p:nvSpPr>
          <p:cNvPr id="29" name="Rounded Rectangle 28"/>
          <p:cNvSpPr/>
          <p:nvPr/>
        </p:nvSpPr>
        <p:spPr>
          <a:xfrm>
            <a:off x="4292498" y="4663440"/>
            <a:ext cx="3606698" cy="141732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4292498" y="4663440"/>
            <a:ext cx="82296" cy="1417320"/>
          </a:xfrm>
          <a:prstGeom prst="roundRect">
            <a:avLst>
              <a:gd name="adj" fmla="val 50000"/>
            </a:avLst>
          </a:prstGeom>
          <a:solidFill>
            <a:srgbClr val="009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93666" y="4773168"/>
            <a:ext cx="3204362" cy="1216152"/>
          </a:xfrm>
          <a:prstGeom prst="rect">
            <a:avLst/>
          </a:prstGeom>
          <a:noFill/>
        </p:spPr>
        <p:txBody>
          <a:bodyPr wrap="square" lIns="0" tIns="0" rIns="0" bIns="0">
            <a:spAutoFit/>
          </a:bodyPr>
          <a:lstStyle/>
          <a:p>
            <a:pPr>
              <a:lnSpc>
                <a:spcPct val="100000"/>
              </a:lnSpc>
            </a:pPr>
            <a:r>
              <a:rPr sz="1300" b="1">
                <a:solidFill>
                  <a:srgbClr val="161A2B"/>
                </a:solidFill>
                <a:latin typeface="Arial"/>
              </a:rPr>
              <a:t>🗺️  7-Day Study Roadmap</a:t>
            </a:r>
          </a:p>
          <a:p>
            <a:pPr>
              <a:lnSpc>
                <a:spcPct val="105000"/>
              </a:lnSpc>
              <a:spcBef>
                <a:spcPts val="300"/>
              </a:spcBef>
            </a:pPr>
            <a:r>
              <a:rPr sz="1050">
                <a:solidFill>
                  <a:srgbClr val="4A4A4A"/>
                </a:solidFill>
                <a:latin typeface="Arial"/>
              </a:rPr>
              <a:t>Personalised preparation plan based on your performance.</a:t>
            </a:r>
          </a:p>
        </p:txBody>
      </p:sp>
      <p:sp>
        <p:nvSpPr>
          <p:cNvPr id="32" name="Rounded Rectangle 31"/>
          <p:cNvSpPr/>
          <p:nvPr/>
        </p:nvSpPr>
        <p:spPr>
          <a:xfrm>
            <a:off x="8082076" y="4663440"/>
            <a:ext cx="3606698" cy="141732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8082076" y="4663440"/>
            <a:ext cx="82296" cy="1417320"/>
          </a:xfrm>
          <a:prstGeom prst="roundRect">
            <a:avLst>
              <a:gd name="adj" fmla="val 50000"/>
            </a:avLst>
          </a:prstGeom>
          <a:solidFill>
            <a:srgbClr val="F1A5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283244" y="4773168"/>
            <a:ext cx="3204362" cy="1216152"/>
          </a:xfrm>
          <a:prstGeom prst="rect">
            <a:avLst/>
          </a:prstGeom>
          <a:noFill/>
        </p:spPr>
        <p:txBody>
          <a:bodyPr wrap="square" lIns="0" tIns="0" rIns="0" bIns="0">
            <a:spAutoFit/>
          </a:bodyPr>
          <a:lstStyle/>
          <a:p>
            <a:pPr>
              <a:lnSpc>
                <a:spcPct val="100000"/>
              </a:lnSpc>
            </a:pPr>
            <a:r>
              <a:rPr sz="1300" b="1">
                <a:solidFill>
                  <a:srgbClr val="161A2B"/>
                </a:solidFill>
                <a:latin typeface="Arial"/>
              </a:rPr>
              <a:t>⚡  Token-Optimised</a:t>
            </a:r>
          </a:p>
          <a:p>
            <a:pPr>
              <a:lnSpc>
                <a:spcPct val="105000"/>
              </a:lnSpc>
              <a:spcBef>
                <a:spcPts val="300"/>
              </a:spcBef>
            </a:pPr>
            <a:r>
              <a:rPr sz="1050">
                <a:solidFill>
                  <a:srgbClr val="4A4A4A"/>
                </a:solidFill>
                <a:latin typeface="Arial"/>
              </a:rPr>
              <a:t>Server-side session store — flat token cost regardless of length.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5486400" cy="274320"/>
          </a:xfrm>
          <a:prstGeom prst="rect">
            <a:avLst/>
          </a:prstGeom>
          <a:noFill/>
        </p:spPr>
        <p:txBody>
          <a:bodyPr wrap="square" lIns="0" tIns="0" rIns="0" bIns="0" anchor="t">
            <a:spAutoFit/>
          </a:bodyPr>
          <a:lstStyle/>
          <a:p>
            <a:pPr algn="l">
              <a:lnSpc>
                <a:spcPct val="100000"/>
              </a:lnSpc>
            </a:pPr>
            <a:r>
              <a:rPr sz="1100" b="1" i="0">
                <a:solidFill>
                  <a:srgbClr val="0530AD"/>
                </a:solidFill>
                <a:latin typeface="Arial"/>
              </a:rPr>
              <a:t>HOW IT WORKS</a:t>
            </a:r>
          </a:p>
        </p:txBody>
      </p:sp>
      <p:sp>
        <p:nvSpPr>
          <p:cNvPr id="4" name="TextBox 3"/>
          <p:cNvSpPr txBox="1"/>
          <p:nvPr/>
        </p:nvSpPr>
        <p:spPr>
          <a:xfrm>
            <a:off x="502920" y="502920"/>
            <a:ext cx="9601200" cy="640080"/>
          </a:xfrm>
          <a:prstGeom prst="rect">
            <a:avLst/>
          </a:prstGeom>
          <a:noFill/>
        </p:spPr>
        <p:txBody>
          <a:bodyPr wrap="square" lIns="0" tIns="0" rIns="0" bIns="0" anchor="t">
            <a:spAutoFit/>
          </a:bodyPr>
          <a:lstStyle/>
          <a:p>
            <a:pPr algn="l">
              <a:lnSpc>
                <a:spcPct val="100000"/>
              </a:lnSpc>
            </a:pPr>
            <a:r>
              <a:rPr sz="2800" b="1" i="0">
                <a:solidFill>
                  <a:srgbClr val="161A2B"/>
                </a:solidFill>
                <a:latin typeface="Arial"/>
              </a:rPr>
              <a:t>System Workflow</a:t>
            </a:r>
          </a:p>
        </p:txBody>
      </p:sp>
      <p:sp>
        <p:nvSpPr>
          <p:cNvPr id="5" name="Rectangle 4"/>
          <p:cNvSpPr/>
          <p:nvPr/>
        </p:nvSpPr>
        <p:spPr>
          <a:xfrm>
            <a:off x="502920" y="1143000"/>
            <a:ext cx="1005840" cy="38100"/>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37960"/>
            <a:ext cx="5486400" cy="274320"/>
          </a:xfrm>
          <a:prstGeom prst="rect">
            <a:avLst/>
          </a:prstGeom>
          <a:noFill/>
        </p:spPr>
        <p:txBody>
          <a:bodyPr wrap="square" lIns="0" tIns="0" rIns="0" bIns="0" anchor="t">
            <a:spAutoFit/>
          </a:bodyPr>
          <a:lstStyle/>
          <a:p>
            <a:pPr algn="l">
              <a:lnSpc>
                <a:spcPct val="100000"/>
              </a:lnSpc>
            </a:pPr>
            <a:r>
              <a:rPr sz="800" b="0" i="0">
                <a:solidFill>
                  <a:srgbClr val="9A9A9A"/>
                </a:solidFill>
                <a:latin typeface="Arial"/>
              </a:rPr>
              <a:t>ARIA — AI Readiness Interview Agent</a:t>
            </a:r>
          </a:p>
        </p:txBody>
      </p:sp>
      <p:sp>
        <p:nvSpPr>
          <p:cNvPr id="7" name="TextBox 6"/>
          <p:cNvSpPr txBox="1"/>
          <p:nvPr/>
        </p:nvSpPr>
        <p:spPr>
          <a:xfrm>
            <a:off x="9601200" y="6537960"/>
            <a:ext cx="2103120" cy="274320"/>
          </a:xfrm>
          <a:prstGeom prst="rect">
            <a:avLst/>
          </a:prstGeom>
          <a:noFill/>
        </p:spPr>
        <p:txBody>
          <a:bodyPr wrap="square" lIns="0" tIns="0" rIns="0" bIns="0" anchor="t">
            <a:spAutoFit/>
          </a:bodyPr>
          <a:lstStyle/>
          <a:p>
            <a:pPr algn="r">
              <a:lnSpc>
                <a:spcPct val="100000"/>
              </a:lnSpc>
            </a:pPr>
            <a:r>
              <a:rPr sz="800" b="0" i="0">
                <a:solidFill>
                  <a:srgbClr val="9A9A9A"/>
                </a:solidFill>
                <a:latin typeface="Arial"/>
              </a:rPr>
              <a:t>IBM SkillsBuild × AICTE 2026   |   7/17</a:t>
            </a:r>
          </a:p>
        </p:txBody>
      </p:sp>
      <p:sp>
        <p:nvSpPr>
          <p:cNvPr id="8" name="Rounded Rectangle 7"/>
          <p:cNvSpPr/>
          <p:nvPr/>
        </p:nvSpPr>
        <p:spPr>
          <a:xfrm>
            <a:off x="502920" y="1737360"/>
            <a:ext cx="2331720" cy="1371600"/>
          </a:xfrm>
          <a:prstGeom prst="roundRect">
            <a:avLst>
              <a:gd name="adj" fmla="val 12000"/>
            </a:avLst>
          </a:prstGeom>
          <a:solidFill>
            <a:srgbClr val="161A2B"/>
          </a:solidFill>
          <a:ln>
            <a:noFill/>
          </a:ln>
          <a:effectLst/>
        </p:spPr>
        <p:style>
          <a:lnRef idx="1">
            <a:schemeClr val="accent1"/>
          </a:lnRef>
          <a:fillRef idx="3">
            <a:schemeClr val="accent1"/>
          </a:fillRef>
          <a:effectRef idx="2">
            <a:schemeClr val="accent1"/>
          </a:effectRef>
          <a:fontRef idx="minor">
            <a:schemeClr val="lt1"/>
          </a:fontRef>
        </p:style>
        <p:txBody>
          <a:bodyPr wrap="square" lIns="76200" rIns="76200" rtlCol="0" anchor="ctr"/>
          <a:lstStyle/>
          <a:p>
            <a:pPr algn="ctr"/>
            <a:r>
              <a:rPr sz="1150" b="1">
                <a:solidFill>
                  <a:srgbClr val="FFFFFF"/>
                </a:solidFill>
                <a:latin typeface="Arial"/>
              </a:rPr>
              <a:t>USER</a:t>
            </a:r>
          </a:p>
          <a:p>
            <a:pPr algn="ctr"/>
            <a:r>
              <a:rPr sz="850">
                <a:solidFill>
                  <a:srgbClr val="FFFFFF"/>
                </a:solidFill>
                <a:latin typeface="Arial"/>
              </a:rPr>
              <a:t>Browser
(Chrome / Edge)
Voice input supported</a:t>
            </a:r>
          </a:p>
        </p:txBody>
      </p:sp>
      <p:sp>
        <p:nvSpPr>
          <p:cNvPr id="9" name="Right Arrow 8"/>
          <p:cNvSpPr/>
          <p:nvPr/>
        </p:nvSpPr>
        <p:spPr>
          <a:xfrm>
            <a:off x="2852928" y="2286000"/>
            <a:ext cx="283464" cy="274320"/>
          </a:xfrm>
          <a:prstGeom prst="rightArrow">
            <a:avLst/>
          </a:prstGeom>
          <a:solidFill>
            <a:srgbClr val="9A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154680" y="1737360"/>
            <a:ext cx="2331720" cy="1371600"/>
          </a:xfrm>
          <a:prstGeom prst="roundRect">
            <a:avLst>
              <a:gd name="adj" fmla="val 12000"/>
            </a:avLst>
          </a:prstGeom>
          <a:solidFill>
            <a:srgbClr val="009D9A"/>
          </a:solidFill>
          <a:ln>
            <a:noFill/>
          </a:ln>
          <a:effectLst/>
        </p:spPr>
        <p:style>
          <a:lnRef idx="1">
            <a:schemeClr val="accent1"/>
          </a:lnRef>
          <a:fillRef idx="3">
            <a:schemeClr val="accent1"/>
          </a:fillRef>
          <a:effectRef idx="2">
            <a:schemeClr val="accent1"/>
          </a:effectRef>
          <a:fontRef idx="minor">
            <a:schemeClr val="lt1"/>
          </a:fontRef>
        </p:style>
        <p:txBody>
          <a:bodyPr wrap="square" lIns="76200" rIns="76200" rtlCol="0" anchor="ctr"/>
          <a:lstStyle/>
          <a:p>
            <a:pPr algn="ctr"/>
            <a:r>
              <a:rPr sz="1150" b="1">
                <a:solidFill>
                  <a:srgbClr val="FFFFFF"/>
                </a:solidFill>
                <a:latin typeface="Arial"/>
              </a:rPr>
              <a:t>STREAMLIT</a:t>
            </a:r>
          </a:p>
          <a:p>
            <a:pPr algn="ctr"/>
            <a:r>
              <a:rPr sz="850">
                <a:solidFill>
                  <a:srgbClr val="FFFFFF"/>
                </a:solidFill>
                <a:latin typeface="Arial"/>
              </a:rPr>
              <a:t>Frontend :8501
Chat UI + Voice + Resume
uploader</a:t>
            </a:r>
          </a:p>
        </p:txBody>
      </p:sp>
      <p:sp>
        <p:nvSpPr>
          <p:cNvPr id="11" name="Right Arrow 10"/>
          <p:cNvSpPr/>
          <p:nvPr/>
        </p:nvSpPr>
        <p:spPr>
          <a:xfrm>
            <a:off x="5504688" y="2286000"/>
            <a:ext cx="283464" cy="274320"/>
          </a:xfrm>
          <a:prstGeom prst="rightArrow">
            <a:avLst/>
          </a:prstGeom>
          <a:solidFill>
            <a:srgbClr val="9A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806440" y="1737360"/>
            <a:ext cx="2331720" cy="1371600"/>
          </a:xfrm>
          <a:prstGeom prst="roundRect">
            <a:avLst>
              <a:gd name="adj" fmla="val 12000"/>
            </a:avLst>
          </a:prstGeom>
          <a:solidFill>
            <a:srgbClr val="0530AD"/>
          </a:solidFill>
          <a:ln>
            <a:noFill/>
          </a:ln>
          <a:effectLst/>
        </p:spPr>
        <p:style>
          <a:lnRef idx="1">
            <a:schemeClr val="accent1"/>
          </a:lnRef>
          <a:fillRef idx="3">
            <a:schemeClr val="accent1"/>
          </a:fillRef>
          <a:effectRef idx="2">
            <a:schemeClr val="accent1"/>
          </a:effectRef>
          <a:fontRef idx="minor">
            <a:schemeClr val="lt1"/>
          </a:fontRef>
        </p:style>
        <p:txBody>
          <a:bodyPr wrap="square" lIns="76200" rIns="76200" rtlCol="0" anchor="ctr"/>
          <a:lstStyle/>
          <a:p>
            <a:pPr algn="ctr"/>
            <a:r>
              <a:rPr sz="1150" b="1">
                <a:solidFill>
                  <a:srgbClr val="FFFFFF"/>
                </a:solidFill>
                <a:latin typeface="Arial"/>
              </a:rPr>
              <a:t>FASTAPI</a:t>
            </a:r>
          </a:p>
          <a:p>
            <a:pPr algn="ctr"/>
            <a:r>
              <a:rPr sz="850">
                <a:solidFill>
                  <a:srgbClr val="FFFFFF"/>
                </a:solidFill>
                <a:latin typeface="Arial"/>
              </a:rPr>
              <a:t>Backend :8000
Session store + Prompt
engine + Resume parser</a:t>
            </a:r>
          </a:p>
        </p:txBody>
      </p:sp>
      <p:sp>
        <p:nvSpPr>
          <p:cNvPr id="13" name="Right Arrow 12"/>
          <p:cNvSpPr/>
          <p:nvPr/>
        </p:nvSpPr>
        <p:spPr>
          <a:xfrm>
            <a:off x="8156448" y="2286000"/>
            <a:ext cx="283464" cy="274320"/>
          </a:xfrm>
          <a:prstGeom prst="rightArrow">
            <a:avLst/>
          </a:prstGeom>
          <a:solidFill>
            <a:srgbClr val="9A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458200" y="1737360"/>
            <a:ext cx="2331720" cy="1371600"/>
          </a:xfrm>
          <a:prstGeom prst="roundRect">
            <a:avLst>
              <a:gd name="adj" fmla="val 12000"/>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wrap="square" lIns="76200" rIns="76200" rtlCol="0" anchor="ctr"/>
          <a:lstStyle/>
          <a:p>
            <a:pPr algn="ctr"/>
            <a:r>
              <a:rPr sz="1150" b="1">
                <a:solidFill>
                  <a:srgbClr val="FFFFFF"/>
                </a:solidFill>
                <a:latin typeface="Arial"/>
              </a:rPr>
              <a:t>WATSONX.AI</a:t>
            </a:r>
          </a:p>
          <a:p>
            <a:pPr algn="ctr"/>
            <a:r>
              <a:rPr sz="850">
                <a:solidFill>
                  <a:srgbClr val="FFFFFF"/>
                </a:solidFill>
                <a:latin typeface="Arial"/>
              </a:rPr>
              <a:t>Meta Llama 3.3 70B
via ibm-watsonx-ai SDK
(Dallas region, Lite tier)</a:t>
            </a:r>
          </a:p>
        </p:txBody>
      </p:sp>
      <p:sp>
        <p:nvSpPr>
          <p:cNvPr id="15" name="Rounded Rectangle 14"/>
          <p:cNvSpPr/>
          <p:nvPr/>
        </p:nvSpPr>
        <p:spPr>
          <a:xfrm>
            <a:off x="502920" y="3520440"/>
            <a:ext cx="5394960" cy="141732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2920" y="3520440"/>
            <a:ext cx="82296" cy="1417320"/>
          </a:xfrm>
          <a:prstGeom prst="roundRect">
            <a:avLst>
              <a:gd name="adj" fmla="val 50000"/>
            </a:avLst>
          </a:prstGeom>
          <a:solidFill>
            <a:srgbClr val="F1A5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4088" y="3630168"/>
            <a:ext cx="4992624" cy="1216152"/>
          </a:xfrm>
          <a:prstGeom prst="rect">
            <a:avLst/>
          </a:prstGeom>
          <a:noFill/>
        </p:spPr>
        <p:txBody>
          <a:bodyPr wrap="square" lIns="0" tIns="0" rIns="0" bIns="0">
            <a:spAutoFit/>
          </a:bodyPr>
          <a:lstStyle/>
          <a:p>
            <a:pPr>
              <a:lnSpc>
                <a:spcPct val="100000"/>
              </a:lnSpc>
            </a:pPr>
            <a:r>
              <a:rPr sz="1350" b="1">
                <a:solidFill>
                  <a:srgbClr val="161A2B"/>
                </a:solidFill>
                <a:latin typeface="Arial"/>
              </a:rPr>
              <a:t>🗂️  Key Design — Server-Side Sessions</a:t>
            </a:r>
          </a:p>
          <a:p>
            <a:pPr>
              <a:lnSpc>
                <a:spcPct val="105000"/>
              </a:lnSpc>
              <a:spcBef>
                <a:spcPts val="300"/>
              </a:spcBef>
            </a:pPr>
            <a:r>
              <a:rPr sz="1100">
                <a:solidFill>
                  <a:srgbClr val="4A4A4A"/>
                </a:solidFill>
                <a:latin typeface="Arial"/>
              </a:rPr>
              <a:t>The frontend never sends conversation history. Only { session_id, message } travels over HTTP. The backend holds all history, trims it to a rolling window, and sends a fixed-size context to the LLM — keeping token cost flat at every turn.</a:t>
            </a:r>
          </a:p>
        </p:txBody>
      </p:sp>
      <p:sp>
        <p:nvSpPr>
          <p:cNvPr id="18" name="Rounded Rectangle 17"/>
          <p:cNvSpPr/>
          <p:nvPr/>
        </p:nvSpPr>
        <p:spPr>
          <a:xfrm>
            <a:off x="6263640" y="3520440"/>
            <a:ext cx="5394960" cy="141732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263640" y="3520440"/>
            <a:ext cx="82296" cy="1417320"/>
          </a:xfrm>
          <a:prstGeom prst="roundRect">
            <a:avLst>
              <a:gd name="adj" fmla="val 50000"/>
            </a:avLst>
          </a:prstGeom>
          <a:solidFill>
            <a:srgbClr val="24A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64808" y="3630168"/>
            <a:ext cx="4992624" cy="1216152"/>
          </a:xfrm>
          <a:prstGeom prst="rect">
            <a:avLst/>
          </a:prstGeom>
          <a:noFill/>
        </p:spPr>
        <p:txBody>
          <a:bodyPr wrap="square" lIns="0" tIns="0" rIns="0" bIns="0">
            <a:spAutoFit/>
          </a:bodyPr>
          <a:lstStyle/>
          <a:p>
            <a:pPr>
              <a:lnSpc>
                <a:spcPct val="100000"/>
              </a:lnSpc>
            </a:pPr>
            <a:r>
              <a:rPr sz="1350" b="1">
                <a:solidFill>
                  <a:srgbClr val="161A2B"/>
                </a:solidFill>
                <a:latin typeface="Arial"/>
              </a:rPr>
              <a:t>📄  Resume Design — One-Shot Digest</a:t>
            </a:r>
          </a:p>
          <a:p>
            <a:pPr>
              <a:lnSpc>
                <a:spcPct val="105000"/>
              </a:lnSpc>
              <a:spcBef>
                <a:spcPts val="300"/>
              </a:spcBef>
            </a:pPr>
            <a:r>
              <a:rPr sz="1100">
                <a:solidFill>
                  <a:srgbClr val="4A4A4A"/>
                </a:solidFill>
                <a:latin typeface="Arial"/>
              </a:rPr>
              <a:t>The raw resume is never stored or re-sent. One LLM call converts it to a ~120-word structured digest on upload (~130 tokens), injected into the system prompt on every subsequent call — keeping the raw file off the wire entirely.</a:t>
            </a:r>
          </a:p>
        </p:txBody>
      </p:sp>
      <p:sp>
        <p:nvSpPr>
          <p:cNvPr id="21" name="TextBox 20"/>
          <p:cNvSpPr txBox="1"/>
          <p:nvPr/>
        </p:nvSpPr>
        <p:spPr>
          <a:xfrm>
            <a:off x="502920" y="5166360"/>
            <a:ext cx="11155680" cy="822960"/>
          </a:xfrm>
          <a:prstGeom prst="rect">
            <a:avLst/>
          </a:prstGeom>
          <a:noFill/>
        </p:spPr>
        <p:txBody>
          <a:bodyPr wrap="square" lIns="0" tIns="0" rIns="0" bIns="0" anchor="t">
            <a:spAutoFit/>
          </a:bodyPr>
          <a:lstStyle/>
          <a:p>
            <a:pPr algn="l">
              <a:lnSpc>
                <a:spcPct val="120000"/>
              </a:lnSpc>
            </a:pPr>
            <a:r>
              <a:rPr sz="1150" b="0" i="1">
                <a:solidFill>
                  <a:srgbClr val="4A4A4A"/>
                </a:solidFill>
                <a:latin typeface="Arial"/>
              </a:rPr>
              <a:t>Request flow: POST /session/new creates a session → POST /resume/upload (optional) parses and digests the resume → each POST /chat retrieves session history, builds a trimmed message list, calls the LLM, sanitises the reply, and returns it to the UI.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5486400" cy="274320"/>
          </a:xfrm>
          <a:prstGeom prst="rect">
            <a:avLst/>
          </a:prstGeom>
          <a:noFill/>
        </p:spPr>
        <p:txBody>
          <a:bodyPr wrap="square" lIns="0" tIns="0" rIns="0" bIns="0" anchor="t">
            <a:spAutoFit/>
          </a:bodyPr>
          <a:lstStyle/>
          <a:p>
            <a:pPr algn="l">
              <a:lnSpc>
                <a:spcPct val="100000"/>
              </a:lnSpc>
            </a:pPr>
            <a:r>
              <a:rPr sz="1100" b="1" i="0">
                <a:solidFill>
                  <a:srgbClr val="0530AD"/>
                </a:solidFill>
                <a:latin typeface="Arial"/>
              </a:rPr>
              <a:t>SEE IT IN ACTION</a:t>
            </a:r>
          </a:p>
        </p:txBody>
      </p:sp>
      <p:sp>
        <p:nvSpPr>
          <p:cNvPr id="4" name="TextBox 3"/>
          <p:cNvSpPr txBox="1"/>
          <p:nvPr/>
        </p:nvSpPr>
        <p:spPr>
          <a:xfrm>
            <a:off x="502920" y="502920"/>
            <a:ext cx="9601200" cy="640080"/>
          </a:xfrm>
          <a:prstGeom prst="rect">
            <a:avLst/>
          </a:prstGeom>
          <a:noFill/>
        </p:spPr>
        <p:txBody>
          <a:bodyPr wrap="square" lIns="0" tIns="0" rIns="0" bIns="0" anchor="t">
            <a:spAutoFit/>
          </a:bodyPr>
          <a:lstStyle/>
          <a:p>
            <a:pPr algn="l">
              <a:lnSpc>
                <a:spcPct val="100000"/>
              </a:lnSpc>
            </a:pPr>
            <a:r>
              <a:rPr sz="2800" b="1" i="0">
                <a:solidFill>
                  <a:srgbClr val="161A2B"/>
                </a:solidFill>
                <a:latin typeface="Arial"/>
              </a:rPr>
              <a:t>Feature Highlights</a:t>
            </a:r>
          </a:p>
        </p:txBody>
      </p:sp>
      <p:sp>
        <p:nvSpPr>
          <p:cNvPr id="5" name="Rectangle 4"/>
          <p:cNvSpPr/>
          <p:nvPr/>
        </p:nvSpPr>
        <p:spPr>
          <a:xfrm>
            <a:off x="502920" y="1143000"/>
            <a:ext cx="1005840" cy="38100"/>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37960"/>
            <a:ext cx="5486400" cy="274320"/>
          </a:xfrm>
          <a:prstGeom prst="rect">
            <a:avLst/>
          </a:prstGeom>
          <a:noFill/>
        </p:spPr>
        <p:txBody>
          <a:bodyPr wrap="square" lIns="0" tIns="0" rIns="0" bIns="0" anchor="t">
            <a:spAutoFit/>
          </a:bodyPr>
          <a:lstStyle/>
          <a:p>
            <a:pPr algn="l">
              <a:lnSpc>
                <a:spcPct val="100000"/>
              </a:lnSpc>
            </a:pPr>
            <a:r>
              <a:rPr sz="800" b="0" i="0">
                <a:solidFill>
                  <a:srgbClr val="9A9A9A"/>
                </a:solidFill>
                <a:latin typeface="Arial"/>
              </a:rPr>
              <a:t>ARIA — AI Readiness Interview Agent</a:t>
            </a:r>
          </a:p>
        </p:txBody>
      </p:sp>
      <p:sp>
        <p:nvSpPr>
          <p:cNvPr id="7" name="TextBox 6"/>
          <p:cNvSpPr txBox="1"/>
          <p:nvPr/>
        </p:nvSpPr>
        <p:spPr>
          <a:xfrm>
            <a:off x="9601200" y="6537960"/>
            <a:ext cx="2103120" cy="274320"/>
          </a:xfrm>
          <a:prstGeom prst="rect">
            <a:avLst/>
          </a:prstGeom>
          <a:noFill/>
        </p:spPr>
        <p:txBody>
          <a:bodyPr wrap="square" lIns="0" tIns="0" rIns="0" bIns="0" anchor="t">
            <a:spAutoFit/>
          </a:bodyPr>
          <a:lstStyle/>
          <a:p>
            <a:pPr algn="r">
              <a:lnSpc>
                <a:spcPct val="100000"/>
              </a:lnSpc>
            </a:pPr>
            <a:r>
              <a:rPr sz="800" b="0" i="0">
                <a:solidFill>
                  <a:srgbClr val="9A9A9A"/>
                </a:solidFill>
                <a:latin typeface="Arial"/>
              </a:rPr>
              <a:t>IBM SkillsBuild × AICTE 2026   |   8/17</a:t>
            </a:r>
          </a:p>
        </p:txBody>
      </p:sp>
      <p:sp>
        <p:nvSpPr>
          <p:cNvPr id="8" name="TextBox 7"/>
          <p:cNvSpPr txBox="1"/>
          <p:nvPr/>
        </p:nvSpPr>
        <p:spPr>
          <a:xfrm>
            <a:off x="502920" y="1463040"/>
            <a:ext cx="5394960" cy="320040"/>
          </a:xfrm>
          <a:prstGeom prst="rect">
            <a:avLst/>
          </a:prstGeom>
          <a:noFill/>
        </p:spPr>
        <p:txBody>
          <a:bodyPr wrap="square" lIns="0" tIns="0" rIns="0" bIns="0" anchor="t">
            <a:spAutoFit/>
          </a:bodyPr>
          <a:lstStyle/>
          <a:p>
            <a:pPr algn="l">
              <a:lnSpc>
                <a:spcPct val="100000"/>
              </a:lnSpc>
            </a:pPr>
            <a:r>
              <a:rPr sz="1350" b="1" i="0">
                <a:solidFill>
                  <a:srgbClr val="161A2B"/>
                </a:solidFill>
                <a:latin typeface="Arial"/>
              </a:rPr>
              <a:t>💬 ARIA Chat Interface</a:t>
            </a:r>
          </a:p>
        </p:txBody>
      </p:sp>
      <p:sp>
        <p:nvSpPr>
          <p:cNvPr id="12" name="TextBox 11"/>
          <p:cNvSpPr txBox="1"/>
          <p:nvPr/>
        </p:nvSpPr>
        <p:spPr>
          <a:xfrm>
            <a:off x="502920" y="3977639"/>
            <a:ext cx="5394960" cy="320040"/>
          </a:xfrm>
          <a:prstGeom prst="rect">
            <a:avLst/>
          </a:prstGeom>
          <a:noFill/>
        </p:spPr>
        <p:txBody>
          <a:bodyPr wrap="square" lIns="0" tIns="0" rIns="0" bIns="0" anchor="t">
            <a:spAutoFit/>
          </a:bodyPr>
          <a:lstStyle/>
          <a:p>
            <a:pPr algn="l">
              <a:lnSpc>
                <a:spcPct val="100000"/>
              </a:lnSpc>
            </a:pPr>
            <a:r>
              <a:rPr sz="1350" b="1" i="0">
                <a:solidFill>
                  <a:srgbClr val="161A2B"/>
                </a:solidFill>
                <a:latin typeface="Arial"/>
              </a:rPr>
              <a:t>📄 Resume Upload</a:t>
            </a:r>
          </a:p>
        </p:txBody>
      </p:sp>
      <p:pic>
        <p:nvPicPr>
          <p:cNvPr id="19" name="Picture 18">
            <a:extLst>
              <a:ext uri="{FF2B5EF4-FFF2-40B4-BE49-F238E27FC236}">
                <a16:creationId xmlns:a16="http://schemas.microsoft.com/office/drawing/2014/main" id="{785A904E-94B4-DC84-4BDA-FC5347913DE6}"/>
              </a:ext>
            </a:extLst>
          </p:cNvPr>
          <p:cNvPicPr>
            <a:picLocks noChangeAspect="1"/>
          </p:cNvPicPr>
          <p:nvPr/>
        </p:nvPicPr>
        <p:blipFill>
          <a:blip r:embed="rId2"/>
          <a:stretch>
            <a:fillRect/>
          </a:stretch>
        </p:blipFill>
        <p:spPr>
          <a:xfrm>
            <a:off x="411480" y="4314228"/>
            <a:ext cx="4402874" cy="2498052"/>
          </a:xfrm>
          <a:prstGeom prst="rect">
            <a:avLst/>
          </a:prstGeom>
        </p:spPr>
      </p:pic>
      <p:pic>
        <p:nvPicPr>
          <p:cNvPr id="21" name="Picture 20">
            <a:extLst>
              <a:ext uri="{FF2B5EF4-FFF2-40B4-BE49-F238E27FC236}">
                <a16:creationId xmlns:a16="http://schemas.microsoft.com/office/drawing/2014/main" id="{450986B8-C7E3-111F-9034-1F708B921EC6}"/>
              </a:ext>
            </a:extLst>
          </p:cNvPr>
          <p:cNvPicPr>
            <a:picLocks noChangeAspect="1"/>
          </p:cNvPicPr>
          <p:nvPr/>
        </p:nvPicPr>
        <p:blipFill>
          <a:blip r:embed="rId3"/>
          <a:stretch>
            <a:fillRect/>
          </a:stretch>
        </p:blipFill>
        <p:spPr>
          <a:xfrm>
            <a:off x="502920" y="1660266"/>
            <a:ext cx="4472203" cy="2300823"/>
          </a:xfrm>
          <a:prstGeom prst="rect">
            <a:avLst/>
          </a:prstGeom>
        </p:spPr>
      </p:pic>
      <p:pic>
        <p:nvPicPr>
          <p:cNvPr id="25" name="Picture 24">
            <a:extLst>
              <a:ext uri="{FF2B5EF4-FFF2-40B4-BE49-F238E27FC236}">
                <a16:creationId xmlns:a16="http://schemas.microsoft.com/office/drawing/2014/main" id="{14937282-F1AC-25A1-C075-9D7FD4520B3D}"/>
              </a:ext>
            </a:extLst>
          </p:cNvPr>
          <p:cNvPicPr>
            <a:picLocks noChangeAspect="1"/>
          </p:cNvPicPr>
          <p:nvPr/>
        </p:nvPicPr>
        <p:blipFill>
          <a:blip r:embed="rId4"/>
          <a:stretch>
            <a:fillRect/>
          </a:stretch>
        </p:blipFill>
        <p:spPr>
          <a:xfrm>
            <a:off x="5592364" y="191224"/>
            <a:ext cx="5800763" cy="3237776"/>
          </a:xfrm>
          <a:prstGeom prst="rect">
            <a:avLst/>
          </a:prstGeom>
        </p:spPr>
      </p:pic>
      <p:pic>
        <p:nvPicPr>
          <p:cNvPr id="27" name="Picture 26">
            <a:extLst>
              <a:ext uri="{FF2B5EF4-FFF2-40B4-BE49-F238E27FC236}">
                <a16:creationId xmlns:a16="http://schemas.microsoft.com/office/drawing/2014/main" id="{C217CDEA-0194-E9CF-9E43-3F040B2FAC65}"/>
              </a:ext>
            </a:extLst>
          </p:cNvPr>
          <p:cNvPicPr>
            <a:picLocks noChangeAspect="1"/>
          </p:cNvPicPr>
          <p:nvPr/>
        </p:nvPicPr>
        <p:blipFill>
          <a:blip r:embed="rId5"/>
          <a:stretch>
            <a:fillRect/>
          </a:stretch>
        </p:blipFill>
        <p:spPr>
          <a:xfrm>
            <a:off x="5614599" y="3510496"/>
            <a:ext cx="5756292" cy="323697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88492D-0837-E3C1-8620-DAA5F3F4B487}"/>
              </a:ext>
            </a:extLst>
          </p:cNvPr>
          <p:cNvSpPr txBox="1"/>
          <p:nvPr/>
        </p:nvSpPr>
        <p:spPr>
          <a:xfrm>
            <a:off x="502920" y="502920"/>
            <a:ext cx="9601200" cy="640080"/>
          </a:xfrm>
          <a:prstGeom prst="rect">
            <a:avLst/>
          </a:prstGeom>
          <a:noFill/>
        </p:spPr>
        <p:txBody>
          <a:bodyPr wrap="square" lIns="0" tIns="0" rIns="0" bIns="0" anchor="t">
            <a:spAutoFit/>
          </a:bodyPr>
          <a:lstStyle/>
          <a:p>
            <a:pPr algn="l">
              <a:lnSpc>
                <a:spcPct val="100000"/>
              </a:lnSpc>
            </a:pPr>
            <a:r>
              <a:rPr sz="2800" b="1" i="0" dirty="0">
                <a:solidFill>
                  <a:srgbClr val="161A2B"/>
                </a:solidFill>
                <a:latin typeface="Arial"/>
              </a:rPr>
              <a:t>Feature Highlights</a:t>
            </a:r>
          </a:p>
        </p:txBody>
      </p:sp>
      <p:pic>
        <p:nvPicPr>
          <p:cNvPr id="7" name="Picture 6">
            <a:extLst>
              <a:ext uri="{FF2B5EF4-FFF2-40B4-BE49-F238E27FC236}">
                <a16:creationId xmlns:a16="http://schemas.microsoft.com/office/drawing/2014/main" id="{79768EA8-6BE8-1CED-11CD-F2C49C034114}"/>
              </a:ext>
            </a:extLst>
          </p:cNvPr>
          <p:cNvPicPr>
            <a:picLocks noChangeAspect="1"/>
          </p:cNvPicPr>
          <p:nvPr/>
        </p:nvPicPr>
        <p:blipFill>
          <a:blip r:embed="rId2"/>
          <a:stretch>
            <a:fillRect/>
          </a:stretch>
        </p:blipFill>
        <p:spPr>
          <a:xfrm>
            <a:off x="373626" y="1143000"/>
            <a:ext cx="5555744" cy="3124200"/>
          </a:xfrm>
          <a:prstGeom prst="rect">
            <a:avLst/>
          </a:prstGeom>
        </p:spPr>
      </p:pic>
      <p:pic>
        <p:nvPicPr>
          <p:cNvPr id="9" name="Picture 8">
            <a:extLst>
              <a:ext uri="{FF2B5EF4-FFF2-40B4-BE49-F238E27FC236}">
                <a16:creationId xmlns:a16="http://schemas.microsoft.com/office/drawing/2014/main" id="{CE50CFD2-716A-F5B8-C47C-2D8BED74EA6A}"/>
              </a:ext>
            </a:extLst>
          </p:cNvPr>
          <p:cNvPicPr>
            <a:picLocks noChangeAspect="1"/>
          </p:cNvPicPr>
          <p:nvPr/>
        </p:nvPicPr>
        <p:blipFill>
          <a:blip r:embed="rId3"/>
          <a:stretch>
            <a:fillRect/>
          </a:stretch>
        </p:blipFill>
        <p:spPr>
          <a:xfrm>
            <a:off x="5906119" y="3690556"/>
            <a:ext cx="6285881" cy="3054373"/>
          </a:xfrm>
          <a:prstGeom prst="rect">
            <a:avLst/>
          </a:prstGeom>
        </p:spPr>
      </p:pic>
    </p:spTree>
    <p:extLst>
      <p:ext uri="{BB962C8B-B14F-4D97-AF65-F5344CB8AC3E}">
        <p14:creationId xmlns:p14="http://schemas.microsoft.com/office/powerpoint/2010/main" val="3403365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5486400" cy="274320"/>
          </a:xfrm>
          <a:prstGeom prst="rect">
            <a:avLst/>
          </a:prstGeom>
          <a:noFill/>
        </p:spPr>
        <p:txBody>
          <a:bodyPr wrap="square" lIns="0" tIns="0" rIns="0" bIns="0" anchor="t">
            <a:spAutoFit/>
          </a:bodyPr>
          <a:lstStyle/>
          <a:p>
            <a:pPr algn="l">
              <a:lnSpc>
                <a:spcPct val="100000"/>
              </a:lnSpc>
            </a:pPr>
            <a:r>
              <a:rPr sz="1100" b="1" i="0">
                <a:solidFill>
                  <a:srgbClr val="0530AD"/>
                </a:solidFill>
                <a:latin typeface="Arial"/>
              </a:rPr>
              <a:t>BEYOND A CHATBOT</a:t>
            </a:r>
          </a:p>
        </p:txBody>
      </p:sp>
      <p:sp>
        <p:nvSpPr>
          <p:cNvPr id="4" name="TextBox 3"/>
          <p:cNvSpPr txBox="1"/>
          <p:nvPr/>
        </p:nvSpPr>
        <p:spPr>
          <a:xfrm>
            <a:off x="502920" y="502920"/>
            <a:ext cx="9601200" cy="640080"/>
          </a:xfrm>
          <a:prstGeom prst="rect">
            <a:avLst/>
          </a:prstGeom>
          <a:noFill/>
        </p:spPr>
        <p:txBody>
          <a:bodyPr wrap="square" lIns="0" tIns="0" rIns="0" bIns="0" anchor="t">
            <a:spAutoFit/>
          </a:bodyPr>
          <a:lstStyle/>
          <a:p>
            <a:pPr algn="l">
              <a:lnSpc>
                <a:spcPct val="100000"/>
              </a:lnSpc>
            </a:pPr>
            <a:r>
              <a:rPr sz="2800" b="1" i="0">
                <a:solidFill>
                  <a:srgbClr val="161A2B"/>
                </a:solidFill>
                <a:latin typeface="Arial"/>
              </a:rPr>
              <a:t>Role of ARIA in the Solution</a:t>
            </a:r>
          </a:p>
        </p:txBody>
      </p:sp>
      <p:sp>
        <p:nvSpPr>
          <p:cNvPr id="5" name="Rectangle 4"/>
          <p:cNvSpPr/>
          <p:nvPr/>
        </p:nvSpPr>
        <p:spPr>
          <a:xfrm>
            <a:off x="502920" y="1143000"/>
            <a:ext cx="1005840" cy="38100"/>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37960"/>
            <a:ext cx="5486400" cy="274320"/>
          </a:xfrm>
          <a:prstGeom prst="rect">
            <a:avLst/>
          </a:prstGeom>
          <a:noFill/>
        </p:spPr>
        <p:txBody>
          <a:bodyPr wrap="square" lIns="0" tIns="0" rIns="0" bIns="0" anchor="t">
            <a:spAutoFit/>
          </a:bodyPr>
          <a:lstStyle/>
          <a:p>
            <a:pPr algn="l">
              <a:lnSpc>
                <a:spcPct val="100000"/>
              </a:lnSpc>
            </a:pPr>
            <a:r>
              <a:rPr sz="800" b="0" i="0">
                <a:solidFill>
                  <a:srgbClr val="9A9A9A"/>
                </a:solidFill>
                <a:latin typeface="Arial"/>
              </a:rPr>
              <a:t>ARIA — AI Readiness Interview Agent</a:t>
            </a:r>
          </a:p>
        </p:txBody>
      </p:sp>
      <p:sp>
        <p:nvSpPr>
          <p:cNvPr id="7" name="TextBox 6"/>
          <p:cNvSpPr txBox="1"/>
          <p:nvPr/>
        </p:nvSpPr>
        <p:spPr>
          <a:xfrm>
            <a:off x="9601200" y="6537960"/>
            <a:ext cx="2103120" cy="274320"/>
          </a:xfrm>
          <a:prstGeom prst="rect">
            <a:avLst/>
          </a:prstGeom>
          <a:noFill/>
        </p:spPr>
        <p:txBody>
          <a:bodyPr wrap="square" lIns="0" tIns="0" rIns="0" bIns="0" anchor="t">
            <a:spAutoFit/>
          </a:bodyPr>
          <a:lstStyle/>
          <a:p>
            <a:pPr algn="r">
              <a:lnSpc>
                <a:spcPct val="100000"/>
              </a:lnSpc>
            </a:pPr>
            <a:r>
              <a:rPr sz="800" b="0" i="0">
                <a:solidFill>
                  <a:srgbClr val="9A9A9A"/>
                </a:solidFill>
                <a:latin typeface="Arial"/>
              </a:rPr>
              <a:t>IBM SkillsBuild × AICTE 2026   |   9/17</a:t>
            </a:r>
          </a:p>
        </p:txBody>
      </p:sp>
      <p:sp>
        <p:nvSpPr>
          <p:cNvPr id="8" name="TextBox 7"/>
          <p:cNvSpPr txBox="1"/>
          <p:nvPr/>
        </p:nvSpPr>
        <p:spPr>
          <a:xfrm>
            <a:off x="502920" y="1417320"/>
            <a:ext cx="6675120" cy="1645920"/>
          </a:xfrm>
          <a:prstGeom prst="rect">
            <a:avLst/>
          </a:prstGeom>
          <a:noFill/>
        </p:spPr>
        <p:txBody>
          <a:bodyPr wrap="square" lIns="0" tIns="0" rIns="0" bIns="0" anchor="t">
            <a:spAutoFit/>
          </a:bodyPr>
          <a:lstStyle/>
          <a:p>
            <a:pPr algn="l">
              <a:lnSpc>
                <a:spcPct val="125000"/>
              </a:lnSpc>
            </a:pPr>
            <a:r>
              <a:rPr sz="1300" b="0" i="0">
                <a:solidFill>
                  <a:srgbClr val="4A4A4A"/>
                </a:solidFill>
                <a:latin typeface="Arial"/>
              </a:rPr>
              <a:t>ARIA functions as an autonomous, multi-step interview agent rather than a simple Q&amp;A chatbot. Using IBM watsonx.ai (Meta Llama 3.3 70B), it reasons through the entire interview lifecycle on its own — from onboarding, to resume-aware adaptive questioning, to real-time scoring, to the final report card — without the candidate needing to direct each step.</a:t>
            </a:r>
          </a:p>
        </p:txBody>
      </p:sp>
      <p:sp>
        <p:nvSpPr>
          <p:cNvPr id="9" name="Rounded Rectangle 8"/>
          <p:cNvSpPr/>
          <p:nvPr/>
        </p:nvSpPr>
        <p:spPr>
          <a:xfrm>
            <a:off x="7406640" y="1417320"/>
            <a:ext cx="4251960" cy="164592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406640" y="1417320"/>
            <a:ext cx="82296" cy="1645920"/>
          </a:xfrm>
          <a:prstGeom prst="roundRect">
            <a:avLst>
              <a:gd name="adj" fmla="val 50000"/>
            </a:avLst>
          </a:prstGeom>
          <a:solidFill>
            <a:srgbClr val="8A3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07808" y="1527048"/>
            <a:ext cx="3849624" cy="1444752"/>
          </a:xfrm>
          <a:prstGeom prst="rect">
            <a:avLst/>
          </a:prstGeom>
          <a:noFill/>
        </p:spPr>
        <p:txBody>
          <a:bodyPr wrap="square" lIns="0" tIns="0" rIns="0" bIns="0">
            <a:spAutoFit/>
          </a:bodyPr>
          <a:lstStyle/>
          <a:p>
            <a:pPr>
              <a:lnSpc>
                <a:spcPct val="100000"/>
              </a:lnSpc>
            </a:pPr>
            <a:r>
              <a:rPr sz="1300" b="1">
                <a:solidFill>
                  <a:srgbClr val="161A2B"/>
                </a:solidFill>
                <a:latin typeface="Arial"/>
              </a:rPr>
              <a:t>🤖  Self-Directed Reasoning</a:t>
            </a:r>
          </a:p>
          <a:p>
            <a:pPr>
              <a:lnSpc>
                <a:spcPct val="105000"/>
              </a:lnSpc>
              <a:spcBef>
                <a:spcPts val="300"/>
              </a:spcBef>
            </a:pPr>
            <a:r>
              <a:rPr sz="1050">
                <a:solidFill>
                  <a:srgbClr val="4A4A4A"/>
                </a:solidFill>
                <a:latin typeface="Arial"/>
              </a:rPr>
              <a:t>ARIA autonomously decides what to do next at every stage — which question to ask, how to score an answer, and when to move to the next round — the same structured chat-completion architecture consistently produces correct, on-format behaviour.</a:t>
            </a:r>
          </a:p>
        </p:txBody>
      </p:sp>
      <p:sp>
        <p:nvSpPr>
          <p:cNvPr id="12" name="Rounded Rectangle 11"/>
          <p:cNvSpPr/>
          <p:nvPr/>
        </p:nvSpPr>
        <p:spPr>
          <a:xfrm>
            <a:off x="502920" y="3337560"/>
            <a:ext cx="3606698" cy="137160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02920" y="3337560"/>
            <a:ext cx="82296" cy="1371600"/>
          </a:xfrm>
          <a:prstGeom prst="roundRect">
            <a:avLst>
              <a:gd name="adj" fmla="val 50000"/>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4088" y="3447288"/>
            <a:ext cx="3204362" cy="1170432"/>
          </a:xfrm>
          <a:prstGeom prst="rect">
            <a:avLst/>
          </a:prstGeom>
          <a:noFill/>
        </p:spPr>
        <p:txBody>
          <a:bodyPr wrap="square" lIns="0" tIns="0" rIns="0" bIns="0">
            <a:spAutoFit/>
          </a:bodyPr>
          <a:lstStyle/>
          <a:p>
            <a:pPr>
              <a:lnSpc>
                <a:spcPct val="100000"/>
              </a:lnSpc>
            </a:pPr>
            <a:r>
              <a:rPr sz="1250" b="1">
                <a:solidFill>
                  <a:srgbClr val="161A2B"/>
                </a:solidFill>
                <a:latin typeface="Arial"/>
              </a:rPr>
              <a:t>🧭  Context Awareness</a:t>
            </a:r>
          </a:p>
          <a:p>
            <a:pPr>
              <a:lnSpc>
                <a:spcPct val="105000"/>
              </a:lnSpc>
              <a:spcBef>
                <a:spcPts val="300"/>
              </a:spcBef>
            </a:pPr>
            <a:r>
              <a:rPr sz="1050">
                <a:solidFill>
                  <a:srgbClr val="4A4A4A"/>
                </a:solidFill>
                <a:latin typeface="Arial"/>
              </a:rPr>
              <a:t>Remembers name, role, skills, target company &amp; resume digest throughout the session.</a:t>
            </a:r>
          </a:p>
        </p:txBody>
      </p:sp>
      <p:sp>
        <p:nvSpPr>
          <p:cNvPr id="15" name="Rounded Rectangle 14"/>
          <p:cNvSpPr/>
          <p:nvPr/>
        </p:nvSpPr>
        <p:spPr>
          <a:xfrm>
            <a:off x="4292498" y="3337560"/>
            <a:ext cx="3606698" cy="137160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292498" y="3337560"/>
            <a:ext cx="82296" cy="1371600"/>
          </a:xfrm>
          <a:prstGeom prst="roundRect">
            <a:avLst>
              <a:gd name="adj" fmla="val 50000"/>
            </a:avLst>
          </a:prstGeom>
          <a:solidFill>
            <a:srgbClr val="009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93666" y="3447288"/>
            <a:ext cx="3204362" cy="1170432"/>
          </a:xfrm>
          <a:prstGeom prst="rect">
            <a:avLst/>
          </a:prstGeom>
          <a:noFill/>
        </p:spPr>
        <p:txBody>
          <a:bodyPr wrap="square" lIns="0" tIns="0" rIns="0" bIns="0">
            <a:spAutoFit/>
          </a:bodyPr>
          <a:lstStyle/>
          <a:p>
            <a:pPr>
              <a:lnSpc>
                <a:spcPct val="100000"/>
              </a:lnSpc>
            </a:pPr>
            <a:r>
              <a:rPr sz="1250" b="1">
                <a:solidFill>
                  <a:srgbClr val="161A2B"/>
                </a:solidFill>
                <a:latin typeface="Arial"/>
              </a:rPr>
              <a:t>📈  Real-Time Adaptation</a:t>
            </a:r>
          </a:p>
          <a:p>
            <a:pPr>
              <a:lnSpc>
                <a:spcPct val="105000"/>
              </a:lnSpc>
              <a:spcBef>
                <a:spcPts val="300"/>
              </a:spcBef>
            </a:pPr>
            <a:r>
              <a:rPr sz="1050">
                <a:solidFill>
                  <a:srgbClr val="4A4A4A"/>
                </a:solidFill>
                <a:latin typeface="Arial"/>
              </a:rPr>
              <a:t>Increases question difficulty as the candidate answers well — just like a real interviewer.</a:t>
            </a:r>
          </a:p>
        </p:txBody>
      </p:sp>
      <p:sp>
        <p:nvSpPr>
          <p:cNvPr id="18" name="Rounded Rectangle 17"/>
          <p:cNvSpPr/>
          <p:nvPr/>
        </p:nvSpPr>
        <p:spPr>
          <a:xfrm>
            <a:off x="8082076" y="3337560"/>
            <a:ext cx="3606698" cy="137160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082076" y="3337560"/>
            <a:ext cx="82296" cy="1371600"/>
          </a:xfrm>
          <a:prstGeom prst="roundRect">
            <a:avLst>
              <a:gd name="adj" fmla="val 50000"/>
            </a:avLst>
          </a:prstGeom>
          <a:solidFill>
            <a:srgbClr val="F1A5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83244" y="3447288"/>
            <a:ext cx="3204362" cy="1170432"/>
          </a:xfrm>
          <a:prstGeom prst="rect">
            <a:avLst/>
          </a:prstGeom>
          <a:noFill/>
        </p:spPr>
        <p:txBody>
          <a:bodyPr wrap="square" lIns="0" tIns="0" rIns="0" bIns="0">
            <a:spAutoFit/>
          </a:bodyPr>
          <a:lstStyle/>
          <a:p>
            <a:pPr>
              <a:lnSpc>
                <a:spcPct val="100000"/>
              </a:lnSpc>
            </a:pPr>
            <a:r>
              <a:rPr sz="1250" b="1">
                <a:solidFill>
                  <a:srgbClr val="161A2B"/>
                </a:solidFill>
                <a:latin typeface="Arial"/>
              </a:rPr>
              <a:t>🛡️  Defense-in-Depth</a:t>
            </a:r>
          </a:p>
          <a:p>
            <a:pPr>
              <a:lnSpc>
                <a:spcPct val="105000"/>
              </a:lnSpc>
              <a:spcBef>
                <a:spcPts val="300"/>
              </a:spcBef>
            </a:pPr>
            <a:r>
              <a:rPr sz="1050">
                <a:solidFill>
                  <a:srgbClr val="4A4A4A"/>
                </a:solidFill>
                <a:latin typeface="Arial"/>
              </a:rPr>
              <a:t>sanitize_reply() works alongside the model, catching rare formatting slips without limiting autonomy.</a:t>
            </a:r>
          </a:p>
        </p:txBody>
      </p:sp>
      <p:sp>
        <p:nvSpPr>
          <p:cNvPr id="21" name="TextBox 20"/>
          <p:cNvSpPr txBox="1"/>
          <p:nvPr/>
        </p:nvSpPr>
        <p:spPr>
          <a:xfrm>
            <a:off x="502920" y="5074920"/>
            <a:ext cx="11155680" cy="1188720"/>
          </a:xfrm>
          <a:prstGeom prst="rect">
            <a:avLst/>
          </a:prstGeom>
          <a:noFill/>
        </p:spPr>
        <p:txBody>
          <a:bodyPr wrap="square" lIns="0" tIns="0" rIns="0" bIns="0" anchor="t">
            <a:spAutoFit/>
          </a:bodyPr>
          <a:lstStyle/>
          <a:p>
            <a:pPr algn="l">
              <a:lnSpc>
                <a:spcPct val="120000"/>
              </a:lnSpc>
            </a:pPr>
            <a:r>
              <a:rPr sz="1300" b="0" i="1">
                <a:solidFill>
                  <a:srgbClr val="161A2B"/>
                </a:solidFill>
                <a:latin typeface="Arial"/>
              </a:rPr>
              <a:t>Overall, ARIA is proactive, personalised, and goal-driven — acting like a genuine mock interview coach guiding a candidate from onboarding through to a completed, evaluated interview, grounded in their own resume where available.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5486400" cy="274320"/>
          </a:xfrm>
          <a:prstGeom prst="rect">
            <a:avLst/>
          </a:prstGeom>
          <a:noFill/>
        </p:spPr>
        <p:txBody>
          <a:bodyPr wrap="square" lIns="0" tIns="0" rIns="0" bIns="0" anchor="t">
            <a:spAutoFit/>
          </a:bodyPr>
          <a:lstStyle/>
          <a:p>
            <a:pPr algn="l">
              <a:lnSpc>
                <a:spcPct val="100000"/>
              </a:lnSpc>
            </a:pPr>
            <a:r>
              <a:rPr sz="1100" b="1" i="0">
                <a:solidFill>
                  <a:srgbClr val="0530AD"/>
                </a:solidFill>
                <a:latin typeface="Arial"/>
              </a:rPr>
              <a:t>ENGINEERING FOR EFFICIENCY</a:t>
            </a:r>
          </a:p>
        </p:txBody>
      </p:sp>
      <p:sp>
        <p:nvSpPr>
          <p:cNvPr id="4" name="TextBox 3"/>
          <p:cNvSpPr txBox="1"/>
          <p:nvPr/>
        </p:nvSpPr>
        <p:spPr>
          <a:xfrm>
            <a:off x="502920" y="502920"/>
            <a:ext cx="9601200" cy="640080"/>
          </a:xfrm>
          <a:prstGeom prst="rect">
            <a:avLst/>
          </a:prstGeom>
          <a:noFill/>
        </p:spPr>
        <p:txBody>
          <a:bodyPr wrap="square" lIns="0" tIns="0" rIns="0" bIns="0" anchor="t">
            <a:spAutoFit/>
          </a:bodyPr>
          <a:lstStyle/>
          <a:p>
            <a:pPr algn="l">
              <a:lnSpc>
                <a:spcPct val="100000"/>
              </a:lnSpc>
            </a:pPr>
            <a:r>
              <a:rPr sz="2800" b="1" i="0">
                <a:solidFill>
                  <a:srgbClr val="161A2B"/>
                </a:solidFill>
                <a:latin typeface="Arial"/>
              </a:rPr>
              <a:t>Token Optimisation</a:t>
            </a:r>
          </a:p>
        </p:txBody>
      </p:sp>
      <p:sp>
        <p:nvSpPr>
          <p:cNvPr id="5" name="Rectangle 4"/>
          <p:cNvSpPr/>
          <p:nvPr/>
        </p:nvSpPr>
        <p:spPr>
          <a:xfrm>
            <a:off x="502920" y="1143000"/>
            <a:ext cx="1005840" cy="38100"/>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37960"/>
            <a:ext cx="5486400" cy="274320"/>
          </a:xfrm>
          <a:prstGeom prst="rect">
            <a:avLst/>
          </a:prstGeom>
          <a:noFill/>
        </p:spPr>
        <p:txBody>
          <a:bodyPr wrap="square" lIns="0" tIns="0" rIns="0" bIns="0" anchor="t">
            <a:spAutoFit/>
          </a:bodyPr>
          <a:lstStyle/>
          <a:p>
            <a:pPr algn="l">
              <a:lnSpc>
                <a:spcPct val="100000"/>
              </a:lnSpc>
            </a:pPr>
            <a:r>
              <a:rPr sz="800" b="0" i="0">
                <a:solidFill>
                  <a:srgbClr val="9A9A9A"/>
                </a:solidFill>
                <a:latin typeface="Arial"/>
              </a:rPr>
              <a:t>ARIA — AI Readiness Interview Agent</a:t>
            </a:r>
          </a:p>
        </p:txBody>
      </p:sp>
      <p:sp>
        <p:nvSpPr>
          <p:cNvPr id="7" name="TextBox 6"/>
          <p:cNvSpPr txBox="1"/>
          <p:nvPr/>
        </p:nvSpPr>
        <p:spPr>
          <a:xfrm>
            <a:off x="9601200" y="6537960"/>
            <a:ext cx="2103120" cy="274320"/>
          </a:xfrm>
          <a:prstGeom prst="rect">
            <a:avLst/>
          </a:prstGeom>
          <a:noFill/>
        </p:spPr>
        <p:txBody>
          <a:bodyPr wrap="square" lIns="0" tIns="0" rIns="0" bIns="0" anchor="t">
            <a:spAutoFit/>
          </a:bodyPr>
          <a:lstStyle/>
          <a:p>
            <a:pPr algn="r">
              <a:lnSpc>
                <a:spcPct val="100000"/>
              </a:lnSpc>
            </a:pPr>
            <a:r>
              <a:rPr sz="800" b="0" i="0">
                <a:solidFill>
                  <a:srgbClr val="9A9A9A"/>
                </a:solidFill>
                <a:latin typeface="Arial"/>
              </a:rPr>
              <a:t>IBM SkillsBuild × AICTE 2026   |   10/17</a:t>
            </a:r>
          </a:p>
        </p:txBody>
      </p:sp>
      <p:sp>
        <p:nvSpPr>
          <p:cNvPr id="8" name="TextBox 7"/>
          <p:cNvSpPr txBox="1"/>
          <p:nvPr/>
        </p:nvSpPr>
        <p:spPr>
          <a:xfrm>
            <a:off x="502920" y="1371600"/>
            <a:ext cx="11155680" cy="365760"/>
          </a:xfrm>
          <a:prstGeom prst="rect">
            <a:avLst/>
          </a:prstGeom>
          <a:noFill/>
        </p:spPr>
        <p:txBody>
          <a:bodyPr wrap="square" lIns="0" tIns="0" rIns="0" bIns="0" anchor="t">
            <a:spAutoFit/>
          </a:bodyPr>
          <a:lstStyle/>
          <a:p>
            <a:pPr algn="l">
              <a:lnSpc>
                <a:spcPct val="100000"/>
              </a:lnSpc>
            </a:pPr>
            <a:r>
              <a:rPr sz="1300" b="0" i="0">
                <a:solidFill>
                  <a:srgbClr val="4A4A4A"/>
                </a:solidFill>
                <a:latin typeface="Arial"/>
              </a:rPr>
              <a:t>ARIA was heavily optimised to stay within IBM watsonx.ai's free Lite tier limits.</a:t>
            </a:r>
          </a:p>
        </p:txBody>
      </p:sp>
      <p:sp>
        <p:nvSpPr>
          <p:cNvPr id="9" name="Rounded Rectangle 8"/>
          <p:cNvSpPr/>
          <p:nvPr/>
        </p:nvSpPr>
        <p:spPr>
          <a:xfrm>
            <a:off x="502920" y="1920240"/>
            <a:ext cx="2606040" cy="1371600"/>
          </a:xfrm>
          <a:prstGeom prst="roundRect">
            <a:avLst>
              <a:gd name="adj" fmla="val 8000"/>
            </a:avLst>
          </a:prstGeom>
          <a:solidFill>
            <a:srgbClr val="FFFFFF"/>
          </a:solidFill>
          <a:ln w="19050">
            <a:solidFill>
              <a:srgbClr val="DA1E28"/>
            </a:solidFill>
          </a:ln>
          <a:effectLst/>
        </p:spPr>
        <p:style>
          <a:lnRef idx="1">
            <a:schemeClr val="accent1"/>
          </a:lnRef>
          <a:fillRef idx="3">
            <a:schemeClr val="accent1"/>
          </a:fillRef>
          <a:effectRef idx="2">
            <a:schemeClr val="accent1"/>
          </a:effectRef>
          <a:fontRef idx="minor">
            <a:schemeClr val="lt1"/>
          </a:fontRef>
        </p:style>
        <p:txBody>
          <a:bodyPr tIns="76200" bIns="76200" rtlCol="0" anchor="ctr"/>
          <a:lstStyle/>
          <a:p>
            <a:pPr algn="ctr"/>
            <a:r>
              <a:rPr sz="2600" b="1">
                <a:solidFill>
                  <a:srgbClr val="DA1E28"/>
                </a:solidFill>
                <a:latin typeface="Arial"/>
              </a:rPr>
              <a:t>~1,400 → ~505</a:t>
            </a:r>
          </a:p>
          <a:p>
            <a:pPr algn="ctr"/>
            <a:r>
              <a:rPr sz="1050">
                <a:solidFill>
                  <a:srgbClr val="4A4A4A"/>
                </a:solidFill>
                <a:latin typeface="Arial"/>
              </a:rPr>
              <a:t>Input tokens / call</a:t>
            </a:r>
          </a:p>
          <a:p>
            <a:pPr algn="ctr"/>
            <a:r>
              <a:rPr sz="900" i="1">
                <a:solidFill>
                  <a:srgbClr val="9A9A9A"/>
                </a:solidFill>
                <a:latin typeface="Arial"/>
              </a:rPr>
              <a:t>before → after</a:t>
            </a:r>
          </a:p>
        </p:txBody>
      </p:sp>
      <p:sp>
        <p:nvSpPr>
          <p:cNvPr id="10" name="Rounded Rectangle 9"/>
          <p:cNvSpPr/>
          <p:nvPr/>
        </p:nvSpPr>
        <p:spPr>
          <a:xfrm>
            <a:off x="3310128" y="1920240"/>
            <a:ext cx="2606040" cy="1371600"/>
          </a:xfrm>
          <a:prstGeom prst="roundRect">
            <a:avLst>
              <a:gd name="adj" fmla="val 8000"/>
            </a:avLst>
          </a:prstGeom>
          <a:solidFill>
            <a:srgbClr val="FFFFFF"/>
          </a:solidFill>
          <a:ln w="19050">
            <a:solidFill>
              <a:srgbClr val="F1A50C"/>
            </a:solidFill>
          </a:ln>
          <a:effectLst/>
        </p:spPr>
        <p:style>
          <a:lnRef idx="1">
            <a:schemeClr val="accent1"/>
          </a:lnRef>
          <a:fillRef idx="3">
            <a:schemeClr val="accent1"/>
          </a:fillRef>
          <a:effectRef idx="2">
            <a:schemeClr val="accent1"/>
          </a:effectRef>
          <a:fontRef idx="minor">
            <a:schemeClr val="lt1"/>
          </a:fontRef>
        </p:style>
        <p:txBody>
          <a:bodyPr tIns="76200" bIns="76200" rtlCol="0" anchor="ctr"/>
          <a:lstStyle/>
          <a:p>
            <a:pPr algn="ctr"/>
            <a:r>
              <a:rPr sz="2600" b="1">
                <a:solidFill>
                  <a:srgbClr val="F1A50C"/>
                </a:solidFill>
                <a:latin typeface="Arial"/>
              </a:rPr>
              <a:t>~18,000 → ~6,500</a:t>
            </a:r>
          </a:p>
          <a:p>
            <a:pPr algn="ctr"/>
            <a:r>
              <a:rPr sz="1050">
                <a:solidFill>
                  <a:srgbClr val="4A4A4A"/>
                </a:solidFill>
                <a:latin typeface="Arial"/>
              </a:rPr>
              <a:t>Full session cost (tokens)</a:t>
            </a:r>
          </a:p>
          <a:p>
            <a:pPr algn="ctr"/>
            <a:r>
              <a:rPr sz="900" i="1">
                <a:solidFill>
                  <a:srgbClr val="9A9A9A"/>
                </a:solidFill>
                <a:latin typeface="Arial"/>
              </a:rPr>
              <a:t>before → after</a:t>
            </a:r>
          </a:p>
        </p:txBody>
      </p:sp>
      <p:sp>
        <p:nvSpPr>
          <p:cNvPr id="11" name="Rounded Rectangle 10"/>
          <p:cNvSpPr/>
          <p:nvPr/>
        </p:nvSpPr>
        <p:spPr>
          <a:xfrm>
            <a:off x="6117336" y="1920240"/>
            <a:ext cx="2606040" cy="1371600"/>
          </a:xfrm>
          <a:prstGeom prst="roundRect">
            <a:avLst>
              <a:gd name="adj" fmla="val 8000"/>
            </a:avLst>
          </a:prstGeom>
          <a:solidFill>
            <a:srgbClr val="FFFFFF"/>
          </a:solidFill>
          <a:ln w="19050">
            <a:solidFill>
              <a:srgbClr val="24A148"/>
            </a:solidFill>
          </a:ln>
          <a:effectLst/>
        </p:spPr>
        <p:style>
          <a:lnRef idx="1">
            <a:schemeClr val="accent1"/>
          </a:lnRef>
          <a:fillRef idx="3">
            <a:schemeClr val="accent1"/>
          </a:fillRef>
          <a:effectRef idx="2">
            <a:schemeClr val="accent1"/>
          </a:effectRef>
          <a:fontRef idx="minor">
            <a:schemeClr val="lt1"/>
          </a:fontRef>
        </p:style>
        <p:txBody>
          <a:bodyPr tIns="76200" bIns="76200" rtlCol="0" anchor="ctr"/>
          <a:lstStyle/>
          <a:p>
            <a:pPr algn="ctr"/>
            <a:r>
              <a:rPr sz="2600" b="1">
                <a:solidFill>
                  <a:srgbClr val="24A148"/>
                </a:solidFill>
                <a:latin typeface="Arial"/>
              </a:rPr>
              <a:t>~2-3 → ~7-8</a:t>
            </a:r>
          </a:p>
          <a:p>
            <a:pPr algn="ctr"/>
            <a:r>
              <a:rPr sz="1050">
                <a:solidFill>
                  <a:srgbClr val="4A4A4A"/>
                </a:solidFill>
                <a:latin typeface="Arial"/>
              </a:rPr>
              <a:t>Sessions / month (free tier)</a:t>
            </a:r>
          </a:p>
          <a:p>
            <a:pPr algn="ctr"/>
            <a:r>
              <a:rPr sz="900" i="1">
                <a:solidFill>
                  <a:srgbClr val="9A9A9A"/>
                </a:solidFill>
                <a:latin typeface="Arial"/>
              </a:rPr>
              <a:t>before → after</a:t>
            </a:r>
          </a:p>
        </p:txBody>
      </p:sp>
      <p:sp>
        <p:nvSpPr>
          <p:cNvPr id="12" name="Rounded Rectangle 11"/>
          <p:cNvSpPr/>
          <p:nvPr/>
        </p:nvSpPr>
        <p:spPr>
          <a:xfrm>
            <a:off x="8924544" y="1920240"/>
            <a:ext cx="2606040" cy="1371600"/>
          </a:xfrm>
          <a:prstGeom prst="roundRect">
            <a:avLst>
              <a:gd name="adj" fmla="val 8000"/>
            </a:avLst>
          </a:prstGeom>
          <a:solidFill>
            <a:srgbClr val="FFFFFF"/>
          </a:solidFill>
          <a:ln w="19050">
            <a:solidFill>
              <a:srgbClr val="0530AD"/>
            </a:solidFill>
          </a:ln>
          <a:effectLst/>
        </p:spPr>
        <p:style>
          <a:lnRef idx="1">
            <a:schemeClr val="accent1"/>
          </a:lnRef>
          <a:fillRef idx="3">
            <a:schemeClr val="accent1"/>
          </a:fillRef>
          <a:effectRef idx="2">
            <a:schemeClr val="accent1"/>
          </a:effectRef>
          <a:fontRef idx="minor">
            <a:schemeClr val="lt1"/>
          </a:fontRef>
        </p:style>
        <p:txBody>
          <a:bodyPr tIns="76200" bIns="76200" rtlCol="0" anchor="ctr"/>
          <a:lstStyle/>
          <a:p>
            <a:pPr algn="ctr"/>
            <a:r>
              <a:rPr sz="2600" b="1">
                <a:solidFill>
                  <a:srgbClr val="0530AD"/>
                </a:solidFill>
                <a:latin typeface="Arial"/>
              </a:rPr>
              <a:t>~650 tok</a:t>
            </a:r>
          </a:p>
          <a:p>
            <a:pPr algn="ctr"/>
            <a:r>
              <a:rPr sz="1050">
                <a:solidFill>
                  <a:srgbClr val="4A4A4A"/>
                </a:solidFill>
                <a:latin typeface="Arial"/>
              </a:rPr>
              <a:t>One-time resume digest cost</a:t>
            </a:r>
          </a:p>
          <a:p>
            <a:pPr algn="ctr"/>
            <a:r>
              <a:rPr sz="900" i="1">
                <a:solidFill>
                  <a:srgbClr val="9A9A9A"/>
                </a:solidFill>
                <a:latin typeface="Arial"/>
              </a:rPr>
              <a:t>then +~130 tok/call</a:t>
            </a:r>
          </a:p>
        </p:txBody>
      </p:sp>
      <p:sp>
        <p:nvSpPr>
          <p:cNvPr id="13" name="TextBox 12"/>
          <p:cNvSpPr txBox="1"/>
          <p:nvPr/>
        </p:nvSpPr>
        <p:spPr>
          <a:xfrm>
            <a:off x="502920" y="3611880"/>
            <a:ext cx="5486400" cy="320040"/>
          </a:xfrm>
          <a:prstGeom prst="rect">
            <a:avLst/>
          </a:prstGeom>
          <a:noFill/>
        </p:spPr>
        <p:txBody>
          <a:bodyPr wrap="square" lIns="0" tIns="0" rIns="0" bIns="0" anchor="t">
            <a:spAutoFit/>
          </a:bodyPr>
          <a:lstStyle/>
          <a:p>
            <a:pPr algn="l">
              <a:lnSpc>
                <a:spcPct val="100000"/>
              </a:lnSpc>
            </a:pPr>
            <a:r>
              <a:rPr sz="1350" b="1" i="0">
                <a:solidFill>
                  <a:srgbClr val="0530AD"/>
                </a:solidFill>
                <a:latin typeface="Arial"/>
              </a:rPr>
              <a:t>Key Changes Applied</a:t>
            </a:r>
          </a:p>
        </p:txBody>
      </p:sp>
      <p:sp>
        <p:nvSpPr>
          <p:cNvPr id="14" name="Rounded Rectangle 13"/>
          <p:cNvSpPr/>
          <p:nvPr/>
        </p:nvSpPr>
        <p:spPr>
          <a:xfrm>
            <a:off x="502920" y="3794760"/>
            <a:ext cx="3637178" cy="105156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02920" y="3794760"/>
            <a:ext cx="82296" cy="1051560"/>
          </a:xfrm>
          <a:prstGeom prst="roundRect">
            <a:avLst>
              <a:gd name="adj" fmla="val 50000"/>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04088" y="3904488"/>
            <a:ext cx="3234842" cy="850392"/>
          </a:xfrm>
          <a:prstGeom prst="rect">
            <a:avLst/>
          </a:prstGeom>
          <a:noFill/>
        </p:spPr>
        <p:txBody>
          <a:bodyPr wrap="square" lIns="0" tIns="0" rIns="0" bIns="0">
            <a:spAutoFit/>
          </a:bodyPr>
          <a:lstStyle/>
          <a:p>
            <a:pPr>
              <a:lnSpc>
                <a:spcPct val="100000"/>
              </a:lnSpc>
            </a:pPr>
            <a:r>
              <a:rPr sz="1100" b="1">
                <a:solidFill>
                  <a:srgbClr val="161A2B"/>
                </a:solidFill>
                <a:latin typeface="Arial"/>
              </a:rPr>
              <a:t>🗂️  Server-Side Session Store</a:t>
            </a:r>
          </a:p>
          <a:p>
            <a:pPr>
              <a:lnSpc>
                <a:spcPct val="105000"/>
              </a:lnSpc>
              <a:spcBef>
                <a:spcPts val="300"/>
              </a:spcBef>
            </a:pPr>
            <a:r>
              <a:rPr sz="900">
                <a:solidFill>
                  <a:srgbClr val="4A4A4A"/>
                </a:solidFill>
                <a:latin typeface="Arial"/>
              </a:rPr>
              <a:t>History held server-side, never sent from the browser — fixed-size window every call.</a:t>
            </a:r>
          </a:p>
        </p:txBody>
      </p:sp>
      <p:sp>
        <p:nvSpPr>
          <p:cNvPr id="17" name="Rounded Rectangle 16"/>
          <p:cNvSpPr/>
          <p:nvPr/>
        </p:nvSpPr>
        <p:spPr>
          <a:xfrm>
            <a:off x="4277258" y="3794760"/>
            <a:ext cx="3637178" cy="105156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277258" y="3794760"/>
            <a:ext cx="82296" cy="1051560"/>
          </a:xfrm>
          <a:prstGeom prst="roundRect">
            <a:avLst>
              <a:gd name="adj" fmla="val 50000"/>
            </a:avLst>
          </a:prstGeom>
          <a:solidFill>
            <a:srgbClr val="009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78426" y="3904488"/>
            <a:ext cx="3234842" cy="850392"/>
          </a:xfrm>
          <a:prstGeom prst="rect">
            <a:avLst/>
          </a:prstGeom>
          <a:noFill/>
        </p:spPr>
        <p:txBody>
          <a:bodyPr wrap="square" lIns="0" tIns="0" rIns="0" bIns="0">
            <a:spAutoFit/>
          </a:bodyPr>
          <a:lstStyle/>
          <a:p>
            <a:pPr>
              <a:lnSpc>
                <a:spcPct val="100000"/>
              </a:lnSpc>
            </a:pPr>
            <a:r>
              <a:rPr sz="1100" b="1">
                <a:solidFill>
                  <a:srgbClr val="161A2B"/>
                </a:solidFill>
                <a:latin typeface="Arial"/>
              </a:rPr>
              <a:t>✂️  Compressed System Prompt</a:t>
            </a:r>
          </a:p>
          <a:p>
            <a:pPr>
              <a:lnSpc>
                <a:spcPct val="105000"/>
              </a:lnSpc>
              <a:spcBef>
                <a:spcPts val="300"/>
              </a:spcBef>
            </a:pPr>
            <a:r>
              <a:rPr sz="900">
                <a:solidFill>
                  <a:srgbClr val="4A4A4A"/>
                </a:solidFill>
                <a:latin typeface="Arial"/>
              </a:rPr>
              <a:t>~650 tokens → ~200 tokens, without losing any behavioural rules.</a:t>
            </a:r>
          </a:p>
        </p:txBody>
      </p:sp>
      <p:sp>
        <p:nvSpPr>
          <p:cNvPr id="20" name="Rounded Rectangle 19"/>
          <p:cNvSpPr/>
          <p:nvPr/>
        </p:nvSpPr>
        <p:spPr>
          <a:xfrm>
            <a:off x="8051596" y="3794760"/>
            <a:ext cx="3637178" cy="105156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051596" y="3794760"/>
            <a:ext cx="82296" cy="1051560"/>
          </a:xfrm>
          <a:prstGeom prst="roundRect">
            <a:avLst>
              <a:gd name="adj" fmla="val 50000"/>
            </a:avLst>
          </a:prstGeom>
          <a:solidFill>
            <a:srgbClr val="F1A5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52764" y="3904488"/>
            <a:ext cx="3234842" cy="850392"/>
          </a:xfrm>
          <a:prstGeom prst="rect">
            <a:avLst/>
          </a:prstGeom>
          <a:noFill/>
        </p:spPr>
        <p:txBody>
          <a:bodyPr wrap="square" lIns="0" tIns="0" rIns="0" bIns="0">
            <a:spAutoFit/>
          </a:bodyPr>
          <a:lstStyle/>
          <a:p>
            <a:pPr>
              <a:lnSpc>
                <a:spcPct val="100000"/>
              </a:lnSpc>
            </a:pPr>
            <a:r>
              <a:rPr sz="1100" b="1">
                <a:solidFill>
                  <a:srgbClr val="161A2B"/>
                </a:solidFill>
                <a:latin typeface="Arial"/>
              </a:rPr>
              <a:t>📏  Word-Count Truncation</a:t>
            </a:r>
          </a:p>
          <a:p>
            <a:pPr>
              <a:lnSpc>
                <a:spcPct val="105000"/>
              </a:lnSpc>
              <a:spcBef>
                <a:spcPts val="300"/>
              </a:spcBef>
            </a:pPr>
            <a:r>
              <a:rPr sz="900">
                <a:solidFill>
                  <a:srgbClr val="4A4A4A"/>
                </a:solidFill>
                <a:latin typeface="Arial"/>
              </a:rPr>
              <a:t>Switched from character-count (inaccurate) to word-count (token-accurate) trimming.</a:t>
            </a:r>
          </a:p>
        </p:txBody>
      </p:sp>
      <p:sp>
        <p:nvSpPr>
          <p:cNvPr id="23" name="Rounded Rectangle 22"/>
          <p:cNvSpPr/>
          <p:nvPr/>
        </p:nvSpPr>
        <p:spPr>
          <a:xfrm>
            <a:off x="502920" y="4983480"/>
            <a:ext cx="3637178" cy="105156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02920" y="4983480"/>
            <a:ext cx="82296" cy="1051560"/>
          </a:xfrm>
          <a:prstGeom prst="roundRect">
            <a:avLst>
              <a:gd name="adj" fmla="val 50000"/>
            </a:avLst>
          </a:prstGeom>
          <a:solidFill>
            <a:srgbClr val="24A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04088" y="5093208"/>
            <a:ext cx="3234842" cy="850392"/>
          </a:xfrm>
          <a:prstGeom prst="rect">
            <a:avLst/>
          </a:prstGeom>
          <a:noFill/>
        </p:spPr>
        <p:txBody>
          <a:bodyPr wrap="square" lIns="0" tIns="0" rIns="0" bIns="0">
            <a:spAutoFit/>
          </a:bodyPr>
          <a:lstStyle/>
          <a:p>
            <a:pPr>
              <a:lnSpc>
                <a:spcPct val="100000"/>
              </a:lnSpc>
            </a:pPr>
            <a:r>
              <a:rPr sz="1100" b="1">
                <a:solidFill>
                  <a:srgbClr val="161A2B"/>
                </a:solidFill>
                <a:latin typeface="Arial"/>
              </a:rPr>
              <a:t>🎚️  Dynamic Output Caps</a:t>
            </a:r>
          </a:p>
          <a:p>
            <a:pPr>
              <a:lnSpc>
                <a:spcPct val="105000"/>
              </a:lnSpc>
              <a:spcBef>
                <a:spcPts val="300"/>
              </a:spcBef>
            </a:pPr>
            <a:r>
              <a:rPr sz="900">
                <a:solidFill>
                  <a:srgbClr val="4A4A4A"/>
                </a:solidFill>
                <a:latin typeface="Arial"/>
              </a:rPr>
              <a:t>50 / 180 / 400 tokens depending on interview phase, instead of one fixed cap.</a:t>
            </a:r>
          </a:p>
        </p:txBody>
      </p:sp>
      <p:sp>
        <p:nvSpPr>
          <p:cNvPr id="26" name="Rounded Rectangle 25"/>
          <p:cNvSpPr/>
          <p:nvPr/>
        </p:nvSpPr>
        <p:spPr>
          <a:xfrm>
            <a:off x="4277258" y="4983480"/>
            <a:ext cx="3637178" cy="105156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4277258" y="4983480"/>
            <a:ext cx="82296" cy="1051560"/>
          </a:xfrm>
          <a:prstGeom prst="roundRect">
            <a:avLst>
              <a:gd name="adj" fmla="val 50000"/>
            </a:avLst>
          </a:prstGeom>
          <a:solidFill>
            <a:srgbClr val="8A3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478426" y="5093208"/>
            <a:ext cx="3234842" cy="850392"/>
          </a:xfrm>
          <a:prstGeom prst="rect">
            <a:avLst/>
          </a:prstGeom>
          <a:noFill/>
        </p:spPr>
        <p:txBody>
          <a:bodyPr wrap="square" lIns="0" tIns="0" rIns="0" bIns="0">
            <a:spAutoFit/>
          </a:bodyPr>
          <a:lstStyle/>
          <a:p>
            <a:pPr>
              <a:lnSpc>
                <a:spcPct val="100000"/>
              </a:lnSpc>
            </a:pPr>
            <a:r>
              <a:rPr sz="1100" b="1">
                <a:solidFill>
                  <a:srgbClr val="161A2B"/>
                </a:solidFill>
                <a:latin typeface="Arial"/>
              </a:rPr>
              <a:t>💬  Structured Chat API</a:t>
            </a:r>
          </a:p>
          <a:p>
            <a:pPr>
              <a:lnSpc>
                <a:spcPct val="105000"/>
              </a:lnSpc>
              <a:spcBef>
                <a:spcPts val="300"/>
              </a:spcBef>
            </a:pPr>
            <a:r>
              <a:rPr sz="900">
                <a:solidFill>
                  <a:srgbClr val="4A4A4A"/>
                </a:solidFill>
                <a:latin typeface="Arial"/>
              </a:rPr>
              <a:t>Moved from raw text-completion to system/user/assistant roles — fewer wasted retries.</a:t>
            </a:r>
          </a:p>
        </p:txBody>
      </p:sp>
      <p:sp>
        <p:nvSpPr>
          <p:cNvPr id="29" name="Rounded Rectangle 28"/>
          <p:cNvSpPr/>
          <p:nvPr/>
        </p:nvSpPr>
        <p:spPr>
          <a:xfrm>
            <a:off x="8051596" y="4983480"/>
            <a:ext cx="3637178" cy="105156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051596" y="4983480"/>
            <a:ext cx="82296" cy="1051560"/>
          </a:xfrm>
          <a:prstGeom prst="roundRect">
            <a:avLst>
              <a:gd name="adj" fmla="val 50000"/>
            </a:avLst>
          </a:prstGeom>
          <a:solidFill>
            <a:srgbClr val="D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52764" y="5093208"/>
            <a:ext cx="3234842" cy="850392"/>
          </a:xfrm>
          <a:prstGeom prst="rect">
            <a:avLst/>
          </a:prstGeom>
          <a:noFill/>
        </p:spPr>
        <p:txBody>
          <a:bodyPr wrap="square" lIns="0" tIns="0" rIns="0" bIns="0">
            <a:spAutoFit/>
          </a:bodyPr>
          <a:lstStyle/>
          <a:p>
            <a:pPr>
              <a:lnSpc>
                <a:spcPct val="100000"/>
              </a:lnSpc>
            </a:pPr>
            <a:r>
              <a:rPr sz="1100" b="1">
                <a:solidFill>
                  <a:srgbClr val="161A2B"/>
                </a:solidFill>
                <a:latin typeface="Arial"/>
              </a:rPr>
              <a:t>🔥  Background Model Warmup</a:t>
            </a:r>
          </a:p>
          <a:p>
            <a:pPr>
              <a:lnSpc>
                <a:spcPct val="105000"/>
              </a:lnSpc>
              <a:spcBef>
                <a:spcPts val="300"/>
              </a:spcBef>
            </a:pPr>
            <a:r>
              <a:rPr sz="900">
                <a:solidFill>
                  <a:srgbClr val="4A4A4A"/>
                </a:solidFill>
                <a:latin typeface="Arial"/>
              </a:rPr>
              <a:t>Model warms up at startup — no cold-start lag on the candidate's first message.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1D07F1-07E6-6DF1-0F6F-DFE6758FF955}"/>
              </a:ext>
            </a:extLst>
          </p:cNvPr>
          <p:cNvSpPr txBox="1"/>
          <p:nvPr/>
        </p:nvSpPr>
        <p:spPr>
          <a:xfrm>
            <a:off x="581578" y="502920"/>
            <a:ext cx="9601200" cy="430887"/>
          </a:xfrm>
          <a:prstGeom prst="rect">
            <a:avLst/>
          </a:prstGeom>
          <a:noFill/>
        </p:spPr>
        <p:txBody>
          <a:bodyPr wrap="square" lIns="0" tIns="0" rIns="0" bIns="0" anchor="t">
            <a:spAutoFit/>
          </a:bodyPr>
          <a:lstStyle/>
          <a:p>
            <a:r>
              <a:rPr sz="2800" b="1" i="0" dirty="0">
                <a:solidFill>
                  <a:srgbClr val="161A2B"/>
                </a:solidFill>
                <a:latin typeface="Arial"/>
              </a:rPr>
              <a:t>Token </a:t>
            </a:r>
            <a:r>
              <a:rPr lang="en-US" sz="2800" b="1" dirty="0">
                <a:sym typeface="Times New Roman"/>
              </a:rPr>
              <a:t>Usage </a:t>
            </a:r>
            <a:endParaRPr sz="2800" b="1" i="0" dirty="0">
              <a:solidFill>
                <a:srgbClr val="161A2B"/>
              </a:solidFill>
              <a:latin typeface="Arial"/>
            </a:endParaRPr>
          </a:p>
        </p:txBody>
      </p:sp>
      <p:sp>
        <p:nvSpPr>
          <p:cNvPr id="9" name="TextBox 8">
            <a:extLst>
              <a:ext uri="{FF2B5EF4-FFF2-40B4-BE49-F238E27FC236}">
                <a16:creationId xmlns:a16="http://schemas.microsoft.com/office/drawing/2014/main" id="{5292FB55-BBCE-B06E-667D-ECD379270D61}"/>
              </a:ext>
            </a:extLst>
          </p:cNvPr>
          <p:cNvSpPr txBox="1"/>
          <p:nvPr/>
        </p:nvSpPr>
        <p:spPr>
          <a:xfrm>
            <a:off x="581578" y="1518012"/>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dirty="0"/>
              <a:t>Before Prompt</a:t>
            </a:r>
          </a:p>
        </p:txBody>
      </p:sp>
      <p:sp>
        <p:nvSpPr>
          <p:cNvPr id="15" name="TextBox 14">
            <a:extLst>
              <a:ext uri="{FF2B5EF4-FFF2-40B4-BE49-F238E27FC236}">
                <a16:creationId xmlns:a16="http://schemas.microsoft.com/office/drawing/2014/main" id="{5C4449C6-20EF-C65E-0561-D4A1A1F9D186}"/>
              </a:ext>
            </a:extLst>
          </p:cNvPr>
          <p:cNvSpPr txBox="1"/>
          <p:nvPr/>
        </p:nvSpPr>
        <p:spPr>
          <a:xfrm>
            <a:off x="8188376" y="1522864"/>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dirty="0"/>
              <a:t>After the Prompt</a:t>
            </a:r>
          </a:p>
        </p:txBody>
      </p:sp>
      <p:pic>
        <p:nvPicPr>
          <p:cNvPr id="17" name="Picture 16">
            <a:extLst>
              <a:ext uri="{FF2B5EF4-FFF2-40B4-BE49-F238E27FC236}">
                <a16:creationId xmlns:a16="http://schemas.microsoft.com/office/drawing/2014/main" id="{34C97B5A-F018-36B2-4E58-C23D10F09255}"/>
              </a:ext>
            </a:extLst>
          </p:cNvPr>
          <p:cNvPicPr>
            <a:picLocks noChangeAspect="1"/>
          </p:cNvPicPr>
          <p:nvPr/>
        </p:nvPicPr>
        <p:blipFill>
          <a:blip r:embed="rId2"/>
          <a:stretch>
            <a:fillRect/>
          </a:stretch>
        </p:blipFill>
        <p:spPr>
          <a:xfrm>
            <a:off x="77561" y="2118852"/>
            <a:ext cx="6018439" cy="3221136"/>
          </a:xfrm>
          <a:prstGeom prst="rect">
            <a:avLst/>
          </a:prstGeom>
        </p:spPr>
      </p:pic>
      <p:pic>
        <p:nvPicPr>
          <p:cNvPr id="19" name="Picture 18">
            <a:extLst>
              <a:ext uri="{FF2B5EF4-FFF2-40B4-BE49-F238E27FC236}">
                <a16:creationId xmlns:a16="http://schemas.microsoft.com/office/drawing/2014/main" id="{04C3A9E7-BB68-B955-E907-D37006FE0BAA}"/>
              </a:ext>
            </a:extLst>
          </p:cNvPr>
          <p:cNvPicPr>
            <a:picLocks noChangeAspect="1"/>
          </p:cNvPicPr>
          <p:nvPr/>
        </p:nvPicPr>
        <p:blipFill>
          <a:blip r:embed="rId3"/>
          <a:stretch>
            <a:fillRect/>
          </a:stretch>
        </p:blipFill>
        <p:spPr>
          <a:xfrm>
            <a:off x="6595656" y="2107150"/>
            <a:ext cx="5187853" cy="3227986"/>
          </a:xfrm>
          <a:prstGeom prst="rect">
            <a:avLst/>
          </a:prstGeom>
        </p:spPr>
      </p:pic>
    </p:spTree>
    <p:extLst>
      <p:ext uri="{BB962C8B-B14F-4D97-AF65-F5344CB8AC3E}">
        <p14:creationId xmlns:p14="http://schemas.microsoft.com/office/powerpoint/2010/main" val="2213679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5486400" cy="274320"/>
          </a:xfrm>
          <a:prstGeom prst="rect">
            <a:avLst/>
          </a:prstGeom>
          <a:noFill/>
        </p:spPr>
        <p:txBody>
          <a:bodyPr wrap="square" lIns="0" tIns="0" rIns="0" bIns="0" anchor="t">
            <a:spAutoFit/>
          </a:bodyPr>
          <a:lstStyle/>
          <a:p>
            <a:pPr algn="l">
              <a:lnSpc>
                <a:spcPct val="100000"/>
              </a:lnSpc>
            </a:pPr>
            <a:r>
              <a:rPr sz="1100" b="1" i="0">
                <a:solidFill>
                  <a:srgbClr val="0530AD"/>
                </a:solidFill>
                <a:latin typeface="Arial"/>
              </a:rPr>
              <a:t>WHAT SETS ARIA APART</a:t>
            </a:r>
          </a:p>
        </p:txBody>
      </p:sp>
      <p:sp>
        <p:nvSpPr>
          <p:cNvPr id="4" name="TextBox 3"/>
          <p:cNvSpPr txBox="1"/>
          <p:nvPr/>
        </p:nvSpPr>
        <p:spPr>
          <a:xfrm>
            <a:off x="502920" y="502920"/>
            <a:ext cx="9601200" cy="640080"/>
          </a:xfrm>
          <a:prstGeom prst="rect">
            <a:avLst/>
          </a:prstGeom>
          <a:noFill/>
        </p:spPr>
        <p:txBody>
          <a:bodyPr wrap="square" lIns="0" tIns="0" rIns="0" bIns="0" anchor="t">
            <a:spAutoFit/>
          </a:bodyPr>
          <a:lstStyle/>
          <a:p>
            <a:pPr algn="l">
              <a:lnSpc>
                <a:spcPct val="100000"/>
              </a:lnSpc>
            </a:pPr>
            <a:r>
              <a:rPr sz="2800" b="1" i="0">
                <a:solidFill>
                  <a:srgbClr val="161A2B"/>
                </a:solidFill>
                <a:latin typeface="Arial"/>
              </a:rPr>
              <a:t>Novelty &amp; Unique Features</a:t>
            </a:r>
          </a:p>
        </p:txBody>
      </p:sp>
      <p:sp>
        <p:nvSpPr>
          <p:cNvPr id="5" name="Rectangle 4"/>
          <p:cNvSpPr/>
          <p:nvPr/>
        </p:nvSpPr>
        <p:spPr>
          <a:xfrm>
            <a:off x="502920" y="1143000"/>
            <a:ext cx="1005840" cy="38100"/>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37960"/>
            <a:ext cx="5486400" cy="274320"/>
          </a:xfrm>
          <a:prstGeom prst="rect">
            <a:avLst/>
          </a:prstGeom>
          <a:noFill/>
        </p:spPr>
        <p:txBody>
          <a:bodyPr wrap="square" lIns="0" tIns="0" rIns="0" bIns="0" anchor="t">
            <a:spAutoFit/>
          </a:bodyPr>
          <a:lstStyle/>
          <a:p>
            <a:pPr algn="l">
              <a:lnSpc>
                <a:spcPct val="100000"/>
              </a:lnSpc>
            </a:pPr>
            <a:r>
              <a:rPr sz="800" b="0" i="0">
                <a:solidFill>
                  <a:srgbClr val="9A9A9A"/>
                </a:solidFill>
                <a:latin typeface="Arial"/>
              </a:rPr>
              <a:t>ARIA — AI Readiness Interview Agent</a:t>
            </a:r>
          </a:p>
        </p:txBody>
      </p:sp>
      <p:sp>
        <p:nvSpPr>
          <p:cNvPr id="7" name="TextBox 6"/>
          <p:cNvSpPr txBox="1"/>
          <p:nvPr/>
        </p:nvSpPr>
        <p:spPr>
          <a:xfrm>
            <a:off x="9601200" y="6537960"/>
            <a:ext cx="2103120" cy="274320"/>
          </a:xfrm>
          <a:prstGeom prst="rect">
            <a:avLst/>
          </a:prstGeom>
          <a:noFill/>
        </p:spPr>
        <p:txBody>
          <a:bodyPr wrap="square" lIns="0" tIns="0" rIns="0" bIns="0" anchor="t">
            <a:spAutoFit/>
          </a:bodyPr>
          <a:lstStyle/>
          <a:p>
            <a:pPr algn="r">
              <a:lnSpc>
                <a:spcPct val="100000"/>
              </a:lnSpc>
            </a:pPr>
            <a:r>
              <a:rPr sz="800" b="0" i="0">
                <a:solidFill>
                  <a:srgbClr val="9A9A9A"/>
                </a:solidFill>
                <a:latin typeface="Arial"/>
              </a:rPr>
              <a:t>IBM SkillsBuild × AICTE 2026   |   11/17</a:t>
            </a:r>
          </a:p>
        </p:txBody>
      </p:sp>
      <p:sp>
        <p:nvSpPr>
          <p:cNvPr id="8" name="Rounded Rectangle 7"/>
          <p:cNvSpPr/>
          <p:nvPr/>
        </p:nvSpPr>
        <p:spPr>
          <a:xfrm>
            <a:off x="502920" y="1463040"/>
            <a:ext cx="3606698" cy="160020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02920" y="1463040"/>
            <a:ext cx="82296" cy="1600200"/>
          </a:xfrm>
          <a:prstGeom prst="roundRect">
            <a:avLst>
              <a:gd name="adj" fmla="val 50000"/>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4088" y="1572768"/>
            <a:ext cx="3204362" cy="1399032"/>
          </a:xfrm>
          <a:prstGeom prst="rect">
            <a:avLst/>
          </a:prstGeom>
          <a:noFill/>
        </p:spPr>
        <p:txBody>
          <a:bodyPr wrap="square" lIns="0" tIns="0" rIns="0" bIns="0">
            <a:spAutoFit/>
          </a:bodyPr>
          <a:lstStyle/>
          <a:p>
            <a:pPr>
              <a:lnSpc>
                <a:spcPct val="100000"/>
              </a:lnSpc>
            </a:pPr>
            <a:r>
              <a:rPr sz="1300" b="1">
                <a:solidFill>
                  <a:srgbClr val="161A2B"/>
                </a:solidFill>
                <a:latin typeface="Arial"/>
              </a:rPr>
              <a:t>📄  Resume-Aware Interviews</a:t>
            </a:r>
          </a:p>
          <a:p>
            <a:pPr>
              <a:lnSpc>
                <a:spcPct val="105000"/>
              </a:lnSpc>
              <a:spcBef>
                <a:spcPts val="300"/>
              </a:spcBef>
            </a:pPr>
            <a:r>
              <a:rPr sz="1050">
                <a:solidFill>
                  <a:srgbClr val="4A4A4A"/>
                </a:solidFill>
                <a:latin typeface="Arial"/>
              </a:rPr>
              <a:t>Questions drawn from your actual projects &amp; achievements, not just your job title — most trainers can't do this.</a:t>
            </a:r>
          </a:p>
        </p:txBody>
      </p:sp>
      <p:sp>
        <p:nvSpPr>
          <p:cNvPr id="11" name="Rounded Rectangle 10"/>
          <p:cNvSpPr/>
          <p:nvPr/>
        </p:nvSpPr>
        <p:spPr>
          <a:xfrm>
            <a:off x="4292498" y="1463040"/>
            <a:ext cx="3606698" cy="160020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292498" y="1463040"/>
            <a:ext cx="82296" cy="1600200"/>
          </a:xfrm>
          <a:prstGeom prst="roundRect">
            <a:avLst>
              <a:gd name="adj" fmla="val 50000"/>
            </a:avLst>
          </a:prstGeom>
          <a:solidFill>
            <a:srgbClr val="009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93666" y="1572768"/>
            <a:ext cx="3204362" cy="1399032"/>
          </a:xfrm>
          <a:prstGeom prst="rect">
            <a:avLst/>
          </a:prstGeom>
          <a:noFill/>
        </p:spPr>
        <p:txBody>
          <a:bodyPr wrap="square" lIns="0" tIns="0" rIns="0" bIns="0">
            <a:spAutoFit/>
          </a:bodyPr>
          <a:lstStyle/>
          <a:p>
            <a:pPr>
              <a:lnSpc>
                <a:spcPct val="100000"/>
              </a:lnSpc>
            </a:pPr>
            <a:r>
              <a:rPr sz="1300" b="1">
                <a:solidFill>
                  <a:srgbClr val="161A2B"/>
                </a:solidFill>
                <a:latin typeface="Arial"/>
              </a:rPr>
              <a:t>💡  Confidence Growth Tracking</a:t>
            </a:r>
          </a:p>
          <a:p>
            <a:pPr>
              <a:lnSpc>
                <a:spcPct val="105000"/>
              </a:lnSpc>
              <a:spcBef>
                <a:spcPts val="300"/>
              </a:spcBef>
            </a:pPr>
            <a:r>
              <a:rPr sz="1050">
                <a:solidFill>
                  <a:srgbClr val="4A4A4A"/>
                </a:solidFill>
                <a:latin typeface="Arial"/>
              </a:rPr>
              <a:t>Measures candidate confidence BEFORE and AFTER the interview, showing tangible, measurable growth.</a:t>
            </a:r>
          </a:p>
        </p:txBody>
      </p:sp>
      <p:sp>
        <p:nvSpPr>
          <p:cNvPr id="14" name="Rounded Rectangle 13"/>
          <p:cNvSpPr/>
          <p:nvPr/>
        </p:nvSpPr>
        <p:spPr>
          <a:xfrm>
            <a:off x="8082076" y="1463040"/>
            <a:ext cx="3606698" cy="160020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082076" y="1463040"/>
            <a:ext cx="82296" cy="1600200"/>
          </a:xfrm>
          <a:prstGeom prst="roundRect">
            <a:avLst>
              <a:gd name="adj" fmla="val 50000"/>
            </a:avLst>
          </a:prstGeom>
          <a:solidFill>
            <a:srgbClr val="F1A5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83244" y="1572768"/>
            <a:ext cx="3204362" cy="1399032"/>
          </a:xfrm>
          <a:prstGeom prst="rect">
            <a:avLst/>
          </a:prstGeom>
          <a:noFill/>
        </p:spPr>
        <p:txBody>
          <a:bodyPr wrap="square" lIns="0" tIns="0" rIns="0" bIns="0">
            <a:spAutoFit/>
          </a:bodyPr>
          <a:lstStyle/>
          <a:p>
            <a:pPr>
              <a:lnSpc>
                <a:spcPct val="100000"/>
              </a:lnSpc>
            </a:pPr>
            <a:r>
              <a:rPr sz="1300" b="1">
                <a:solidFill>
                  <a:srgbClr val="161A2B"/>
                </a:solidFill>
                <a:latin typeface="Arial"/>
              </a:rPr>
              <a:t>🎙️  Voice-Native Interaction</a:t>
            </a:r>
          </a:p>
          <a:p>
            <a:pPr>
              <a:lnSpc>
                <a:spcPct val="105000"/>
              </a:lnSpc>
              <a:spcBef>
                <a:spcPts val="300"/>
              </a:spcBef>
            </a:pPr>
            <a:r>
              <a:rPr sz="1050">
                <a:solidFill>
                  <a:srgbClr val="4A4A4A"/>
                </a:solidFill>
                <a:latin typeface="Arial"/>
              </a:rPr>
              <a:t>Speak answers naturally via the browser's built-in Web Speech API — zero external dependencies.</a:t>
            </a:r>
          </a:p>
        </p:txBody>
      </p:sp>
      <p:sp>
        <p:nvSpPr>
          <p:cNvPr id="17" name="Rounded Rectangle 16"/>
          <p:cNvSpPr/>
          <p:nvPr/>
        </p:nvSpPr>
        <p:spPr>
          <a:xfrm>
            <a:off x="502920" y="3246120"/>
            <a:ext cx="3606698" cy="160020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02920" y="3246120"/>
            <a:ext cx="82296" cy="1600200"/>
          </a:xfrm>
          <a:prstGeom prst="roundRect">
            <a:avLst>
              <a:gd name="adj" fmla="val 50000"/>
            </a:avLst>
          </a:prstGeom>
          <a:solidFill>
            <a:srgbClr val="24A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04088" y="3355848"/>
            <a:ext cx="3204362" cy="1399032"/>
          </a:xfrm>
          <a:prstGeom prst="rect">
            <a:avLst/>
          </a:prstGeom>
          <a:noFill/>
        </p:spPr>
        <p:txBody>
          <a:bodyPr wrap="square" lIns="0" tIns="0" rIns="0" bIns="0">
            <a:spAutoFit/>
          </a:bodyPr>
          <a:lstStyle/>
          <a:p>
            <a:pPr>
              <a:lnSpc>
                <a:spcPct val="100000"/>
              </a:lnSpc>
            </a:pPr>
            <a:r>
              <a:rPr sz="1300" b="1">
                <a:solidFill>
                  <a:srgbClr val="161A2B"/>
                </a:solidFill>
                <a:latin typeface="Arial"/>
              </a:rPr>
              <a:t>💬  Chat-Completion Architecture</a:t>
            </a:r>
          </a:p>
          <a:p>
            <a:pPr>
              <a:lnSpc>
                <a:spcPct val="105000"/>
              </a:lnSpc>
              <a:spcBef>
                <a:spcPts val="300"/>
              </a:spcBef>
            </a:pPr>
            <a:r>
              <a:rPr sz="1050">
                <a:solidFill>
                  <a:srgbClr val="4A4A4A"/>
                </a:solidFill>
                <a:latin typeface="Arial"/>
              </a:rPr>
              <a:t>Structured system/user/assistant roles eliminate the hallucinated-turn bug found in raw text completion.</a:t>
            </a:r>
          </a:p>
        </p:txBody>
      </p:sp>
      <p:sp>
        <p:nvSpPr>
          <p:cNvPr id="20" name="Rounded Rectangle 19"/>
          <p:cNvSpPr/>
          <p:nvPr/>
        </p:nvSpPr>
        <p:spPr>
          <a:xfrm>
            <a:off x="4292498" y="3246120"/>
            <a:ext cx="3606698" cy="160020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292498" y="3246120"/>
            <a:ext cx="82296" cy="1600200"/>
          </a:xfrm>
          <a:prstGeom prst="roundRect">
            <a:avLst>
              <a:gd name="adj" fmla="val 50000"/>
            </a:avLst>
          </a:prstGeom>
          <a:solidFill>
            <a:srgbClr val="8A3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93666" y="3355848"/>
            <a:ext cx="3204362" cy="1399032"/>
          </a:xfrm>
          <a:prstGeom prst="rect">
            <a:avLst/>
          </a:prstGeom>
          <a:noFill/>
        </p:spPr>
        <p:txBody>
          <a:bodyPr wrap="square" lIns="0" tIns="0" rIns="0" bIns="0">
            <a:spAutoFit/>
          </a:bodyPr>
          <a:lstStyle/>
          <a:p>
            <a:pPr>
              <a:lnSpc>
                <a:spcPct val="100000"/>
              </a:lnSpc>
            </a:pPr>
            <a:r>
              <a:rPr sz="1300" b="1">
                <a:solidFill>
                  <a:srgbClr val="161A2B"/>
                </a:solidFill>
                <a:latin typeface="Arial"/>
              </a:rPr>
              <a:t>🗂️  Server-Side Session Design</a:t>
            </a:r>
          </a:p>
          <a:p>
            <a:pPr>
              <a:lnSpc>
                <a:spcPct val="105000"/>
              </a:lnSpc>
              <a:spcBef>
                <a:spcPts val="300"/>
              </a:spcBef>
            </a:pPr>
            <a:r>
              <a:rPr sz="1050">
                <a:solidFill>
                  <a:srgbClr val="4A4A4A"/>
                </a:solidFill>
                <a:latin typeface="Arial"/>
              </a:rPr>
              <a:t>Token cost stays flat regardless of interview length — history never grows the request payload.</a:t>
            </a:r>
          </a:p>
        </p:txBody>
      </p:sp>
      <p:sp>
        <p:nvSpPr>
          <p:cNvPr id="23" name="Rounded Rectangle 22"/>
          <p:cNvSpPr/>
          <p:nvPr/>
        </p:nvSpPr>
        <p:spPr>
          <a:xfrm>
            <a:off x="8082076" y="3246120"/>
            <a:ext cx="3606698" cy="160020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8082076" y="3246120"/>
            <a:ext cx="82296" cy="1600200"/>
          </a:xfrm>
          <a:prstGeom prst="roundRect">
            <a:avLst>
              <a:gd name="adj" fmla="val 50000"/>
            </a:avLst>
          </a:prstGeom>
          <a:solidFill>
            <a:srgbClr val="D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83244" y="3355848"/>
            <a:ext cx="3204362" cy="1399032"/>
          </a:xfrm>
          <a:prstGeom prst="rect">
            <a:avLst/>
          </a:prstGeom>
          <a:noFill/>
        </p:spPr>
        <p:txBody>
          <a:bodyPr wrap="square" lIns="0" tIns="0" rIns="0" bIns="0">
            <a:spAutoFit/>
          </a:bodyPr>
          <a:lstStyle/>
          <a:p>
            <a:pPr>
              <a:lnSpc>
                <a:spcPct val="100000"/>
              </a:lnSpc>
            </a:pPr>
            <a:r>
              <a:rPr sz="1300" b="1">
                <a:solidFill>
                  <a:srgbClr val="161A2B"/>
                </a:solidFill>
                <a:latin typeface="Arial"/>
              </a:rPr>
              <a:t>🎯  Resume Alignment Scoring</a:t>
            </a:r>
          </a:p>
          <a:p>
            <a:pPr>
              <a:lnSpc>
                <a:spcPct val="105000"/>
              </a:lnSpc>
              <a:spcBef>
                <a:spcPts val="300"/>
              </a:spcBef>
            </a:pPr>
            <a:r>
              <a:rPr sz="1050">
                <a:solidFill>
                  <a:srgbClr val="4A4A4A"/>
                </a:solidFill>
                <a:latin typeface="Arial"/>
              </a:rPr>
              <a:t>The Final Report Card scores how well your spoken answers matched your CV's actual claims.</a:t>
            </a:r>
          </a:p>
        </p:txBody>
      </p:sp>
      <p:sp>
        <p:nvSpPr>
          <p:cNvPr id="26" name="TextBox 25"/>
          <p:cNvSpPr txBox="1"/>
          <p:nvPr/>
        </p:nvSpPr>
        <p:spPr>
          <a:xfrm>
            <a:off x="502920" y="5029200"/>
            <a:ext cx="11155680" cy="822960"/>
          </a:xfrm>
          <a:prstGeom prst="rect">
            <a:avLst/>
          </a:prstGeom>
          <a:noFill/>
        </p:spPr>
        <p:txBody>
          <a:bodyPr wrap="square" lIns="0" tIns="0" rIns="0" bIns="0" anchor="t">
            <a:spAutoFit/>
          </a:bodyPr>
          <a:lstStyle/>
          <a:p>
            <a:pPr algn="l">
              <a:lnSpc>
                <a:spcPct val="120000"/>
              </a:lnSpc>
            </a:pPr>
            <a:r>
              <a:rPr sz="1350" b="1" i="1">
                <a:solidFill>
                  <a:srgbClr val="161A2B"/>
                </a:solidFill>
                <a:latin typeface="Arial"/>
              </a:rPr>
              <a:t>Together, these make ARIA a genuinely adaptive, evidence-based interview coach — not just a static question bank with a chat window wrapped around it.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5486400" cy="274320"/>
          </a:xfrm>
          <a:prstGeom prst="rect">
            <a:avLst/>
          </a:prstGeom>
          <a:noFill/>
        </p:spPr>
        <p:txBody>
          <a:bodyPr wrap="square" lIns="0" tIns="0" rIns="0" bIns="0" anchor="t">
            <a:spAutoFit/>
          </a:bodyPr>
          <a:lstStyle/>
          <a:p>
            <a:pPr algn="l">
              <a:lnSpc>
                <a:spcPct val="100000"/>
              </a:lnSpc>
            </a:pPr>
            <a:r>
              <a:rPr sz="1100" b="1" i="0">
                <a:solidFill>
                  <a:srgbClr val="0530AD"/>
                </a:solidFill>
                <a:latin typeface="Arial"/>
              </a:rPr>
              <a:t>HONEST RETROSPECTIVE</a:t>
            </a:r>
          </a:p>
        </p:txBody>
      </p:sp>
      <p:sp>
        <p:nvSpPr>
          <p:cNvPr id="4" name="TextBox 3"/>
          <p:cNvSpPr txBox="1"/>
          <p:nvPr/>
        </p:nvSpPr>
        <p:spPr>
          <a:xfrm>
            <a:off x="502920" y="502920"/>
            <a:ext cx="9601200" cy="640080"/>
          </a:xfrm>
          <a:prstGeom prst="rect">
            <a:avLst/>
          </a:prstGeom>
          <a:noFill/>
        </p:spPr>
        <p:txBody>
          <a:bodyPr wrap="square" lIns="0" tIns="0" rIns="0" bIns="0" anchor="t">
            <a:spAutoFit/>
          </a:bodyPr>
          <a:lstStyle/>
          <a:p>
            <a:pPr algn="l">
              <a:lnSpc>
                <a:spcPct val="100000"/>
              </a:lnSpc>
            </a:pPr>
            <a:r>
              <a:rPr sz="2800" b="1" i="0">
                <a:solidFill>
                  <a:srgbClr val="161A2B"/>
                </a:solidFill>
                <a:latin typeface="Arial"/>
              </a:rPr>
              <a:t>Results &amp; Challenges Overcome</a:t>
            </a:r>
          </a:p>
        </p:txBody>
      </p:sp>
      <p:sp>
        <p:nvSpPr>
          <p:cNvPr id="5" name="Rectangle 4"/>
          <p:cNvSpPr/>
          <p:nvPr/>
        </p:nvSpPr>
        <p:spPr>
          <a:xfrm>
            <a:off x="502920" y="1143000"/>
            <a:ext cx="1005840" cy="38100"/>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37960"/>
            <a:ext cx="5486400" cy="274320"/>
          </a:xfrm>
          <a:prstGeom prst="rect">
            <a:avLst/>
          </a:prstGeom>
          <a:noFill/>
        </p:spPr>
        <p:txBody>
          <a:bodyPr wrap="square" lIns="0" tIns="0" rIns="0" bIns="0" anchor="t">
            <a:spAutoFit/>
          </a:bodyPr>
          <a:lstStyle/>
          <a:p>
            <a:pPr algn="l">
              <a:lnSpc>
                <a:spcPct val="100000"/>
              </a:lnSpc>
            </a:pPr>
            <a:r>
              <a:rPr sz="800" b="0" i="0">
                <a:solidFill>
                  <a:srgbClr val="9A9A9A"/>
                </a:solidFill>
                <a:latin typeface="Arial"/>
              </a:rPr>
              <a:t>ARIA — AI Readiness Interview Agent</a:t>
            </a:r>
          </a:p>
        </p:txBody>
      </p:sp>
      <p:sp>
        <p:nvSpPr>
          <p:cNvPr id="7" name="TextBox 6"/>
          <p:cNvSpPr txBox="1"/>
          <p:nvPr/>
        </p:nvSpPr>
        <p:spPr>
          <a:xfrm>
            <a:off x="9601200" y="6537960"/>
            <a:ext cx="2103120" cy="274320"/>
          </a:xfrm>
          <a:prstGeom prst="rect">
            <a:avLst/>
          </a:prstGeom>
          <a:noFill/>
        </p:spPr>
        <p:txBody>
          <a:bodyPr wrap="square" lIns="0" tIns="0" rIns="0" bIns="0" anchor="t">
            <a:spAutoFit/>
          </a:bodyPr>
          <a:lstStyle/>
          <a:p>
            <a:pPr algn="r">
              <a:lnSpc>
                <a:spcPct val="100000"/>
              </a:lnSpc>
            </a:pPr>
            <a:r>
              <a:rPr sz="800" b="0" i="0">
                <a:solidFill>
                  <a:srgbClr val="9A9A9A"/>
                </a:solidFill>
                <a:latin typeface="Arial"/>
              </a:rPr>
              <a:t>IBM SkillsBuild × AICTE 2026   |   12/17</a:t>
            </a:r>
          </a:p>
        </p:txBody>
      </p:sp>
      <p:sp>
        <p:nvSpPr>
          <p:cNvPr id="8" name="TextBox 7"/>
          <p:cNvSpPr txBox="1"/>
          <p:nvPr/>
        </p:nvSpPr>
        <p:spPr>
          <a:xfrm>
            <a:off x="502920" y="1371600"/>
            <a:ext cx="11155680" cy="365760"/>
          </a:xfrm>
          <a:prstGeom prst="rect">
            <a:avLst/>
          </a:prstGeom>
          <a:noFill/>
        </p:spPr>
        <p:txBody>
          <a:bodyPr wrap="square" lIns="0" tIns="0" rIns="0" bIns="0" anchor="t">
            <a:spAutoFit/>
          </a:bodyPr>
          <a:lstStyle/>
          <a:p>
            <a:pPr algn="l">
              <a:lnSpc>
                <a:spcPct val="100000"/>
              </a:lnSpc>
            </a:pPr>
            <a:r>
              <a:rPr sz="1250" b="0" i="1">
                <a:solidFill>
                  <a:srgbClr val="4A4A4A"/>
                </a:solidFill>
                <a:latin typeface="Arial"/>
              </a:rPr>
              <a:t>An honest account of what works well and what was fixed along the way, based on iterative testing.</a:t>
            </a:r>
          </a:p>
        </p:txBody>
      </p:sp>
      <p:sp>
        <p:nvSpPr>
          <p:cNvPr id="9" name="Rounded Rectangle 8"/>
          <p:cNvSpPr/>
          <p:nvPr/>
        </p:nvSpPr>
        <p:spPr>
          <a:xfrm>
            <a:off x="502920" y="1874519"/>
            <a:ext cx="3606698" cy="123444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02920" y="1874519"/>
            <a:ext cx="82296" cy="1234440"/>
          </a:xfrm>
          <a:prstGeom prst="roundRect">
            <a:avLst>
              <a:gd name="adj" fmla="val 50000"/>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984247"/>
            <a:ext cx="3204362" cy="1033272"/>
          </a:xfrm>
          <a:prstGeom prst="rect">
            <a:avLst/>
          </a:prstGeom>
          <a:noFill/>
        </p:spPr>
        <p:txBody>
          <a:bodyPr wrap="square" lIns="0" tIns="0" rIns="0" bIns="0">
            <a:spAutoFit/>
          </a:bodyPr>
          <a:lstStyle/>
          <a:p>
            <a:pPr>
              <a:lnSpc>
                <a:spcPct val="100000"/>
              </a:lnSpc>
            </a:pPr>
            <a:r>
              <a:rPr sz="1200" b="1">
                <a:solidFill>
                  <a:srgbClr val="161A2B"/>
                </a:solidFill>
                <a:latin typeface="Arial"/>
              </a:rPr>
              <a:t>✅  What Works Well</a:t>
            </a:r>
          </a:p>
          <a:p>
            <a:pPr>
              <a:lnSpc>
                <a:spcPct val="105000"/>
              </a:lnSpc>
              <a:spcBef>
                <a:spcPts val="300"/>
              </a:spcBef>
            </a:pPr>
            <a:r>
              <a:rPr sz="1000">
                <a:solidFill>
                  <a:srgbClr val="4A4A4A"/>
                </a:solidFill>
                <a:latin typeface="Arial"/>
              </a:rPr>
              <a:t>ARIA reliably flows through Onboarding → Technical → HR → Situational → Report Card without hallucinating extra turns.</a:t>
            </a:r>
          </a:p>
        </p:txBody>
      </p:sp>
      <p:sp>
        <p:nvSpPr>
          <p:cNvPr id="12" name="Rounded Rectangle 11"/>
          <p:cNvSpPr/>
          <p:nvPr/>
        </p:nvSpPr>
        <p:spPr>
          <a:xfrm>
            <a:off x="4292498" y="1874519"/>
            <a:ext cx="3606698" cy="123444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292498" y="1874519"/>
            <a:ext cx="82296" cy="1234440"/>
          </a:xfrm>
          <a:prstGeom prst="roundRect">
            <a:avLst>
              <a:gd name="adj" fmla="val 50000"/>
            </a:avLst>
          </a:prstGeom>
          <a:solidFill>
            <a:srgbClr val="009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93666" y="1984247"/>
            <a:ext cx="3204362" cy="1033272"/>
          </a:xfrm>
          <a:prstGeom prst="rect">
            <a:avLst/>
          </a:prstGeom>
          <a:noFill/>
        </p:spPr>
        <p:txBody>
          <a:bodyPr wrap="square" lIns="0" tIns="0" rIns="0" bIns="0">
            <a:spAutoFit/>
          </a:bodyPr>
          <a:lstStyle/>
          <a:p>
            <a:pPr>
              <a:lnSpc>
                <a:spcPct val="100000"/>
              </a:lnSpc>
            </a:pPr>
            <a:r>
              <a:rPr sz="1200" b="1">
                <a:solidFill>
                  <a:srgbClr val="161A2B"/>
                </a:solidFill>
                <a:latin typeface="Arial"/>
              </a:rPr>
              <a:t>✅  Clean Formatting</a:t>
            </a:r>
          </a:p>
          <a:p>
            <a:pPr>
              <a:lnSpc>
                <a:spcPct val="105000"/>
              </a:lnSpc>
              <a:spcBef>
                <a:spcPts val="300"/>
              </a:spcBef>
            </a:pPr>
            <a:r>
              <a:rPr sz="1000">
                <a:solidFill>
                  <a:srgbClr val="4A4A4A"/>
                </a:solidFill>
                <a:latin typeface="Arial"/>
              </a:rPr>
              <a:t>Score, feedback, and the next question render on clearly separated lines for readability.</a:t>
            </a:r>
          </a:p>
        </p:txBody>
      </p:sp>
      <p:sp>
        <p:nvSpPr>
          <p:cNvPr id="15" name="Rounded Rectangle 14"/>
          <p:cNvSpPr/>
          <p:nvPr/>
        </p:nvSpPr>
        <p:spPr>
          <a:xfrm>
            <a:off x="8082076" y="1874519"/>
            <a:ext cx="3606698" cy="123444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082076" y="1874519"/>
            <a:ext cx="82296" cy="1234440"/>
          </a:xfrm>
          <a:prstGeom prst="roundRect">
            <a:avLst>
              <a:gd name="adj" fmla="val 50000"/>
            </a:avLst>
          </a:prstGeom>
          <a:solidFill>
            <a:srgbClr val="F1A5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83244" y="1984247"/>
            <a:ext cx="3204362" cy="1033272"/>
          </a:xfrm>
          <a:prstGeom prst="rect">
            <a:avLst/>
          </a:prstGeom>
          <a:noFill/>
        </p:spPr>
        <p:txBody>
          <a:bodyPr wrap="square" lIns="0" tIns="0" rIns="0" bIns="0">
            <a:spAutoFit/>
          </a:bodyPr>
          <a:lstStyle/>
          <a:p>
            <a:pPr>
              <a:lnSpc>
                <a:spcPct val="100000"/>
              </a:lnSpc>
            </a:pPr>
            <a:r>
              <a:rPr sz="1200" b="1">
                <a:solidFill>
                  <a:srgbClr val="161A2B"/>
                </a:solidFill>
                <a:latin typeface="Arial"/>
              </a:rPr>
              <a:t>✅  Reduced Token Cost</a:t>
            </a:r>
          </a:p>
          <a:p>
            <a:pPr>
              <a:lnSpc>
                <a:spcPct val="105000"/>
              </a:lnSpc>
              <a:spcBef>
                <a:spcPts val="300"/>
              </a:spcBef>
            </a:pPr>
            <a:r>
              <a:rPr sz="1000">
                <a:solidFill>
                  <a:srgbClr val="4A4A4A"/>
                </a:solidFill>
                <a:latin typeface="Arial"/>
              </a:rPr>
              <a:t>Per-exchange token usage dropped noticeably after compressing the prompt and adding session storage.</a:t>
            </a:r>
          </a:p>
        </p:txBody>
      </p:sp>
      <p:sp>
        <p:nvSpPr>
          <p:cNvPr id="18" name="Rounded Rectangle 17"/>
          <p:cNvSpPr/>
          <p:nvPr/>
        </p:nvSpPr>
        <p:spPr>
          <a:xfrm>
            <a:off x="502920" y="3337560"/>
            <a:ext cx="3606698" cy="123444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02920" y="3337560"/>
            <a:ext cx="82296" cy="1234440"/>
          </a:xfrm>
          <a:prstGeom prst="roundRect">
            <a:avLst>
              <a:gd name="adj" fmla="val 50000"/>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4088" y="3447288"/>
            <a:ext cx="3204362" cy="1033272"/>
          </a:xfrm>
          <a:prstGeom prst="rect">
            <a:avLst/>
          </a:prstGeom>
          <a:noFill/>
        </p:spPr>
        <p:txBody>
          <a:bodyPr wrap="square" lIns="0" tIns="0" rIns="0" bIns="0">
            <a:spAutoFit/>
          </a:bodyPr>
          <a:lstStyle/>
          <a:p>
            <a:pPr>
              <a:lnSpc>
                <a:spcPct val="100000"/>
              </a:lnSpc>
            </a:pPr>
            <a:r>
              <a:rPr sz="1200" b="1">
                <a:solidFill>
                  <a:srgbClr val="161A2B"/>
                </a:solidFill>
                <a:latin typeface="Arial"/>
              </a:rPr>
              <a:t>🔧  Challenges Overcome</a:t>
            </a:r>
          </a:p>
          <a:p>
            <a:pPr>
              <a:lnSpc>
                <a:spcPct val="105000"/>
              </a:lnSpc>
              <a:spcBef>
                <a:spcPts val="300"/>
              </a:spcBef>
            </a:pPr>
            <a:r>
              <a:rPr sz="1000">
                <a:solidFill>
                  <a:srgbClr val="4A4A4A"/>
                </a:solidFill>
                <a:latin typeface="Arial"/>
              </a:rPr>
              <a:t>The agent initially hallucinated fake candidate answers; fixed by switching to structured chat-completion.</a:t>
            </a:r>
          </a:p>
        </p:txBody>
      </p:sp>
      <p:sp>
        <p:nvSpPr>
          <p:cNvPr id="21" name="Rounded Rectangle 20"/>
          <p:cNvSpPr/>
          <p:nvPr/>
        </p:nvSpPr>
        <p:spPr>
          <a:xfrm>
            <a:off x="4292498" y="3337560"/>
            <a:ext cx="3606698" cy="123444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4292498" y="3337560"/>
            <a:ext cx="82296" cy="1234440"/>
          </a:xfrm>
          <a:prstGeom prst="roundRect">
            <a:avLst>
              <a:gd name="adj" fmla="val 50000"/>
            </a:avLst>
          </a:prstGeom>
          <a:solidFill>
            <a:srgbClr val="009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493666" y="3447288"/>
            <a:ext cx="3204362" cy="1033272"/>
          </a:xfrm>
          <a:prstGeom prst="rect">
            <a:avLst/>
          </a:prstGeom>
          <a:noFill/>
        </p:spPr>
        <p:txBody>
          <a:bodyPr wrap="square" lIns="0" tIns="0" rIns="0" bIns="0">
            <a:spAutoFit/>
          </a:bodyPr>
          <a:lstStyle/>
          <a:p>
            <a:pPr>
              <a:lnSpc>
                <a:spcPct val="100000"/>
              </a:lnSpc>
            </a:pPr>
            <a:r>
              <a:rPr sz="1200" b="1">
                <a:solidFill>
                  <a:srgbClr val="161A2B"/>
                </a:solidFill>
                <a:latin typeface="Arial"/>
              </a:rPr>
              <a:t>🔧  Rate-Limit Handling</a:t>
            </a:r>
          </a:p>
          <a:p>
            <a:pPr>
              <a:lnSpc>
                <a:spcPct val="105000"/>
              </a:lnSpc>
              <a:spcBef>
                <a:spcPts val="300"/>
              </a:spcBef>
            </a:pPr>
            <a:r>
              <a:rPr sz="1000">
                <a:solidFill>
                  <a:srgbClr val="4A4A4A"/>
                </a:solidFill>
                <a:latin typeface="Arial"/>
              </a:rPr>
              <a:t>IBM's free-tier concurrent request cap occasionally triggers a 429; addressed with retry-with-backoff logic.</a:t>
            </a:r>
          </a:p>
        </p:txBody>
      </p:sp>
      <p:sp>
        <p:nvSpPr>
          <p:cNvPr id="24" name="Rounded Rectangle 23"/>
          <p:cNvSpPr/>
          <p:nvPr/>
        </p:nvSpPr>
        <p:spPr>
          <a:xfrm>
            <a:off x="8082076" y="3337560"/>
            <a:ext cx="3606698" cy="123444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082076" y="3337560"/>
            <a:ext cx="82296" cy="1234440"/>
          </a:xfrm>
          <a:prstGeom prst="roundRect">
            <a:avLst>
              <a:gd name="adj" fmla="val 50000"/>
            </a:avLst>
          </a:prstGeom>
          <a:solidFill>
            <a:srgbClr val="F1A5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83244" y="3447288"/>
            <a:ext cx="3204362" cy="1033272"/>
          </a:xfrm>
          <a:prstGeom prst="rect">
            <a:avLst/>
          </a:prstGeom>
          <a:noFill/>
        </p:spPr>
        <p:txBody>
          <a:bodyPr wrap="square" lIns="0" tIns="0" rIns="0" bIns="0">
            <a:spAutoFit/>
          </a:bodyPr>
          <a:lstStyle/>
          <a:p>
            <a:pPr>
              <a:lnSpc>
                <a:spcPct val="100000"/>
              </a:lnSpc>
            </a:pPr>
            <a:r>
              <a:rPr sz="1200" b="1">
                <a:solidFill>
                  <a:srgbClr val="161A2B"/>
                </a:solidFill>
                <a:latin typeface="Arial"/>
              </a:rPr>
              <a:t>⚠️  Known Limitation</a:t>
            </a:r>
          </a:p>
          <a:p>
            <a:pPr>
              <a:lnSpc>
                <a:spcPct val="105000"/>
              </a:lnSpc>
              <a:spcBef>
                <a:spcPts val="300"/>
              </a:spcBef>
            </a:pPr>
            <a:r>
              <a:rPr sz="1000">
                <a:solidFill>
                  <a:srgbClr val="4A4A4A"/>
                </a:solidFill>
                <a:latin typeface="Arial"/>
              </a:rPr>
              <a:t>Aggressive history truncation briefly caused context loss during testing — since corrected with a tuned window.</a:t>
            </a:r>
          </a:p>
        </p:txBody>
      </p:sp>
      <p:sp>
        <p:nvSpPr>
          <p:cNvPr id="27" name="Rounded Rectangle 26"/>
          <p:cNvSpPr/>
          <p:nvPr/>
        </p:nvSpPr>
        <p:spPr>
          <a:xfrm>
            <a:off x="502920" y="4800600"/>
            <a:ext cx="11155680" cy="100584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02920" y="4800600"/>
            <a:ext cx="82296" cy="1005840"/>
          </a:xfrm>
          <a:prstGeom prst="roundRect">
            <a:avLst>
              <a:gd name="adj" fmla="val 50000"/>
            </a:avLst>
          </a:prstGeom>
          <a:solidFill>
            <a:srgbClr val="F1A5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04088" y="4910328"/>
            <a:ext cx="10753344" cy="804672"/>
          </a:xfrm>
          <a:prstGeom prst="rect">
            <a:avLst/>
          </a:prstGeom>
          <a:noFill/>
        </p:spPr>
        <p:txBody>
          <a:bodyPr wrap="square" lIns="0" tIns="0" rIns="0" bIns="0">
            <a:spAutoFit/>
          </a:bodyPr>
          <a:lstStyle/>
          <a:p>
            <a:pPr>
              <a:lnSpc>
                <a:spcPct val="100000"/>
              </a:lnSpc>
            </a:pPr>
            <a:r>
              <a:rPr sz="1300" b="1">
                <a:solidFill>
                  <a:srgbClr val="161A2B"/>
                </a:solidFill>
                <a:latin typeface="Arial"/>
              </a:rPr>
              <a:t>🔍  Still To Verify</a:t>
            </a:r>
          </a:p>
          <a:p>
            <a:pPr>
              <a:lnSpc>
                <a:spcPct val="105000"/>
              </a:lnSpc>
              <a:spcBef>
                <a:spcPts val="300"/>
              </a:spcBef>
            </a:pPr>
            <a:r>
              <a:rPr sz="1100">
                <a:solidFill>
                  <a:srgbClr val="4A4A4A"/>
                </a:solidFill>
                <a:latin typeface="Arial"/>
              </a:rPr>
              <a:t>Full 10-question sessions under concurrent multi-user load have not yet been exhaustively tested; the figures on the Token Optimisation slide reflect iterative single-user testing, not a formal benchmark suite — add real production metrics here once measured.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5486400" cy="274320"/>
          </a:xfrm>
          <a:prstGeom prst="rect">
            <a:avLst/>
          </a:prstGeom>
          <a:noFill/>
        </p:spPr>
        <p:txBody>
          <a:bodyPr wrap="square" lIns="0" tIns="0" rIns="0" bIns="0" anchor="t">
            <a:spAutoFit/>
          </a:bodyPr>
          <a:lstStyle/>
          <a:p>
            <a:pPr algn="l">
              <a:lnSpc>
                <a:spcPct val="100000"/>
              </a:lnSpc>
            </a:pPr>
            <a:r>
              <a:rPr sz="1100" b="1" i="0">
                <a:solidFill>
                  <a:srgbClr val="0530AD"/>
                </a:solidFill>
                <a:latin typeface="Arial"/>
              </a:rPr>
              <a:t>SOURCE CODE</a:t>
            </a:r>
          </a:p>
        </p:txBody>
      </p:sp>
      <p:sp>
        <p:nvSpPr>
          <p:cNvPr id="4" name="TextBox 3"/>
          <p:cNvSpPr txBox="1"/>
          <p:nvPr/>
        </p:nvSpPr>
        <p:spPr>
          <a:xfrm>
            <a:off x="502920" y="502920"/>
            <a:ext cx="9601200" cy="640080"/>
          </a:xfrm>
          <a:prstGeom prst="rect">
            <a:avLst/>
          </a:prstGeom>
          <a:noFill/>
        </p:spPr>
        <p:txBody>
          <a:bodyPr wrap="square" lIns="0" tIns="0" rIns="0" bIns="0" anchor="t">
            <a:spAutoFit/>
          </a:bodyPr>
          <a:lstStyle/>
          <a:p>
            <a:pPr algn="l">
              <a:lnSpc>
                <a:spcPct val="100000"/>
              </a:lnSpc>
            </a:pPr>
            <a:r>
              <a:rPr sz="2800" b="1" i="0">
                <a:solidFill>
                  <a:srgbClr val="161A2B"/>
                </a:solidFill>
                <a:latin typeface="Arial"/>
              </a:rPr>
              <a:t>GitHub Repository</a:t>
            </a:r>
          </a:p>
        </p:txBody>
      </p:sp>
      <p:sp>
        <p:nvSpPr>
          <p:cNvPr id="5" name="Rectangle 4"/>
          <p:cNvSpPr/>
          <p:nvPr/>
        </p:nvSpPr>
        <p:spPr>
          <a:xfrm>
            <a:off x="502920" y="1143000"/>
            <a:ext cx="1005840" cy="38100"/>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37960"/>
            <a:ext cx="5486400" cy="274320"/>
          </a:xfrm>
          <a:prstGeom prst="rect">
            <a:avLst/>
          </a:prstGeom>
          <a:noFill/>
        </p:spPr>
        <p:txBody>
          <a:bodyPr wrap="square" lIns="0" tIns="0" rIns="0" bIns="0" anchor="t">
            <a:spAutoFit/>
          </a:bodyPr>
          <a:lstStyle/>
          <a:p>
            <a:pPr algn="l">
              <a:lnSpc>
                <a:spcPct val="100000"/>
              </a:lnSpc>
            </a:pPr>
            <a:r>
              <a:rPr sz="800" b="0" i="0">
                <a:solidFill>
                  <a:srgbClr val="9A9A9A"/>
                </a:solidFill>
                <a:latin typeface="Arial"/>
              </a:rPr>
              <a:t>ARIA — AI Readiness Interview Agent</a:t>
            </a:r>
          </a:p>
        </p:txBody>
      </p:sp>
      <p:sp>
        <p:nvSpPr>
          <p:cNvPr id="7" name="TextBox 6"/>
          <p:cNvSpPr txBox="1"/>
          <p:nvPr/>
        </p:nvSpPr>
        <p:spPr>
          <a:xfrm>
            <a:off x="9601200" y="6537960"/>
            <a:ext cx="2103120" cy="274320"/>
          </a:xfrm>
          <a:prstGeom prst="rect">
            <a:avLst/>
          </a:prstGeom>
          <a:noFill/>
        </p:spPr>
        <p:txBody>
          <a:bodyPr wrap="square" lIns="0" tIns="0" rIns="0" bIns="0" anchor="t">
            <a:spAutoFit/>
          </a:bodyPr>
          <a:lstStyle/>
          <a:p>
            <a:pPr algn="r">
              <a:lnSpc>
                <a:spcPct val="100000"/>
              </a:lnSpc>
            </a:pPr>
            <a:r>
              <a:rPr sz="800" b="0" i="0">
                <a:solidFill>
                  <a:srgbClr val="9A9A9A"/>
                </a:solidFill>
                <a:latin typeface="Arial"/>
              </a:rPr>
              <a:t>IBM SkillsBuild × AICTE 2026   |   13/17</a:t>
            </a:r>
          </a:p>
        </p:txBody>
      </p:sp>
      <p:sp>
        <p:nvSpPr>
          <p:cNvPr id="8" name="Rounded Rectangle 7"/>
          <p:cNvSpPr/>
          <p:nvPr/>
        </p:nvSpPr>
        <p:spPr>
          <a:xfrm>
            <a:off x="502920" y="1423712"/>
            <a:ext cx="11155680" cy="91440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02920" y="1463040"/>
            <a:ext cx="82296" cy="914400"/>
          </a:xfrm>
          <a:prstGeom prst="roundRect">
            <a:avLst>
              <a:gd name="adj" fmla="val 50000"/>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4088" y="1572768"/>
            <a:ext cx="10753344" cy="449418"/>
          </a:xfrm>
          <a:prstGeom prst="rect">
            <a:avLst/>
          </a:prstGeom>
          <a:noFill/>
        </p:spPr>
        <p:txBody>
          <a:bodyPr wrap="square" lIns="0" tIns="0" rIns="0" bIns="0">
            <a:spAutoFit/>
          </a:bodyPr>
          <a:lstStyle/>
          <a:p>
            <a:pPr>
              <a:lnSpc>
                <a:spcPct val="100000"/>
              </a:lnSpc>
            </a:pPr>
            <a:r>
              <a:rPr sz="1400" b="1" dirty="0">
                <a:solidFill>
                  <a:srgbClr val="161A2B"/>
                </a:solidFill>
                <a:latin typeface="Arial"/>
              </a:rPr>
              <a:t>🔗  Repository URL</a:t>
            </a:r>
          </a:p>
          <a:p>
            <a:pPr>
              <a:lnSpc>
                <a:spcPct val="105000"/>
              </a:lnSpc>
              <a:spcBef>
                <a:spcPts val="300"/>
              </a:spcBef>
            </a:pPr>
            <a:r>
              <a:rPr lang="en-IN" sz="1300" dirty="0">
                <a:solidFill>
                  <a:srgbClr val="4A4A4A"/>
                </a:solidFill>
                <a:latin typeface="Arial"/>
              </a:rPr>
              <a:t>https://github.com/BhaveshN1015/Interview_Agent.git</a:t>
            </a:r>
            <a:endParaRPr sz="1300" dirty="0">
              <a:solidFill>
                <a:srgbClr val="4A4A4A"/>
              </a:solidFill>
              <a:latin typeface="Arial"/>
            </a:endParaRPr>
          </a:p>
        </p:txBody>
      </p:sp>
      <p:sp>
        <p:nvSpPr>
          <p:cNvPr id="11" name="TextBox 10"/>
          <p:cNvSpPr txBox="1"/>
          <p:nvPr/>
        </p:nvSpPr>
        <p:spPr>
          <a:xfrm>
            <a:off x="502920" y="2606040"/>
            <a:ext cx="7315200" cy="320040"/>
          </a:xfrm>
          <a:prstGeom prst="rect">
            <a:avLst/>
          </a:prstGeom>
          <a:noFill/>
        </p:spPr>
        <p:txBody>
          <a:bodyPr wrap="square" lIns="0" tIns="0" rIns="0" bIns="0" anchor="t">
            <a:spAutoFit/>
          </a:bodyPr>
          <a:lstStyle/>
          <a:p>
            <a:pPr algn="l">
              <a:lnSpc>
                <a:spcPct val="100000"/>
              </a:lnSpc>
            </a:pPr>
            <a:r>
              <a:rPr sz="1350" b="1" i="0">
                <a:solidFill>
                  <a:srgbClr val="0530AD"/>
                </a:solidFill>
                <a:latin typeface="Arial"/>
              </a:rPr>
              <a:t>Make sure the following are pushed to your repository:</a:t>
            </a:r>
          </a:p>
        </p:txBody>
      </p:sp>
      <p:sp>
        <p:nvSpPr>
          <p:cNvPr id="12" name="Rounded Rectangle 11"/>
          <p:cNvSpPr/>
          <p:nvPr/>
        </p:nvSpPr>
        <p:spPr>
          <a:xfrm>
            <a:off x="502920" y="3017520"/>
            <a:ext cx="3606698" cy="128016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02920" y="3017520"/>
            <a:ext cx="82296" cy="1280160"/>
          </a:xfrm>
          <a:prstGeom prst="roundRect">
            <a:avLst>
              <a:gd name="adj" fmla="val 50000"/>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4088" y="3127248"/>
            <a:ext cx="3204362" cy="1078992"/>
          </a:xfrm>
          <a:prstGeom prst="rect">
            <a:avLst/>
          </a:prstGeom>
          <a:noFill/>
        </p:spPr>
        <p:txBody>
          <a:bodyPr wrap="square" lIns="0" tIns="0" rIns="0" bIns="0">
            <a:spAutoFit/>
          </a:bodyPr>
          <a:lstStyle/>
          <a:p>
            <a:pPr>
              <a:lnSpc>
                <a:spcPct val="100000"/>
              </a:lnSpc>
            </a:pPr>
            <a:r>
              <a:rPr sz="1200" b="1">
                <a:solidFill>
                  <a:srgbClr val="161A2B"/>
                </a:solidFill>
                <a:latin typeface="Arial"/>
              </a:rPr>
              <a:t>🐍  main.py</a:t>
            </a:r>
          </a:p>
          <a:p>
            <a:pPr>
              <a:lnSpc>
                <a:spcPct val="105000"/>
              </a:lnSpc>
              <a:spcBef>
                <a:spcPts val="300"/>
              </a:spcBef>
            </a:pPr>
            <a:r>
              <a:rPr sz="980">
                <a:solidFill>
                  <a:srgbClr val="4A4A4A"/>
                </a:solidFill>
                <a:latin typeface="Arial"/>
              </a:rPr>
              <a:t>FastAPI backend — ARIA agent, session store, resume upload, LLM calls</a:t>
            </a:r>
          </a:p>
        </p:txBody>
      </p:sp>
      <p:sp>
        <p:nvSpPr>
          <p:cNvPr id="15" name="Rounded Rectangle 14"/>
          <p:cNvSpPr/>
          <p:nvPr/>
        </p:nvSpPr>
        <p:spPr>
          <a:xfrm>
            <a:off x="4292498" y="3017520"/>
            <a:ext cx="3606698" cy="128016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292498" y="3017520"/>
            <a:ext cx="82296" cy="1280160"/>
          </a:xfrm>
          <a:prstGeom prst="roundRect">
            <a:avLst>
              <a:gd name="adj" fmla="val 50000"/>
            </a:avLst>
          </a:prstGeom>
          <a:solidFill>
            <a:srgbClr val="009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93666" y="3127248"/>
            <a:ext cx="3204362" cy="1078992"/>
          </a:xfrm>
          <a:prstGeom prst="rect">
            <a:avLst/>
          </a:prstGeom>
          <a:noFill/>
        </p:spPr>
        <p:txBody>
          <a:bodyPr wrap="square" lIns="0" tIns="0" rIns="0" bIns="0">
            <a:spAutoFit/>
          </a:bodyPr>
          <a:lstStyle/>
          <a:p>
            <a:pPr>
              <a:lnSpc>
                <a:spcPct val="100000"/>
              </a:lnSpc>
            </a:pPr>
            <a:r>
              <a:rPr sz="1200" b="1">
                <a:solidFill>
                  <a:srgbClr val="161A2B"/>
                </a:solidFill>
                <a:latin typeface="Arial"/>
              </a:rPr>
              <a:t>🎨  app.py</a:t>
            </a:r>
          </a:p>
          <a:p>
            <a:pPr>
              <a:lnSpc>
                <a:spcPct val="105000"/>
              </a:lnSpc>
              <a:spcBef>
                <a:spcPts val="300"/>
              </a:spcBef>
            </a:pPr>
            <a:r>
              <a:rPr sz="980">
                <a:solidFill>
                  <a:srgbClr val="4A4A4A"/>
                </a:solidFill>
                <a:latin typeface="Arial"/>
              </a:rPr>
              <a:t>Streamlit frontend — chat UI, voice input, resume uploader</a:t>
            </a:r>
          </a:p>
        </p:txBody>
      </p:sp>
      <p:sp>
        <p:nvSpPr>
          <p:cNvPr id="18" name="Rounded Rectangle 17"/>
          <p:cNvSpPr/>
          <p:nvPr/>
        </p:nvSpPr>
        <p:spPr>
          <a:xfrm>
            <a:off x="8082076" y="3017520"/>
            <a:ext cx="3606698" cy="128016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082076" y="3017520"/>
            <a:ext cx="82296" cy="1280160"/>
          </a:xfrm>
          <a:prstGeom prst="roundRect">
            <a:avLst>
              <a:gd name="adj" fmla="val 50000"/>
            </a:avLst>
          </a:prstGeom>
          <a:solidFill>
            <a:srgbClr val="F1A5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83244" y="3127248"/>
            <a:ext cx="3204362" cy="1078992"/>
          </a:xfrm>
          <a:prstGeom prst="rect">
            <a:avLst/>
          </a:prstGeom>
          <a:noFill/>
        </p:spPr>
        <p:txBody>
          <a:bodyPr wrap="square" lIns="0" tIns="0" rIns="0" bIns="0">
            <a:spAutoFit/>
          </a:bodyPr>
          <a:lstStyle/>
          <a:p>
            <a:pPr>
              <a:lnSpc>
                <a:spcPct val="100000"/>
              </a:lnSpc>
            </a:pPr>
            <a:r>
              <a:rPr sz="1200" b="1">
                <a:solidFill>
                  <a:srgbClr val="161A2B"/>
                </a:solidFill>
                <a:latin typeface="Arial"/>
              </a:rPr>
              <a:t>📘  README.md</a:t>
            </a:r>
          </a:p>
          <a:p>
            <a:pPr>
              <a:lnSpc>
                <a:spcPct val="105000"/>
              </a:lnSpc>
              <a:spcBef>
                <a:spcPts val="300"/>
              </a:spcBef>
            </a:pPr>
            <a:r>
              <a:rPr sz="980">
                <a:solidFill>
                  <a:srgbClr val="4A4A4A"/>
                </a:solidFill>
                <a:latin typeface="Arial"/>
              </a:rPr>
              <a:t>Full setup guide, architecture, demo GIFs &amp; deployment steps</a:t>
            </a:r>
          </a:p>
        </p:txBody>
      </p:sp>
      <p:sp>
        <p:nvSpPr>
          <p:cNvPr id="21" name="Rounded Rectangle 20"/>
          <p:cNvSpPr/>
          <p:nvPr/>
        </p:nvSpPr>
        <p:spPr>
          <a:xfrm>
            <a:off x="502920" y="4480560"/>
            <a:ext cx="3606698" cy="128016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02920" y="4480560"/>
            <a:ext cx="82296" cy="1280160"/>
          </a:xfrm>
          <a:prstGeom prst="roundRect">
            <a:avLst>
              <a:gd name="adj" fmla="val 50000"/>
            </a:avLst>
          </a:prstGeom>
          <a:solidFill>
            <a:srgbClr val="24A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4088" y="4590288"/>
            <a:ext cx="3204362" cy="1078992"/>
          </a:xfrm>
          <a:prstGeom prst="rect">
            <a:avLst/>
          </a:prstGeom>
          <a:noFill/>
        </p:spPr>
        <p:txBody>
          <a:bodyPr wrap="square" lIns="0" tIns="0" rIns="0" bIns="0">
            <a:spAutoFit/>
          </a:bodyPr>
          <a:lstStyle/>
          <a:p>
            <a:pPr>
              <a:lnSpc>
                <a:spcPct val="100000"/>
              </a:lnSpc>
            </a:pPr>
            <a:r>
              <a:rPr sz="1200" b="1">
                <a:solidFill>
                  <a:srgbClr val="161A2B"/>
                </a:solidFill>
                <a:latin typeface="Arial"/>
              </a:rPr>
              <a:t>📦  requirements.txt</a:t>
            </a:r>
          </a:p>
          <a:p>
            <a:pPr>
              <a:lnSpc>
                <a:spcPct val="105000"/>
              </a:lnSpc>
              <a:spcBef>
                <a:spcPts val="300"/>
              </a:spcBef>
            </a:pPr>
            <a:r>
              <a:rPr sz="980">
                <a:solidFill>
                  <a:srgbClr val="4A4A4A"/>
                </a:solidFill>
                <a:latin typeface="Arial"/>
              </a:rPr>
              <a:t>Pinned Python dependencies</a:t>
            </a:r>
          </a:p>
        </p:txBody>
      </p:sp>
      <p:sp>
        <p:nvSpPr>
          <p:cNvPr id="24" name="Rounded Rectangle 23"/>
          <p:cNvSpPr/>
          <p:nvPr/>
        </p:nvSpPr>
        <p:spPr>
          <a:xfrm>
            <a:off x="4292498" y="4480560"/>
            <a:ext cx="3606698" cy="128016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4292498" y="4480560"/>
            <a:ext cx="82296" cy="1280160"/>
          </a:xfrm>
          <a:prstGeom prst="roundRect">
            <a:avLst>
              <a:gd name="adj" fmla="val 50000"/>
            </a:avLst>
          </a:prstGeom>
          <a:solidFill>
            <a:srgbClr val="8A3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93666" y="4590288"/>
            <a:ext cx="3204362" cy="1078992"/>
          </a:xfrm>
          <a:prstGeom prst="rect">
            <a:avLst/>
          </a:prstGeom>
          <a:noFill/>
        </p:spPr>
        <p:txBody>
          <a:bodyPr wrap="square" lIns="0" tIns="0" rIns="0" bIns="0">
            <a:spAutoFit/>
          </a:bodyPr>
          <a:lstStyle/>
          <a:p>
            <a:pPr>
              <a:lnSpc>
                <a:spcPct val="100000"/>
              </a:lnSpc>
            </a:pPr>
            <a:r>
              <a:rPr sz="1200" b="1">
                <a:solidFill>
                  <a:srgbClr val="161A2B"/>
                </a:solidFill>
                <a:latin typeface="Arial"/>
              </a:rPr>
              <a:t>🔐  .env.example</a:t>
            </a:r>
          </a:p>
          <a:p>
            <a:pPr>
              <a:lnSpc>
                <a:spcPct val="105000"/>
              </a:lnSpc>
              <a:spcBef>
                <a:spcPts val="300"/>
              </a:spcBef>
            </a:pPr>
            <a:r>
              <a:rPr sz="980">
                <a:solidFill>
                  <a:srgbClr val="4A4A4A"/>
                </a:solidFill>
                <a:latin typeface="Arial"/>
              </a:rPr>
              <a:t>Safe credentials template (never commit the real .env)</a:t>
            </a:r>
          </a:p>
        </p:txBody>
      </p:sp>
      <p:sp>
        <p:nvSpPr>
          <p:cNvPr id="27" name="Rounded Rectangle 26"/>
          <p:cNvSpPr/>
          <p:nvPr/>
        </p:nvSpPr>
        <p:spPr>
          <a:xfrm>
            <a:off x="8082076" y="4480560"/>
            <a:ext cx="3606698" cy="128016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082076" y="4480560"/>
            <a:ext cx="82296" cy="1280160"/>
          </a:xfrm>
          <a:prstGeom prst="roundRect">
            <a:avLst>
              <a:gd name="adj" fmla="val 50000"/>
            </a:avLst>
          </a:prstGeom>
          <a:solidFill>
            <a:srgbClr val="D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83244" y="4590288"/>
            <a:ext cx="3204362" cy="1078992"/>
          </a:xfrm>
          <a:prstGeom prst="rect">
            <a:avLst/>
          </a:prstGeom>
          <a:noFill/>
        </p:spPr>
        <p:txBody>
          <a:bodyPr wrap="square" lIns="0" tIns="0" rIns="0" bIns="0">
            <a:spAutoFit/>
          </a:bodyPr>
          <a:lstStyle/>
          <a:p>
            <a:pPr>
              <a:lnSpc>
                <a:spcPct val="100000"/>
              </a:lnSpc>
            </a:pPr>
            <a:r>
              <a:rPr sz="1200" b="1">
                <a:solidFill>
                  <a:srgbClr val="161A2B"/>
                </a:solidFill>
                <a:latin typeface="Arial"/>
              </a:rPr>
              <a:t>🎬  good_interview.gif / bad_interview.gif</a:t>
            </a:r>
          </a:p>
          <a:p>
            <a:pPr>
              <a:lnSpc>
                <a:spcPct val="105000"/>
              </a:lnSpc>
              <a:spcBef>
                <a:spcPts val="300"/>
              </a:spcBef>
            </a:pPr>
            <a:r>
              <a:rPr sz="980">
                <a:solidFill>
                  <a:srgbClr val="4A4A4A"/>
                </a:solidFill>
                <a:latin typeface="Arial"/>
              </a:rPr>
              <a:t>Demo recordings embedded in the README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5486400" cy="274320"/>
          </a:xfrm>
          <a:prstGeom prst="rect">
            <a:avLst/>
          </a:prstGeom>
          <a:noFill/>
        </p:spPr>
        <p:txBody>
          <a:bodyPr wrap="square" lIns="0" tIns="0" rIns="0" bIns="0" anchor="t">
            <a:spAutoFit/>
          </a:bodyPr>
          <a:lstStyle/>
          <a:p>
            <a:pPr algn="l">
              <a:lnSpc>
                <a:spcPct val="100000"/>
              </a:lnSpc>
            </a:pPr>
            <a:r>
              <a:rPr sz="1100" b="1" i="0">
                <a:solidFill>
                  <a:srgbClr val="0530AD"/>
                </a:solidFill>
                <a:latin typeface="Arial"/>
              </a:rPr>
              <a:t>WHAT'S NEXT</a:t>
            </a:r>
          </a:p>
        </p:txBody>
      </p:sp>
      <p:sp>
        <p:nvSpPr>
          <p:cNvPr id="4" name="TextBox 3"/>
          <p:cNvSpPr txBox="1"/>
          <p:nvPr/>
        </p:nvSpPr>
        <p:spPr>
          <a:xfrm>
            <a:off x="502920" y="502920"/>
            <a:ext cx="9601200" cy="640080"/>
          </a:xfrm>
          <a:prstGeom prst="rect">
            <a:avLst/>
          </a:prstGeom>
          <a:noFill/>
        </p:spPr>
        <p:txBody>
          <a:bodyPr wrap="square" lIns="0" tIns="0" rIns="0" bIns="0" anchor="t">
            <a:spAutoFit/>
          </a:bodyPr>
          <a:lstStyle/>
          <a:p>
            <a:pPr algn="l">
              <a:lnSpc>
                <a:spcPct val="100000"/>
              </a:lnSpc>
            </a:pPr>
            <a:r>
              <a:rPr sz="2800" b="1" i="0">
                <a:solidFill>
                  <a:srgbClr val="161A2B"/>
                </a:solidFill>
                <a:latin typeface="Arial"/>
              </a:rPr>
              <a:t>Future Scope</a:t>
            </a:r>
          </a:p>
        </p:txBody>
      </p:sp>
      <p:sp>
        <p:nvSpPr>
          <p:cNvPr id="5" name="Rectangle 4"/>
          <p:cNvSpPr/>
          <p:nvPr/>
        </p:nvSpPr>
        <p:spPr>
          <a:xfrm>
            <a:off x="502920" y="1143000"/>
            <a:ext cx="1005840" cy="38100"/>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37960"/>
            <a:ext cx="5486400" cy="274320"/>
          </a:xfrm>
          <a:prstGeom prst="rect">
            <a:avLst/>
          </a:prstGeom>
          <a:noFill/>
        </p:spPr>
        <p:txBody>
          <a:bodyPr wrap="square" lIns="0" tIns="0" rIns="0" bIns="0" anchor="t">
            <a:spAutoFit/>
          </a:bodyPr>
          <a:lstStyle/>
          <a:p>
            <a:pPr algn="l">
              <a:lnSpc>
                <a:spcPct val="100000"/>
              </a:lnSpc>
            </a:pPr>
            <a:r>
              <a:rPr sz="800" b="0" i="0">
                <a:solidFill>
                  <a:srgbClr val="9A9A9A"/>
                </a:solidFill>
                <a:latin typeface="Arial"/>
              </a:rPr>
              <a:t>ARIA — AI Readiness Interview Agent</a:t>
            </a:r>
          </a:p>
        </p:txBody>
      </p:sp>
      <p:sp>
        <p:nvSpPr>
          <p:cNvPr id="7" name="TextBox 6"/>
          <p:cNvSpPr txBox="1"/>
          <p:nvPr/>
        </p:nvSpPr>
        <p:spPr>
          <a:xfrm>
            <a:off x="9601200" y="6537960"/>
            <a:ext cx="2103120" cy="274320"/>
          </a:xfrm>
          <a:prstGeom prst="rect">
            <a:avLst/>
          </a:prstGeom>
          <a:noFill/>
        </p:spPr>
        <p:txBody>
          <a:bodyPr wrap="square" lIns="0" tIns="0" rIns="0" bIns="0" anchor="t">
            <a:spAutoFit/>
          </a:bodyPr>
          <a:lstStyle/>
          <a:p>
            <a:pPr algn="r">
              <a:lnSpc>
                <a:spcPct val="100000"/>
              </a:lnSpc>
            </a:pPr>
            <a:r>
              <a:rPr sz="800" b="0" i="0">
                <a:solidFill>
                  <a:srgbClr val="9A9A9A"/>
                </a:solidFill>
                <a:latin typeface="Arial"/>
              </a:rPr>
              <a:t>IBM SkillsBuild × AICTE 2026   |   14/17</a:t>
            </a:r>
          </a:p>
        </p:txBody>
      </p:sp>
      <p:sp>
        <p:nvSpPr>
          <p:cNvPr id="8" name="Rounded Rectangle 7"/>
          <p:cNvSpPr/>
          <p:nvPr/>
        </p:nvSpPr>
        <p:spPr>
          <a:xfrm>
            <a:off x="502920" y="1463040"/>
            <a:ext cx="3606698" cy="146304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02920" y="1463040"/>
            <a:ext cx="82296" cy="1463040"/>
          </a:xfrm>
          <a:prstGeom prst="roundRect">
            <a:avLst>
              <a:gd name="adj" fmla="val 50000"/>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4088" y="1572768"/>
            <a:ext cx="3204362" cy="1261872"/>
          </a:xfrm>
          <a:prstGeom prst="rect">
            <a:avLst/>
          </a:prstGeom>
          <a:noFill/>
        </p:spPr>
        <p:txBody>
          <a:bodyPr wrap="square" lIns="0" tIns="0" rIns="0" bIns="0">
            <a:spAutoFit/>
          </a:bodyPr>
          <a:lstStyle/>
          <a:p>
            <a:pPr>
              <a:lnSpc>
                <a:spcPct val="100000"/>
              </a:lnSpc>
            </a:pPr>
            <a:r>
              <a:rPr sz="1300" b="1">
                <a:solidFill>
                  <a:srgbClr val="161A2B"/>
                </a:solidFill>
                <a:latin typeface="Arial"/>
              </a:rPr>
              <a:t>🌐  Multilingual Support</a:t>
            </a:r>
          </a:p>
          <a:p>
            <a:pPr>
              <a:lnSpc>
                <a:spcPct val="105000"/>
              </a:lnSpc>
              <a:spcBef>
                <a:spcPts val="300"/>
              </a:spcBef>
            </a:pPr>
            <a:r>
              <a:rPr sz="1050">
                <a:solidFill>
                  <a:srgbClr val="4A4A4A"/>
                </a:solidFill>
                <a:latin typeface="Arial"/>
              </a:rPr>
              <a:t>Conduct interviews in Hindi, Tamil, Telugu &amp; other regional languages for wider accessibility.</a:t>
            </a:r>
          </a:p>
        </p:txBody>
      </p:sp>
      <p:sp>
        <p:nvSpPr>
          <p:cNvPr id="11" name="Rounded Rectangle 10"/>
          <p:cNvSpPr/>
          <p:nvPr/>
        </p:nvSpPr>
        <p:spPr>
          <a:xfrm>
            <a:off x="4292498" y="1463040"/>
            <a:ext cx="3606698" cy="146304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292498" y="1463040"/>
            <a:ext cx="82296" cy="1463040"/>
          </a:xfrm>
          <a:prstGeom prst="roundRect">
            <a:avLst>
              <a:gd name="adj" fmla="val 50000"/>
            </a:avLst>
          </a:prstGeom>
          <a:solidFill>
            <a:srgbClr val="009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93666" y="1572768"/>
            <a:ext cx="3204362" cy="1261872"/>
          </a:xfrm>
          <a:prstGeom prst="rect">
            <a:avLst/>
          </a:prstGeom>
          <a:noFill/>
        </p:spPr>
        <p:txBody>
          <a:bodyPr wrap="square" lIns="0" tIns="0" rIns="0" bIns="0">
            <a:spAutoFit/>
          </a:bodyPr>
          <a:lstStyle/>
          <a:p>
            <a:pPr>
              <a:lnSpc>
                <a:spcPct val="100000"/>
              </a:lnSpc>
            </a:pPr>
            <a:r>
              <a:rPr sz="1300" b="1">
                <a:solidFill>
                  <a:srgbClr val="161A2B"/>
                </a:solidFill>
                <a:latin typeface="Arial"/>
              </a:rPr>
              <a:t>📚  Company-Specific RAG</a:t>
            </a:r>
          </a:p>
          <a:p>
            <a:pPr>
              <a:lnSpc>
                <a:spcPct val="105000"/>
              </a:lnSpc>
              <a:spcBef>
                <a:spcPts val="300"/>
              </a:spcBef>
            </a:pPr>
            <a:r>
              <a:rPr sz="1050">
                <a:solidFill>
                  <a:srgbClr val="4A4A4A"/>
                </a:solidFill>
                <a:latin typeface="Arial"/>
              </a:rPr>
              <a:t>A lightweight RAG layer with real, verified past interview questions per company.</a:t>
            </a:r>
          </a:p>
        </p:txBody>
      </p:sp>
      <p:sp>
        <p:nvSpPr>
          <p:cNvPr id="14" name="Rounded Rectangle 13"/>
          <p:cNvSpPr/>
          <p:nvPr/>
        </p:nvSpPr>
        <p:spPr>
          <a:xfrm>
            <a:off x="8082076" y="1463040"/>
            <a:ext cx="3606698" cy="146304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082076" y="1463040"/>
            <a:ext cx="82296" cy="1463040"/>
          </a:xfrm>
          <a:prstGeom prst="roundRect">
            <a:avLst>
              <a:gd name="adj" fmla="val 50000"/>
            </a:avLst>
          </a:prstGeom>
          <a:solidFill>
            <a:srgbClr val="F1A5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83244" y="1572768"/>
            <a:ext cx="3204362" cy="1261872"/>
          </a:xfrm>
          <a:prstGeom prst="rect">
            <a:avLst/>
          </a:prstGeom>
          <a:noFill/>
        </p:spPr>
        <p:txBody>
          <a:bodyPr wrap="square" lIns="0" tIns="0" rIns="0" bIns="0">
            <a:spAutoFit/>
          </a:bodyPr>
          <a:lstStyle/>
          <a:p>
            <a:pPr>
              <a:lnSpc>
                <a:spcPct val="100000"/>
              </a:lnSpc>
            </a:pPr>
            <a:r>
              <a:rPr sz="1300" b="1">
                <a:solidFill>
                  <a:srgbClr val="161A2B"/>
                </a:solidFill>
                <a:latin typeface="Arial"/>
              </a:rPr>
              <a:t>🗄️  Redis Session Store</a:t>
            </a:r>
          </a:p>
          <a:p>
            <a:pPr>
              <a:lnSpc>
                <a:spcPct val="105000"/>
              </a:lnSpc>
              <a:spcBef>
                <a:spcPts val="300"/>
              </a:spcBef>
            </a:pPr>
            <a:r>
              <a:rPr sz="1050">
                <a:solidFill>
                  <a:srgbClr val="4A4A4A"/>
                </a:solidFill>
                <a:latin typeface="Arial"/>
              </a:rPr>
              <a:t>Replace the in-memory session dict with Redis for true multi-worker production scaling.</a:t>
            </a:r>
          </a:p>
        </p:txBody>
      </p:sp>
      <p:sp>
        <p:nvSpPr>
          <p:cNvPr id="17" name="Rounded Rectangle 16"/>
          <p:cNvSpPr/>
          <p:nvPr/>
        </p:nvSpPr>
        <p:spPr>
          <a:xfrm>
            <a:off x="502920" y="3108960"/>
            <a:ext cx="3606698" cy="146304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02920" y="3108960"/>
            <a:ext cx="82296" cy="1463040"/>
          </a:xfrm>
          <a:prstGeom prst="roundRect">
            <a:avLst>
              <a:gd name="adj" fmla="val 50000"/>
            </a:avLst>
          </a:prstGeom>
          <a:solidFill>
            <a:srgbClr val="24A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04088" y="3218688"/>
            <a:ext cx="3204362" cy="1261872"/>
          </a:xfrm>
          <a:prstGeom prst="rect">
            <a:avLst/>
          </a:prstGeom>
          <a:noFill/>
        </p:spPr>
        <p:txBody>
          <a:bodyPr wrap="square" lIns="0" tIns="0" rIns="0" bIns="0">
            <a:spAutoFit/>
          </a:bodyPr>
          <a:lstStyle/>
          <a:p>
            <a:pPr>
              <a:lnSpc>
                <a:spcPct val="100000"/>
              </a:lnSpc>
            </a:pPr>
            <a:r>
              <a:rPr sz="1300" b="1">
                <a:solidFill>
                  <a:srgbClr val="161A2B"/>
                </a:solidFill>
                <a:latin typeface="Arial"/>
              </a:rPr>
              <a:t>🔊  ARIA Text-to-Speech</a:t>
            </a:r>
          </a:p>
          <a:p>
            <a:pPr>
              <a:lnSpc>
                <a:spcPct val="105000"/>
              </a:lnSpc>
              <a:spcBef>
                <a:spcPts val="300"/>
              </a:spcBef>
            </a:pPr>
            <a:r>
              <a:rPr sz="1050">
                <a:solidFill>
                  <a:srgbClr val="4A4A4A"/>
                </a:solidFill>
                <a:latin typeface="Arial"/>
              </a:rPr>
              <a:t>ARIA speaks the questions aloud for a fully spoken, hands-free interview simulation.</a:t>
            </a:r>
          </a:p>
        </p:txBody>
      </p:sp>
      <p:sp>
        <p:nvSpPr>
          <p:cNvPr id="20" name="Rounded Rectangle 19"/>
          <p:cNvSpPr/>
          <p:nvPr/>
        </p:nvSpPr>
        <p:spPr>
          <a:xfrm>
            <a:off x="4292498" y="3108960"/>
            <a:ext cx="3606698" cy="146304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292498" y="3108960"/>
            <a:ext cx="82296" cy="1463040"/>
          </a:xfrm>
          <a:prstGeom prst="roundRect">
            <a:avLst>
              <a:gd name="adj" fmla="val 50000"/>
            </a:avLst>
          </a:prstGeom>
          <a:solidFill>
            <a:srgbClr val="8A3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93666" y="3218688"/>
            <a:ext cx="3204362" cy="1261872"/>
          </a:xfrm>
          <a:prstGeom prst="rect">
            <a:avLst/>
          </a:prstGeom>
          <a:noFill/>
        </p:spPr>
        <p:txBody>
          <a:bodyPr wrap="square" lIns="0" tIns="0" rIns="0" bIns="0">
            <a:spAutoFit/>
          </a:bodyPr>
          <a:lstStyle/>
          <a:p>
            <a:pPr>
              <a:lnSpc>
                <a:spcPct val="100000"/>
              </a:lnSpc>
            </a:pPr>
            <a:r>
              <a:rPr sz="1300" b="1">
                <a:solidFill>
                  <a:srgbClr val="161A2B"/>
                </a:solidFill>
                <a:latin typeface="Arial"/>
              </a:rPr>
              <a:t>📈  Analytics Dashboard</a:t>
            </a:r>
          </a:p>
          <a:p>
            <a:pPr>
              <a:lnSpc>
                <a:spcPct val="105000"/>
              </a:lnSpc>
              <a:spcBef>
                <a:spcPts val="300"/>
              </a:spcBef>
            </a:pPr>
            <a:r>
              <a:rPr sz="1050">
                <a:solidFill>
                  <a:srgbClr val="4A4A4A"/>
                </a:solidFill>
                <a:latin typeface="Arial"/>
              </a:rPr>
              <a:t>Track performance trends across multiple practice sessions over time.</a:t>
            </a:r>
          </a:p>
        </p:txBody>
      </p:sp>
      <p:sp>
        <p:nvSpPr>
          <p:cNvPr id="23" name="Rounded Rectangle 22"/>
          <p:cNvSpPr/>
          <p:nvPr/>
        </p:nvSpPr>
        <p:spPr>
          <a:xfrm>
            <a:off x="8082076" y="3108960"/>
            <a:ext cx="3606698" cy="1463040"/>
          </a:xfrm>
          <a:prstGeom prst="roundRect">
            <a:avLst>
              <a:gd name="adj" fmla="val 6000"/>
            </a:avLst>
          </a:prstGeom>
          <a:solidFill>
            <a:srgbClr val="F5F6F8"/>
          </a:solidFill>
          <a:ln w="9525">
            <a:solidFill>
              <a:srgbClr val="D6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8082076" y="3108960"/>
            <a:ext cx="82296" cy="1463040"/>
          </a:xfrm>
          <a:prstGeom prst="roundRect">
            <a:avLst>
              <a:gd name="adj" fmla="val 50000"/>
            </a:avLst>
          </a:prstGeom>
          <a:solidFill>
            <a:srgbClr val="D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83244" y="3218688"/>
            <a:ext cx="3204362" cy="1261872"/>
          </a:xfrm>
          <a:prstGeom prst="rect">
            <a:avLst/>
          </a:prstGeom>
          <a:noFill/>
        </p:spPr>
        <p:txBody>
          <a:bodyPr wrap="square" lIns="0" tIns="0" rIns="0" bIns="0">
            <a:spAutoFit/>
          </a:bodyPr>
          <a:lstStyle/>
          <a:p>
            <a:pPr>
              <a:lnSpc>
                <a:spcPct val="100000"/>
              </a:lnSpc>
            </a:pPr>
            <a:r>
              <a:rPr sz="1300" b="1">
                <a:solidFill>
                  <a:srgbClr val="161A2B"/>
                </a:solidFill>
                <a:latin typeface="Arial"/>
              </a:rPr>
              <a:t>📱  Mobile-Optimised UI</a:t>
            </a:r>
          </a:p>
          <a:p>
            <a:pPr>
              <a:lnSpc>
                <a:spcPct val="105000"/>
              </a:lnSpc>
              <a:spcBef>
                <a:spcPts val="300"/>
              </a:spcBef>
            </a:pPr>
            <a:r>
              <a:rPr sz="1050">
                <a:solidFill>
                  <a:srgbClr val="4A4A4A"/>
                </a:solidFill>
                <a:latin typeface="Arial"/>
              </a:rPr>
              <a:t>A responsive layout for practicing interviews directly from a phone.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5486400" cy="274320"/>
          </a:xfrm>
          <a:prstGeom prst="rect">
            <a:avLst/>
          </a:prstGeom>
          <a:noFill/>
        </p:spPr>
        <p:txBody>
          <a:bodyPr wrap="square" lIns="0" tIns="0" rIns="0" bIns="0" anchor="t">
            <a:spAutoFit/>
          </a:bodyPr>
          <a:lstStyle/>
          <a:p>
            <a:pPr algn="l">
              <a:lnSpc>
                <a:spcPct val="100000"/>
              </a:lnSpc>
            </a:pPr>
            <a:r>
              <a:rPr sz="1100" b="1" i="0">
                <a:solidFill>
                  <a:srgbClr val="0530AD"/>
                </a:solidFill>
                <a:latin typeface="Arial"/>
              </a:rPr>
              <a:t>CERTIFICATIONS</a:t>
            </a:r>
          </a:p>
        </p:txBody>
      </p:sp>
      <p:sp>
        <p:nvSpPr>
          <p:cNvPr id="4" name="TextBox 3"/>
          <p:cNvSpPr txBox="1"/>
          <p:nvPr/>
        </p:nvSpPr>
        <p:spPr>
          <a:xfrm>
            <a:off x="502920" y="502920"/>
            <a:ext cx="9601200" cy="640080"/>
          </a:xfrm>
          <a:prstGeom prst="rect">
            <a:avLst/>
          </a:prstGeom>
          <a:noFill/>
        </p:spPr>
        <p:txBody>
          <a:bodyPr wrap="square" lIns="0" tIns="0" rIns="0" bIns="0" anchor="t">
            <a:spAutoFit/>
          </a:bodyPr>
          <a:lstStyle/>
          <a:p>
            <a:pPr algn="l">
              <a:lnSpc>
                <a:spcPct val="100000"/>
              </a:lnSpc>
            </a:pPr>
            <a:r>
              <a:rPr sz="2800" b="1" i="0">
                <a:solidFill>
                  <a:srgbClr val="161A2B"/>
                </a:solidFill>
                <a:latin typeface="Arial"/>
              </a:rPr>
              <a:t>Certificates Earned — IBM SkillsBuild</a:t>
            </a:r>
          </a:p>
        </p:txBody>
      </p:sp>
      <p:sp>
        <p:nvSpPr>
          <p:cNvPr id="5" name="Rectangle 4"/>
          <p:cNvSpPr/>
          <p:nvPr/>
        </p:nvSpPr>
        <p:spPr>
          <a:xfrm>
            <a:off x="502920" y="1143000"/>
            <a:ext cx="1005840" cy="38100"/>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37960"/>
            <a:ext cx="5486400" cy="274320"/>
          </a:xfrm>
          <a:prstGeom prst="rect">
            <a:avLst/>
          </a:prstGeom>
          <a:noFill/>
        </p:spPr>
        <p:txBody>
          <a:bodyPr wrap="square" lIns="0" tIns="0" rIns="0" bIns="0" anchor="t">
            <a:spAutoFit/>
          </a:bodyPr>
          <a:lstStyle/>
          <a:p>
            <a:pPr algn="l">
              <a:lnSpc>
                <a:spcPct val="100000"/>
              </a:lnSpc>
            </a:pPr>
            <a:r>
              <a:rPr sz="800" b="0" i="0">
                <a:solidFill>
                  <a:srgbClr val="9A9A9A"/>
                </a:solidFill>
                <a:latin typeface="Arial"/>
              </a:rPr>
              <a:t>ARIA — AI Readiness Interview Agent</a:t>
            </a:r>
          </a:p>
        </p:txBody>
      </p:sp>
      <p:sp>
        <p:nvSpPr>
          <p:cNvPr id="7" name="TextBox 6"/>
          <p:cNvSpPr txBox="1"/>
          <p:nvPr/>
        </p:nvSpPr>
        <p:spPr>
          <a:xfrm>
            <a:off x="9601200" y="6537960"/>
            <a:ext cx="2103120" cy="274320"/>
          </a:xfrm>
          <a:prstGeom prst="rect">
            <a:avLst/>
          </a:prstGeom>
          <a:noFill/>
        </p:spPr>
        <p:txBody>
          <a:bodyPr wrap="square" lIns="0" tIns="0" rIns="0" bIns="0" anchor="t">
            <a:spAutoFit/>
          </a:bodyPr>
          <a:lstStyle/>
          <a:p>
            <a:pPr algn="r">
              <a:lnSpc>
                <a:spcPct val="100000"/>
              </a:lnSpc>
            </a:pPr>
            <a:r>
              <a:rPr sz="800" b="0" i="0">
                <a:solidFill>
                  <a:srgbClr val="9A9A9A"/>
                </a:solidFill>
                <a:latin typeface="Arial"/>
              </a:rPr>
              <a:t>IBM SkillsBuild × AICTE 2026   |   15/17</a:t>
            </a:r>
          </a:p>
        </p:txBody>
      </p:sp>
      <p:pic>
        <p:nvPicPr>
          <p:cNvPr id="10" name="Picture 9">
            <a:extLst>
              <a:ext uri="{FF2B5EF4-FFF2-40B4-BE49-F238E27FC236}">
                <a16:creationId xmlns:a16="http://schemas.microsoft.com/office/drawing/2014/main" id="{71DD0D5F-034C-CEDA-298E-653CE50E9121}"/>
              </a:ext>
            </a:extLst>
          </p:cNvPr>
          <p:cNvPicPr>
            <a:picLocks noChangeAspect="1"/>
          </p:cNvPicPr>
          <p:nvPr/>
        </p:nvPicPr>
        <p:blipFill>
          <a:blip r:embed="rId2"/>
          <a:stretch>
            <a:fillRect/>
          </a:stretch>
        </p:blipFill>
        <p:spPr>
          <a:xfrm>
            <a:off x="502920" y="1445827"/>
            <a:ext cx="5305877" cy="4158560"/>
          </a:xfrm>
          <a:prstGeom prst="rect">
            <a:avLst/>
          </a:prstGeom>
        </p:spPr>
      </p:pic>
      <p:pic>
        <p:nvPicPr>
          <p:cNvPr id="12" name="Picture 11">
            <a:extLst>
              <a:ext uri="{FF2B5EF4-FFF2-40B4-BE49-F238E27FC236}">
                <a16:creationId xmlns:a16="http://schemas.microsoft.com/office/drawing/2014/main" id="{E40C4145-E8D3-9601-87AD-6C21EB53B97D}"/>
              </a:ext>
            </a:extLst>
          </p:cNvPr>
          <p:cNvPicPr>
            <a:picLocks noChangeAspect="1"/>
          </p:cNvPicPr>
          <p:nvPr/>
        </p:nvPicPr>
        <p:blipFill>
          <a:blip r:embed="rId3"/>
          <a:stretch>
            <a:fillRect/>
          </a:stretch>
        </p:blipFill>
        <p:spPr>
          <a:xfrm>
            <a:off x="6095847" y="1461756"/>
            <a:ext cx="5910698" cy="412670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5486400" cy="274320"/>
          </a:xfrm>
          <a:prstGeom prst="rect">
            <a:avLst/>
          </a:prstGeom>
          <a:noFill/>
        </p:spPr>
        <p:txBody>
          <a:bodyPr wrap="square" lIns="0" tIns="0" rIns="0" bIns="0" anchor="t">
            <a:spAutoFit/>
          </a:bodyPr>
          <a:lstStyle/>
          <a:p>
            <a:pPr algn="l">
              <a:lnSpc>
                <a:spcPct val="100000"/>
              </a:lnSpc>
            </a:pPr>
            <a:r>
              <a:rPr sz="1100" b="1" i="0">
                <a:solidFill>
                  <a:srgbClr val="0530AD"/>
                </a:solidFill>
                <a:latin typeface="Arial"/>
              </a:rPr>
              <a:t>CERTIFICATIONS</a:t>
            </a:r>
          </a:p>
        </p:txBody>
      </p:sp>
      <p:sp>
        <p:nvSpPr>
          <p:cNvPr id="4" name="TextBox 3"/>
          <p:cNvSpPr txBox="1"/>
          <p:nvPr/>
        </p:nvSpPr>
        <p:spPr>
          <a:xfrm>
            <a:off x="502920" y="502920"/>
            <a:ext cx="9601200" cy="640080"/>
          </a:xfrm>
          <a:prstGeom prst="rect">
            <a:avLst/>
          </a:prstGeom>
          <a:noFill/>
        </p:spPr>
        <p:txBody>
          <a:bodyPr wrap="square" lIns="0" tIns="0" rIns="0" bIns="0" anchor="t">
            <a:spAutoFit/>
          </a:bodyPr>
          <a:lstStyle/>
          <a:p>
            <a:pPr algn="l">
              <a:lnSpc>
                <a:spcPct val="100000"/>
              </a:lnSpc>
            </a:pPr>
            <a:r>
              <a:rPr sz="2800" b="1" i="0">
                <a:solidFill>
                  <a:srgbClr val="161A2B"/>
                </a:solidFill>
                <a:latin typeface="Arial"/>
              </a:rPr>
              <a:t>Certificates Earned — IBM Bob</a:t>
            </a:r>
          </a:p>
        </p:txBody>
      </p:sp>
      <p:sp>
        <p:nvSpPr>
          <p:cNvPr id="5" name="Rectangle 4"/>
          <p:cNvSpPr/>
          <p:nvPr/>
        </p:nvSpPr>
        <p:spPr>
          <a:xfrm>
            <a:off x="502920" y="1143000"/>
            <a:ext cx="1005840" cy="38100"/>
          </a:xfrm>
          <a:prstGeom prst="rect">
            <a:avLst/>
          </a:prstGeom>
          <a:solidFill>
            <a:srgbClr val="053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37960"/>
            <a:ext cx="5486400" cy="274320"/>
          </a:xfrm>
          <a:prstGeom prst="rect">
            <a:avLst/>
          </a:prstGeom>
          <a:noFill/>
        </p:spPr>
        <p:txBody>
          <a:bodyPr wrap="square" lIns="0" tIns="0" rIns="0" bIns="0" anchor="t">
            <a:spAutoFit/>
          </a:bodyPr>
          <a:lstStyle/>
          <a:p>
            <a:pPr algn="l">
              <a:lnSpc>
                <a:spcPct val="100000"/>
              </a:lnSpc>
            </a:pPr>
            <a:r>
              <a:rPr sz="800" b="0" i="0">
                <a:solidFill>
                  <a:srgbClr val="9A9A9A"/>
                </a:solidFill>
                <a:latin typeface="Arial"/>
              </a:rPr>
              <a:t>ARIA — AI Readiness Interview Agent</a:t>
            </a:r>
          </a:p>
        </p:txBody>
      </p:sp>
      <p:sp>
        <p:nvSpPr>
          <p:cNvPr id="7" name="TextBox 6"/>
          <p:cNvSpPr txBox="1"/>
          <p:nvPr/>
        </p:nvSpPr>
        <p:spPr>
          <a:xfrm>
            <a:off x="9601200" y="6537960"/>
            <a:ext cx="2103120" cy="274320"/>
          </a:xfrm>
          <a:prstGeom prst="rect">
            <a:avLst/>
          </a:prstGeom>
          <a:noFill/>
        </p:spPr>
        <p:txBody>
          <a:bodyPr wrap="square" lIns="0" tIns="0" rIns="0" bIns="0" anchor="t">
            <a:spAutoFit/>
          </a:bodyPr>
          <a:lstStyle/>
          <a:p>
            <a:pPr algn="r">
              <a:lnSpc>
                <a:spcPct val="100000"/>
              </a:lnSpc>
            </a:pPr>
            <a:r>
              <a:rPr sz="800" b="0" i="0">
                <a:solidFill>
                  <a:srgbClr val="9A9A9A"/>
                </a:solidFill>
                <a:latin typeface="Arial"/>
              </a:rPr>
              <a:t>IBM SkillsBuild × AICTE 2026   |   16/17</a:t>
            </a:r>
          </a:p>
        </p:txBody>
      </p:sp>
      <p:pic>
        <p:nvPicPr>
          <p:cNvPr id="10" name="Picture 9">
            <a:extLst>
              <a:ext uri="{FF2B5EF4-FFF2-40B4-BE49-F238E27FC236}">
                <a16:creationId xmlns:a16="http://schemas.microsoft.com/office/drawing/2014/main" id="{071DA712-346D-8D17-1FAB-2A2F64BC4CD8}"/>
              </a:ext>
            </a:extLst>
          </p:cNvPr>
          <p:cNvPicPr>
            <a:picLocks noChangeAspect="1"/>
          </p:cNvPicPr>
          <p:nvPr/>
        </p:nvPicPr>
        <p:blipFill>
          <a:blip r:embed="rId2"/>
          <a:stretch>
            <a:fillRect/>
          </a:stretch>
        </p:blipFill>
        <p:spPr>
          <a:xfrm>
            <a:off x="1664564" y="1275482"/>
            <a:ext cx="8988196" cy="516809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0" y="2377440"/>
            <a:ext cx="12191695" cy="1005840"/>
          </a:xfrm>
          <a:prstGeom prst="rect">
            <a:avLst/>
          </a:prstGeom>
          <a:noFill/>
        </p:spPr>
        <p:txBody>
          <a:bodyPr wrap="square" lIns="0" tIns="0" rIns="0" bIns="0" anchor="t">
            <a:spAutoFit/>
          </a:bodyPr>
          <a:lstStyle/>
          <a:p>
            <a:pPr algn="ctr">
              <a:lnSpc>
                <a:spcPct val="100000"/>
              </a:lnSpc>
            </a:pPr>
            <a:r>
              <a:rPr sz="5400" b="1" i="0">
                <a:solidFill>
                  <a:srgbClr val="FFFFFF"/>
                </a:solidFill>
                <a:latin typeface="Arial"/>
              </a:rPr>
              <a:t>Thank You!</a:t>
            </a:r>
          </a:p>
        </p:txBody>
      </p:sp>
      <p:sp>
        <p:nvSpPr>
          <p:cNvPr id="4" name="TextBox 3"/>
          <p:cNvSpPr txBox="1"/>
          <p:nvPr/>
        </p:nvSpPr>
        <p:spPr>
          <a:xfrm>
            <a:off x="0" y="3429000"/>
            <a:ext cx="12191695" cy="457200"/>
          </a:xfrm>
          <a:prstGeom prst="rect">
            <a:avLst/>
          </a:prstGeom>
          <a:noFill/>
        </p:spPr>
        <p:txBody>
          <a:bodyPr wrap="square" lIns="0" tIns="0" rIns="0" bIns="0" anchor="t">
            <a:spAutoFit/>
          </a:bodyPr>
          <a:lstStyle/>
          <a:p>
            <a:pPr algn="ctr">
              <a:lnSpc>
                <a:spcPct val="100000"/>
              </a:lnSpc>
            </a:pPr>
            <a:r>
              <a:rPr sz="1600" b="0" i="0">
                <a:solidFill>
                  <a:srgbClr val="C9D6F2"/>
                </a:solidFill>
                <a:latin typeface="Arial"/>
              </a:rPr>
              <a:t>ARIA — AI Readiness Interview Agent</a:t>
            </a:r>
          </a:p>
        </p:txBody>
      </p:sp>
      <p:sp>
        <p:nvSpPr>
          <p:cNvPr id="5" name="TextBox 4"/>
          <p:cNvSpPr txBox="1"/>
          <p:nvPr/>
        </p:nvSpPr>
        <p:spPr>
          <a:xfrm>
            <a:off x="0" y="3840480"/>
            <a:ext cx="12191695" cy="365760"/>
          </a:xfrm>
          <a:prstGeom prst="rect">
            <a:avLst/>
          </a:prstGeom>
          <a:noFill/>
        </p:spPr>
        <p:txBody>
          <a:bodyPr wrap="square" lIns="0" tIns="0" rIns="0" bIns="0" anchor="t">
            <a:spAutoFit/>
          </a:bodyPr>
          <a:lstStyle/>
          <a:p>
            <a:pPr algn="ctr">
              <a:lnSpc>
                <a:spcPct val="100000"/>
              </a:lnSpc>
            </a:pPr>
            <a:r>
              <a:rPr sz="1200" b="0" i="0">
                <a:solidFill>
                  <a:srgbClr val="9AA8C9"/>
                </a:solidFill>
                <a:latin typeface="Arial"/>
              </a:rPr>
              <a:t>IBM SkillsBuild × AICTE Internship 2026  |  Problem Statement #22</a:t>
            </a:r>
          </a:p>
        </p:txBody>
      </p:sp>
      <p:sp>
        <p:nvSpPr>
          <p:cNvPr id="6" name="Rounded Rectangle 5"/>
          <p:cNvSpPr/>
          <p:nvPr/>
        </p:nvSpPr>
        <p:spPr>
          <a:xfrm>
            <a:off x="998067" y="4526280"/>
            <a:ext cx="1965960" cy="347472"/>
          </a:xfrm>
          <a:prstGeom prst="roundRect">
            <a:avLst>
              <a:gd name="adj" fmla="val 50000"/>
            </a:avLst>
          </a:prstGeom>
          <a:solidFill>
            <a:srgbClr val="242E4D"/>
          </a:solidFill>
          <a:ln>
            <a:noFill/>
          </a:ln>
        </p:spPr>
        <p:style>
          <a:lnRef idx="1">
            <a:schemeClr val="accent1"/>
          </a:lnRef>
          <a:fillRef idx="3">
            <a:schemeClr val="accent1"/>
          </a:fillRef>
          <a:effectRef idx="2">
            <a:schemeClr val="accent1"/>
          </a:effectRef>
          <a:fontRef idx="minor">
            <a:schemeClr val="lt1"/>
          </a:fontRef>
        </p:style>
        <p:txBody>
          <a:bodyPr lIns="50800" tIns="0" rIns="50800" bIns="0" rtlCol="0" anchor="ctr"/>
          <a:lstStyle/>
          <a:p>
            <a:pPr algn="ctr"/>
            <a:r>
              <a:rPr sz="1000" b="1">
                <a:solidFill>
                  <a:srgbClr val="0530AD"/>
                </a:solidFill>
                <a:latin typeface="Arial"/>
              </a:rPr>
              <a:t>Meta Llama 3.3 70B</a:t>
            </a:r>
          </a:p>
        </p:txBody>
      </p:sp>
      <p:sp>
        <p:nvSpPr>
          <p:cNvPr id="7" name="Rounded Rectangle 6"/>
          <p:cNvSpPr/>
          <p:nvPr/>
        </p:nvSpPr>
        <p:spPr>
          <a:xfrm>
            <a:off x="3101187" y="4526280"/>
            <a:ext cx="1600200" cy="347472"/>
          </a:xfrm>
          <a:prstGeom prst="roundRect">
            <a:avLst>
              <a:gd name="adj" fmla="val 50000"/>
            </a:avLst>
          </a:prstGeom>
          <a:solidFill>
            <a:srgbClr val="242E4D"/>
          </a:solidFill>
          <a:ln>
            <a:noFill/>
          </a:ln>
        </p:spPr>
        <p:style>
          <a:lnRef idx="1">
            <a:schemeClr val="accent1"/>
          </a:lnRef>
          <a:fillRef idx="3">
            <a:schemeClr val="accent1"/>
          </a:fillRef>
          <a:effectRef idx="2">
            <a:schemeClr val="accent1"/>
          </a:effectRef>
          <a:fontRef idx="minor">
            <a:schemeClr val="lt1"/>
          </a:fontRef>
        </p:style>
        <p:txBody>
          <a:bodyPr lIns="50800" tIns="0" rIns="50800" bIns="0" rtlCol="0" anchor="ctr"/>
          <a:lstStyle/>
          <a:p>
            <a:pPr algn="ctr"/>
            <a:r>
              <a:rPr sz="1000" b="1">
                <a:solidFill>
                  <a:srgbClr val="009D9A"/>
                </a:solidFill>
                <a:latin typeface="Arial"/>
              </a:rPr>
              <a:t>IBM watsonx.ai</a:t>
            </a:r>
          </a:p>
        </p:txBody>
      </p:sp>
      <p:sp>
        <p:nvSpPr>
          <p:cNvPr id="8" name="Rounded Rectangle 7"/>
          <p:cNvSpPr/>
          <p:nvPr/>
        </p:nvSpPr>
        <p:spPr>
          <a:xfrm>
            <a:off x="4838547" y="4526280"/>
            <a:ext cx="960120" cy="347472"/>
          </a:xfrm>
          <a:prstGeom prst="roundRect">
            <a:avLst>
              <a:gd name="adj" fmla="val 50000"/>
            </a:avLst>
          </a:prstGeom>
          <a:solidFill>
            <a:srgbClr val="242E4D"/>
          </a:solidFill>
          <a:ln>
            <a:noFill/>
          </a:ln>
        </p:spPr>
        <p:style>
          <a:lnRef idx="1">
            <a:schemeClr val="accent1"/>
          </a:lnRef>
          <a:fillRef idx="3">
            <a:schemeClr val="accent1"/>
          </a:fillRef>
          <a:effectRef idx="2">
            <a:schemeClr val="accent1"/>
          </a:effectRef>
          <a:fontRef idx="minor">
            <a:schemeClr val="lt1"/>
          </a:fontRef>
        </p:style>
        <p:txBody>
          <a:bodyPr lIns="50800" tIns="0" rIns="50800" bIns="0" rtlCol="0" anchor="ctr"/>
          <a:lstStyle/>
          <a:p>
            <a:pPr algn="ctr"/>
            <a:r>
              <a:rPr sz="1000" b="1">
                <a:solidFill>
                  <a:srgbClr val="F1A50C"/>
                </a:solidFill>
                <a:latin typeface="Arial"/>
              </a:rPr>
              <a:t>FastAPI</a:t>
            </a:r>
          </a:p>
        </p:txBody>
      </p:sp>
      <p:sp>
        <p:nvSpPr>
          <p:cNvPr id="9" name="Rounded Rectangle 8"/>
          <p:cNvSpPr/>
          <p:nvPr/>
        </p:nvSpPr>
        <p:spPr>
          <a:xfrm>
            <a:off x="5935827" y="4526280"/>
            <a:ext cx="1143000" cy="347472"/>
          </a:xfrm>
          <a:prstGeom prst="roundRect">
            <a:avLst>
              <a:gd name="adj" fmla="val 50000"/>
            </a:avLst>
          </a:prstGeom>
          <a:solidFill>
            <a:srgbClr val="242E4D"/>
          </a:solidFill>
          <a:ln>
            <a:noFill/>
          </a:ln>
        </p:spPr>
        <p:style>
          <a:lnRef idx="1">
            <a:schemeClr val="accent1"/>
          </a:lnRef>
          <a:fillRef idx="3">
            <a:schemeClr val="accent1"/>
          </a:fillRef>
          <a:effectRef idx="2">
            <a:schemeClr val="accent1"/>
          </a:effectRef>
          <a:fontRef idx="minor">
            <a:schemeClr val="lt1"/>
          </a:fontRef>
        </p:style>
        <p:txBody>
          <a:bodyPr lIns="50800" tIns="0" rIns="50800" bIns="0" rtlCol="0" anchor="ctr"/>
          <a:lstStyle/>
          <a:p>
            <a:pPr algn="ctr"/>
            <a:r>
              <a:rPr sz="1000" b="1">
                <a:solidFill>
                  <a:srgbClr val="24A148"/>
                </a:solidFill>
                <a:latin typeface="Arial"/>
              </a:rPr>
              <a:t>Streamlit</a:t>
            </a:r>
          </a:p>
        </p:txBody>
      </p:sp>
      <p:sp>
        <p:nvSpPr>
          <p:cNvPr id="10" name="Rounded Rectangle 9"/>
          <p:cNvSpPr/>
          <p:nvPr/>
        </p:nvSpPr>
        <p:spPr>
          <a:xfrm>
            <a:off x="7215987" y="4526280"/>
            <a:ext cx="1325880" cy="347472"/>
          </a:xfrm>
          <a:prstGeom prst="roundRect">
            <a:avLst>
              <a:gd name="adj" fmla="val 50000"/>
            </a:avLst>
          </a:prstGeom>
          <a:solidFill>
            <a:srgbClr val="242E4D"/>
          </a:solidFill>
          <a:ln>
            <a:noFill/>
          </a:ln>
        </p:spPr>
        <p:style>
          <a:lnRef idx="1">
            <a:schemeClr val="accent1"/>
          </a:lnRef>
          <a:fillRef idx="3">
            <a:schemeClr val="accent1"/>
          </a:fillRef>
          <a:effectRef idx="2">
            <a:schemeClr val="accent1"/>
          </a:effectRef>
          <a:fontRef idx="minor">
            <a:schemeClr val="lt1"/>
          </a:fontRef>
        </p:style>
        <p:txBody>
          <a:bodyPr lIns="50800" tIns="0" rIns="50800" bIns="0" rtlCol="0" anchor="ctr"/>
          <a:lstStyle/>
          <a:p>
            <a:pPr algn="ctr"/>
            <a:r>
              <a:rPr sz="1000" b="1">
                <a:solidFill>
                  <a:srgbClr val="8A3FFC"/>
                </a:solidFill>
                <a:latin typeface="Arial"/>
              </a:rPr>
              <a:t>Voice Input</a:t>
            </a:r>
          </a:p>
        </p:txBody>
      </p:sp>
      <p:sp>
        <p:nvSpPr>
          <p:cNvPr id="11" name="Rounded Rectangle 10"/>
          <p:cNvSpPr/>
          <p:nvPr/>
        </p:nvSpPr>
        <p:spPr>
          <a:xfrm>
            <a:off x="8679027" y="4526280"/>
            <a:ext cx="1417320" cy="347472"/>
          </a:xfrm>
          <a:prstGeom prst="roundRect">
            <a:avLst>
              <a:gd name="adj" fmla="val 50000"/>
            </a:avLst>
          </a:prstGeom>
          <a:solidFill>
            <a:srgbClr val="242E4D"/>
          </a:solidFill>
          <a:ln>
            <a:noFill/>
          </a:ln>
        </p:spPr>
        <p:style>
          <a:lnRef idx="1">
            <a:schemeClr val="accent1"/>
          </a:lnRef>
          <a:fillRef idx="3">
            <a:schemeClr val="accent1"/>
          </a:fillRef>
          <a:effectRef idx="2">
            <a:schemeClr val="accent1"/>
          </a:effectRef>
          <a:fontRef idx="minor">
            <a:schemeClr val="lt1"/>
          </a:fontRef>
        </p:style>
        <p:txBody>
          <a:bodyPr lIns="50800" tIns="0" rIns="50800" bIns="0" rtlCol="0" anchor="ctr"/>
          <a:lstStyle/>
          <a:p>
            <a:pPr algn="ctr"/>
            <a:r>
              <a:rPr sz="1000" b="1">
                <a:solidFill>
                  <a:srgbClr val="DA1E28"/>
                </a:solidFill>
                <a:latin typeface="Arial"/>
              </a:rPr>
              <a:t>Resume-Aware</a:t>
            </a:r>
          </a:p>
        </p:txBody>
      </p:sp>
      <p:sp>
        <p:nvSpPr>
          <p:cNvPr id="12" name="Rounded Rectangle 11"/>
          <p:cNvSpPr/>
          <p:nvPr/>
        </p:nvSpPr>
        <p:spPr>
          <a:xfrm>
            <a:off x="10233507" y="4526280"/>
            <a:ext cx="960120" cy="347472"/>
          </a:xfrm>
          <a:prstGeom prst="roundRect">
            <a:avLst>
              <a:gd name="adj" fmla="val 50000"/>
            </a:avLst>
          </a:prstGeom>
          <a:solidFill>
            <a:srgbClr val="242E4D"/>
          </a:solidFill>
          <a:ln>
            <a:noFill/>
          </a:ln>
        </p:spPr>
        <p:style>
          <a:lnRef idx="1">
            <a:schemeClr val="accent1"/>
          </a:lnRef>
          <a:fillRef idx="3">
            <a:schemeClr val="accent1"/>
          </a:fillRef>
          <a:effectRef idx="2">
            <a:schemeClr val="accent1"/>
          </a:effectRef>
          <a:fontRef idx="minor">
            <a:schemeClr val="lt1"/>
          </a:fontRef>
        </p:style>
        <p:txBody>
          <a:bodyPr lIns="50800" tIns="0" rIns="50800" bIns="0" rtlCol="0" anchor="ctr"/>
          <a:lstStyle/>
          <a:p>
            <a:pPr algn="ctr"/>
            <a:r>
              <a:rPr sz="1000" b="1">
                <a:solidFill>
                  <a:srgbClr val="0530AD"/>
                </a:solidFill>
                <a:latin typeface="Arial"/>
              </a:rPr>
              <a:t>IBM Bob</a:t>
            </a:r>
          </a:p>
        </p:txBody>
      </p:sp>
      <p:sp>
        <p:nvSpPr>
          <p:cNvPr id="13" name="TextBox 12"/>
          <p:cNvSpPr txBox="1"/>
          <p:nvPr/>
        </p:nvSpPr>
        <p:spPr>
          <a:xfrm>
            <a:off x="0" y="5212080"/>
            <a:ext cx="12191695" cy="184666"/>
          </a:xfrm>
          <a:prstGeom prst="rect">
            <a:avLst/>
          </a:prstGeom>
          <a:noFill/>
        </p:spPr>
        <p:txBody>
          <a:bodyPr wrap="square" lIns="0" tIns="0" rIns="0" bIns="0" anchor="t">
            <a:spAutoFit/>
          </a:bodyPr>
          <a:lstStyle/>
          <a:p>
            <a:pPr algn="ctr">
              <a:lnSpc>
                <a:spcPct val="100000"/>
              </a:lnSpc>
            </a:pPr>
            <a:r>
              <a:rPr sz="1200" b="0" i="0" dirty="0">
                <a:solidFill>
                  <a:srgbClr val="C9D6F2"/>
                </a:solidFill>
                <a:latin typeface="Arial"/>
              </a:rPr>
              <a:t>Student: [ </a:t>
            </a:r>
            <a:r>
              <a:rPr lang="en-US" sz="1200" dirty="0">
                <a:solidFill>
                  <a:srgbClr val="C9D6F2"/>
                </a:solidFill>
                <a:latin typeface="Arial"/>
              </a:rPr>
              <a:t>Bhavesh Nayak</a:t>
            </a:r>
            <a:r>
              <a:rPr sz="1200" b="0" i="0" dirty="0">
                <a:solidFill>
                  <a:srgbClr val="C9D6F2"/>
                </a:solidFill>
                <a:latin typeface="Arial"/>
              </a:rPr>
              <a:t> ]  |  </a:t>
            </a:r>
            <a:r>
              <a:rPr sz="1200" b="0" i="0" dirty="0" err="1">
                <a:solidFill>
                  <a:srgbClr val="C9D6F2"/>
                </a:solidFill>
                <a:latin typeface="Arial"/>
              </a:rPr>
              <a:t>Edunet</a:t>
            </a:r>
            <a:r>
              <a:rPr sz="1200" b="0" i="0" dirty="0">
                <a:solidFill>
                  <a:srgbClr val="C9D6F2"/>
                </a:solidFill>
                <a:latin typeface="Arial"/>
              </a:rPr>
              <a:t> Foundation — IBM University Engagement</a:t>
            </a:r>
          </a:p>
        </p:txBody>
      </p:sp>
      <p:sp>
        <p:nvSpPr>
          <p:cNvPr id="14" name="TextBox 13"/>
          <p:cNvSpPr txBox="1"/>
          <p:nvPr/>
        </p:nvSpPr>
        <p:spPr>
          <a:xfrm>
            <a:off x="0" y="5577840"/>
            <a:ext cx="12191695" cy="369332"/>
          </a:xfrm>
          <a:prstGeom prst="rect">
            <a:avLst/>
          </a:prstGeom>
          <a:noFill/>
        </p:spPr>
        <p:txBody>
          <a:bodyPr wrap="square" lIns="0" tIns="0" rIns="0" bIns="0" anchor="t">
            <a:spAutoFit/>
          </a:bodyPr>
          <a:lstStyle/>
          <a:p>
            <a:pPr algn="ctr"/>
            <a:r>
              <a:rPr sz="1200" b="0" i="1" dirty="0">
                <a:solidFill>
                  <a:srgbClr val="8A96B8"/>
                </a:solidFill>
                <a:latin typeface="Arial"/>
              </a:rPr>
              <a:t>GitHub</a:t>
            </a:r>
            <a:r>
              <a:rPr sz="1200" b="0" i="1" dirty="0">
                <a:solidFill>
                  <a:schemeClr val="bg1"/>
                </a:solidFill>
                <a:latin typeface="Arial"/>
              </a:rPr>
              <a:t>: </a:t>
            </a:r>
            <a:r>
              <a:rPr lang="en-IN" sz="1200" dirty="0">
                <a:solidFill>
                  <a:schemeClr val="bg1"/>
                </a:solidFill>
                <a:latin typeface="Arial"/>
              </a:rPr>
              <a:t>https://github.com/BhaveshN1015/Interview_Agent.git</a:t>
            </a:r>
          </a:p>
          <a:p>
            <a:pPr algn="ctr">
              <a:lnSpc>
                <a:spcPct val="100000"/>
              </a:lnSpc>
            </a:pPr>
            <a:endParaRPr sz="1200" b="0" i="1" dirty="0">
              <a:solidFill>
                <a:srgbClr val="8A96B8"/>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42</TotalTime>
  <Words>2335</Words>
  <Application>Microsoft Office PowerPoint</Application>
  <PresentationFormat>Widescreen</PresentationFormat>
  <Paragraphs>271</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Bhavesh N</cp:lastModifiedBy>
  <cp:revision>1</cp:revision>
  <dcterms:created xsi:type="dcterms:W3CDTF">2013-01-27T09:14:16Z</dcterms:created>
  <dcterms:modified xsi:type="dcterms:W3CDTF">2026-07-12T11:58:08Z</dcterms:modified>
  <cp:category/>
</cp:coreProperties>
</file>